
<file path=[Content_Types].xml><?xml version="1.0" encoding="utf-8"?>
<Types xmlns="http://schemas.openxmlformats.org/package/2006/content-types">
  <Default Extension="jpeg" ContentType="image/jpeg"/>
  <Default Extension="org&amp;utm_campaign=index&amp;utm_content=origina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22"/>
  </p:notesMasterIdLst>
  <p:handoutMasterIdLst>
    <p:handoutMasterId r:id="rId23"/>
  </p:handoutMasterIdLst>
  <p:sldIdLst>
    <p:sldId id="397" r:id="rId2"/>
    <p:sldId id="371" r:id="rId3"/>
    <p:sldId id="390" r:id="rId4"/>
    <p:sldId id="2481" r:id="rId5"/>
    <p:sldId id="2469" r:id="rId6"/>
    <p:sldId id="2480" r:id="rId7"/>
    <p:sldId id="2482" r:id="rId8"/>
    <p:sldId id="2483" r:id="rId9"/>
    <p:sldId id="2484" r:id="rId10"/>
    <p:sldId id="2485" r:id="rId11"/>
    <p:sldId id="2486" r:id="rId12"/>
    <p:sldId id="2493" r:id="rId13"/>
    <p:sldId id="2476" r:id="rId14"/>
    <p:sldId id="2489" r:id="rId15"/>
    <p:sldId id="2490" r:id="rId16"/>
    <p:sldId id="2494" r:id="rId17"/>
    <p:sldId id="2491" r:id="rId18"/>
    <p:sldId id="2487" r:id="rId19"/>
    <p:sldId id="2492" r:id="rId20"/>
    <p:sldId id="34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4">
          <p15:clr>
            <a:srgbClr val="A4A3A4"/>
          </p15:clr>
        </p15:guide>
        <p15:guide id="2" pos="215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0000"/>
    <a:srgbClr val="00B050"/>
    <a:srgbClr val="A6A6A6"/>
    <a:srgbClr val="215F9A"/>
    <a:srgbClr val="FFFFFF"/>
    <a:srgbClr val="EEEEEE"/>
    <a:srgbClr val="67DB78"/>
    <a:srgbClr val="EBE6F6"/>
    <a:srgbClr val="BBA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1D320-7082-4093-BA41-B31BAD0C6E77}" v="5" dt="2026-09-23T10:35:42.184"/>
  </p1510:revLst>
</p1510:revInfo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5329" autoAdjust="0"/>
  </p:normalViewPr>
  <p:slideViewPr>
    <p:cSldViewPr snapToGrid="0">
      <p:cViewPr varScale="1">
        <p:scale>
          <a:sx n="85" d="100"/>
          <a:sy n="85" d="100"/>
        </p:scale>
        <p:origin x="549" y="75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874"/>
        <p:guide pos="215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지 박" userId="130e1bf8e1fc6787" providerId="LiveId" clId="{F6DC4F43-7707-41E1-B232-FEE1C9D7D071}"/>
    <pc:docChg chg="undo custSel mod modSld">
      <pc:chgData name="민지 박" userId="130e1bf8e1fc6787" providerId="LiveId" clId="{F6DC4F43-7707-41E1-B232-FEE1C9D7D071}" dt="2026-09-23T10:35:46.655" v="199" actId="1076"/>
      <pc:docMkLst>
        <pc:docMk/>
      </pc:docMkLst>
      <pc:sldChg chg="modSp mod">
        <pc:chgData name="민지 박" userId="130e1bf8e1fc6787" providerId="LiveId" clId="{F6DC4F43-7707-41E1-B232-FEE1C9D7D071}" dt="2026-09-23T10:22:57.235" v="1" actId="207"/>
        <pc:sldMkLst>
          <pc:docMk/>
          <pc:sldMk cId="3539983247" sldId="397"/>
        </pc:sldMkLst>
        <pc:spChg chg="mod">
          <ac:chgData name="민지 박" userId="130e1bf8e1fc6787" providerId="LiveId" clId="{F6DC4F43-7707-41E1-B232-FEE1C9D7D071}" dt="2026-09-23T10:22:57.235" v="1" actId="207"/>
          <ac:spMkLst>
            <pc:docMk/>
            <pc:sldMk cId="3539983247" sldId="397"/>
            <ac:spMk id="10" creationId="{2CEA5260-B161-7191-E391-A9F567B5E1B0}"/>
          </ac:spMkLst>
        </pc:spChg>
      </pc:sldChg>
      <pc:sldChg chg="modSp mod">
        <pc:chgData name="민지 박" userId="130e1bf8e1fc6787" providerId="LiveId" clId="{F6DC4F43-7707-41E1-B232-FEE1C9D7D071}" dt="2026-09-23T10:24:32.026" v="15" actId="207"/>
        <pc:sldMkLst>
          <pc:docMk/>
          <pc:sldMk cId="52626070" sldId="2469"/>
        </pc:sldMkLst>
        <pc:spChg chg="mod">
          <ac:chgData name="민지 박" userId="130e1bf8e1fc6787" providerId="LiveId" clId="{F6DC4F43-7707-41E1-B232-FEE1C9D7D071}" dt="2026-09-23T10:24:32.026" v="15" actId="207"/>
          <ac:spMkLst>
            <pc:docMk/>
            <pc:sldMk cId="52626070" sldId="2469"/>
            <ac:spMk id="9" creationId="{D6EE1569-2523-8333-80E7-EB795D03F3B8}"/>
          </ac:spMkLst>
        </pc:spChg>
      </pc:sldChg>
      <pc:sldChg chg="modSp mod">
        <pc:chgData name="민지 박" userId="130e1bf8e1fc6787" providerId="LiveId" clId="{F6DC4F43-7707-41E1-B232-FEE1C9D7D071}" dt="2026-09-23T10:25:09.433" v="18" actId="207"/>
        <pc:sldMkLst>
          <pc:docMk/>
          <pc:sldMk cId="3086887627" sldId="2480"/>
        </pc:sldMkLst>
        <pc:spChg chg="mod">
          <ac:chgData name="민지 박" userId="130e1bf8e1fc6787" providerId="LiveId" clId="{F6DC4F43-7707-41E1-B232-FEE1C9D7D071}" dt="2026-09-23T10:25:09.433" v="18" actId="207"/>
          <ac:spMkLst>
            <pc:docMk/>
            <pc:sldMk cId="3086887627" sldId="2480"/>
            <ac:spMk id="9" creationId="{C8965848-634D-90C4-6FF0-7E5AE811D79F}"/>
          </ac:spMkLst>
        </pc:spChg>
      </pc:sldChg>
      <pc:sldChg chg="modSp mod">
        <pc:chgData name="민지 박" userId="130e1bf8e1fc6787" providerId="LiveId" clId="{F6DC4F43-7707-41E1-B232-FEE1C9D7D071}" dt="2026-09-23T10:23:44.113" v="8" actId="207"/>
        <pc:sldMkLst>
          <pc:docMk/>
          <pc:sldMk cId="4161246266" sldId="2481"/>
        </pc:sldMkLst>
        <pc:spChg chg="mod">
          <ac:chgData name="민지 박" userId="130e1bf8e1fc6787" providerId="LiveId" clId="{F6DC4F43-7707-41E1-B232-FEE1C9D7D071}" dt="2026-09-23T10:23:44.113" v="8" actId="207"/>
          <ac:spMkLst>
            <pc:docMk/>
            <pc:sldMk cId="4161246266" sldId="2481"/>
            <ac:spMk id="9" creationId="{BE433F19-4E87-5F53-2E66-2A4CE72B9FE8}"/>
          </ac:spMkLst>
        </pc:spChg>
      </pc:sldChg>
      <pc:sldChg chg="modSp mod">
        <pc:chgData name="민지 박" userId="130e1bf8e1fc6787" providerId="LiveId" clId="{F6DC4F43-7707-41E1-B232-FEE1C9D7D071}" dt="2026-09-23T10:25:50.964" v="19" actId="113"/>
        <pc:sldMkLst>
          <pc:docMk/>
          <pc:sldMk cId="3816496304" sldId="2483"/>
        </pc:sldMkLst>
        <pc:spChg chg="mod">
          <ac:chgData name="민지 박" userId="130e1bf8e1fc6787" providerId="LiveId" clId="{F6DC4F43-7707-41E1-B232-FEE1C9D7D071}" dt="2026-09-23T10:25:50.964" v="19" actId="113"/>
          <ac:spMkLst>
            <pc:docMk/>
            <pc:sldMk cId="3816496304" sldId="2483"/>
            <ac:spMk id="3" creationId="{D0F649A8-982F-13EC-3BBB-B8C3C4B0BDCF}"/>
          </ac:spMkLst>
        </pc:spChg>
      </pc:sldChg>
      <pc:sldChg chg="modSp mod">
        <pc:chgData name="민지 박" userId="130e1bf8e1fc6787" providerId="LiveId" clId="{F6DC4F43-7707-41E1-B232-FEE1C9D7D071}" dt="2026-09-23T10:27:29.417" v="26" actId="403"/>
        <pc:sldMkLst>
          <pc:docMk/>
          <pc:sldMk cId="1528836513" sldId="2484"/>
        </pc:sldMkLst>
        <pc:spChg chg="mod">
          <ac:chgData name="민지 박" userId="130e1bf8e1fc6787" providerId="LiveId" clId="{F6DC4F43-7707-41E1-B232-FEE1C9D7D071}" dt="2026-09-23T10:27:29.417" v="26" actId="403"/>
          <ac:spMkLst>
            <pc:docMk/>
            <pc:sldMk cId="1528836513" sldId="2484"/>
            <ac:spMk id="3" creationId="{30E00DEB-732B-A178-4577-6FF945753BC8}"/>
          </ac:spMkLst>
        </pc:spChg>
      </pc:sldChg>
      <pc:sldChg chg="modSp mod">
        <pc:chgData name="민지 박" userId="130e1bf8e1fc6787" providerId="LiveId" clId="{F6DC4F43-7707-41E1-B232-FEE1C9D7D071}" dt="2026-09-23T10:28:06.177" v="49" actId="1038"/>
        <pc:sldMkLst>
          <pc:docMk/>
          <pc:sldMk cId="1319071728" sldId="2485"/>
        </pc:sldMkLst>
        <pc:spChg chg="mod">
          <ac:chgData name="민지 박" userId="130e1bf8e1fc6787" providerId="LiveId" clId="{F6DC4F43-7707-41E1-B232-FEE1C9D7D071}" dt="2026-09-23T10:27:55.916" v="30" actId="113"/>
          <ac:spMkLst>
            <pc:docMk/>
            <pc:sldMk cId="1319071728" sldId="2485"/>
            <ac:spMk id="3" creationId="{87E70538-8B24-522D-3EE1-26E96672EE3D}"/>
          </ac:spMkLst>
        </pc:spChg>
        <pc:spChg chg="mod">
          <ac:chgData name="민지 박" userId="130e1bf8e1fc6787" providerId="LiveId" clId="{F6DC4F43-7707-41E1-B232-FEE1C9D7D071}" dt="2026-09-23T10:28:06.177" v="49" actId="1038"/>
          <ac:spMkLst>
            <pc:docMk/>
            <pc:sldMk cId="1319071728" sldId="2485"/>
            <ac:spMk id="10" creationId="{7D6B22A5-BCAF-E05F-A52F-C5201646ED0E}"/>
          </ac:spMkLst>
        </pc:spChg>
      </pc:sldChg>
      <pc:sldChg chg="addSp modSp mod">
        <pc:chgData name="민지 박" userId="130e1bf8e1fc6787" providerId="LiveId" clId="{F6DC4F43-7707-41E1-B232-FEE1C9D7D071}" dt="2026-09-23T10:35:46.655" v="199" actId="1076"/>
        <pc:sldMkLst>
          <pc:docMk/>
          <pc:sldMk cId="1330922071" sldId="2486"/>
        </pc:sldMkLst>
        <pc:spChg chg="mod">
          <ac:chgData name="민지 박" userId="130e1bf8e1fc6787" providerId="LiveId" clId="{F6DC4F43-7707-41E1-B232-FEE1C9D7D071}" dt="2026-09-23T10:35:29.048" v="194" actId="115"/>
          <ac:spMkLst>
            <pc:docMk/>
            <pc:sldMk cId="1330922071" sldId="2486"/>
            <ac:spMk id="3" creationId="{BB8B44F3-642E-30BC-F85B-3205E0C8A64F}"/>
          </ac:spMkLst>
        </pc:spChg>
        <pc:spChg chg="mod">
          <ac:chgData name="민지 박" userId="130e1bf8e1fc6787" providerId="LiveId" clId="{F6DC4F43-7707-41E1-B232-FEE1C9D7D071}" dt="2026-09-23T10:35:42.184" v="197" actId="164"/>
          <ac:spMkLst>
            <pc:docMk/>
            <pc:sldMk cId="1330922071" sldId="2486"/>
            <ac:spMk id="19" creationId="{0E192E81-B2D7-5D52-D02F-E3F9B3EF6734}"/>
          </ac:spMkLst>
        </pc:spChg>
        <pc:spChg chg="mod">
          <ac:chgData name="민지 박" userId="130e1bf8e1fc6787" providerId="LiveId" clId="{F6DC4F43-7707-41E1-B232-FEE1C9D7D071}" dt="2026-09-23T10:35:42.184" v="197" actId="164"/>
          <ac:spMkLst>
            <pc:docMk/>
            <pc:sldMk cId="1330922071" sldId="2486"/>
            <ac:spMk id="20" creationId="{390FA8E1-7E57-A0F4-D060-337B59BFDEEF}"/>
          </ac:spMkLst>
        </pc:spChg>
        <pc:grpChg chg="add mod">
          <ac:chgData name="민지 박" userId="130e1bf8e1fc6787" providerId="LiveId" clId="{F6DC4F43-7707-41E1-B232-FEE1C9D7D071}" dt="2026-09-23T10:35:46.655" v="199" actId="1076"/>
          <ac:grpSpMkLst>
            <pc:docMk/>
            <pc:sldMk cId="1330922071" sldId="2486"/>
            <ac:grpSpMk id="2" creationId="{39715830-6EC7-2621-2716-4A44F1840688}"/>
          </ac:grpSpMkLst>
        </pc:grpChg>
        <pc:picChg chg="mod">
          <ac:chgData name="민지 박" userId="130e1bf8e1fc6787" providerId="LiveId" clId="{F6DC4F43-7707-41E1-B232-FEE1C9D7D071}" dt="2026-09-23T10:35:42.184" v="197" actId="164"/>
          <ac:picMkLst>
            <pc:docMk/>
            <pc:sldMk cId="1330922071" sldId="2486"/>
            <ac:picMk id="5" creationId="{16247898-E2EF-6523-B6AF-B03746B5AE5A}"/>
          </ac:picMkLst>
        </pc:picChg>
      </pc:sldChg>
      <pc:sldChg chg="modSp mod">
        <pc:chgData name="민지 박" userId="130e1bf8e1fc6787" providerId="LiveId" clId="{F6DC4F43-7707-41E1-B232-FEE1C9D7D071}" dt="2026-09-23T10:30:10.637" v="74" actId="113"/>
        <pc:sldMkLst>
          <pc:docMk/>
          <pc:sldMk cId="3840707595" sldId="2489"/>
        </pc:sldMkLst>
        <pc:spChg chg="mod">
          <ac:chgData name="민지 박" userId="130e1bf8e1fc6787" providerId="LiveId" clId="{F6DC4F43-7707-41E1-B232-FEE1C9D7D071}" dt="2026-09-23T10:30:10.637" v="74" actId="113"/>
          <ac:spMkLst>
            <pc:docMk/>
            <pc:sldMk cId="3840707595" sldId="2489"/>
            <ac:spMk id="3" creationId="{F6105275-4842-5348-D608-0E7627AE5AD2}"/>
          </ac:spMkLst>
        </pc:spChg>
      </pc:sldChg>
      <pc:sldChg chg="addSp modSp mod">
        <pc:chgData name="민지 박" userId="130e1bf8e1fc6787" providerId="LiveId" clId="{F6DC4F43-7707-41E1-B232-FEE1C9D7D071}" dt="2026-09-23T10:31:24.606" v="97" actId="14100"/>
        <pc:sldMkLst>
          <pc:docMk/>
          <pc:sldMk cId="215208692" sldId="2490"/>
        </pc:sldMkLst>
        <pc:spChg chg="mod">
          <ac:chgData name="민지 박" userId="130e1bf8e1fc6787" providerId="LiveId" clId="{F6DC4F43-7707-41E1-B232-FEE1C9D7D071}" dt="2026-09-23T10:30:31.601" v="76" actId="571"/>
          <ac:spMkLst>
            <pc:docMk/>
            <pc:sldMk cId="215208692" sldId="2490"/>
            <ac:spMk id="10" creationId="{ED3A4A7B-9709-254B-0D5D-C6F89B4ED93A}"/>
          </ac:spMkLst>
        </pc:spChg>
        <pc:spChg chg="mod">
          <ac:chgData name="민지 박" userId="130e1bf8e1fc6787" providerId="LiveId" clId="{F6DC4F43-7707-41E1-B232-FEE1C9D7D071}" dt="2026-09-23T10:30:31.601" v="76" actId="571"/>
          <ac:spMkLst>
            <pc:docMk/>
            <pc:sldMk cId="215208692" sldId="2490"/>
            <ac:spMk id="11" creationId="{B32C594D-1769-C1A8-DADB-25550370501E}"/>
          </ac:spMkLst>
        </pc:spChg>
        <pc:spChg chg="mod">
          <ac:chgData name="민지 박" userId="130e1bf8e1fc6787" providerId="LiveId" clId="{F6DC4F43-7707-41E1-B232-FEE1C9D7D071}" dt="2026-09-23T10:30:31.601" v="76" actId="571"/>
          <ac:spMkLst>
            <pc:docMk/>
            <pc:sldMk cId="215208692" sldId="2490"/>
            <ac:spMk id="13" creationId="{18986EC8-FB4D-661D-89F5-007182DFE6CC}"/>
          </ac:spMkLst>
        </pc:spChg>
        <pc:spChg chg="add mod">
          <ac:chgData name="민지 박" userId="130e1bf8e1fc6787" providerId="LiveId" clId="{F6DC4F43-7707-41E1-B232-FEE1C9D7D071}" dt="2026-09-23T10:31:24.606" v="97" actId="14100"/>
          <ac:spMkLst>
            <pc:docMk/>
            <pc:sldMk cId="215208692" sldId="2490"/>
            <ac:spMk id="16" creationId="{A629AFFC-58EF-A7D3-E32B-812D89BD808F}"/>
          </ac:spMkLst>
        </pc:spChg>
        <pc:spChg chg="mod">
          <ac:chgData name="민지 박" userId="130e1bf8e1fc6787" providerId="LiveId" clId="{F6DC4F43-7707-41E1-B232-FEE1C9D7D071}" dt="2026-09-23T10:31:09.773" v="88" actId="20578"/>
          <ac:spMkLst>
            <pc:docMk/>
            <pc:sldMk cId="215208692" sldId="2490"/>
            <ac:spMk id="47" creationId="{D60F11F0-010A-A46C-DD9F-5878E37842C2}"/>
          </ac:spMkLst>
        </pc:spChg>
        <pc:spChg chg="mod">
          <ac:chgData name="민지 박" userId="130e1bf8e1fc6787" providerId="LiveId" clId="{F6DC4F43-7707-41E1-B232-FEE1C9D7D071}" dt="2026-09-23T10:31:09.773" v="88" actId="20578"/>
          <ac:spMkLst>
            <pc:docMk/>
            <pc:sldMk cId="215208692" sldId="2490"/>
            <ac:spMk id="48" creationId="{B1116570-A32D-A0A9-D9B9-E6CBE2A56EA2}"/>
          </ac:spMkLst>
        </pc:spChg>
        <pc:spChg chg="mod">
          <ac:chgData name="민지 박" userId="130e1bf8e1fc6787" providerId="LiveId" clId="{F6DC4F43-7707-41E1-B232-FEE1C9D7D071}" dt="2026-09-23T10:31:11.549" v="89" actId="21"/>
          <ac:spMkLst>
            <pc:docMk/>
            <pc:sldMk cId="215208692" sldId="2490"/>
            <ac:spMk id="49" creationId="{F300B963-DC20-7390-253C-19BBD5F8D135}"/>
          </ac:spMkLst>
        </pc:spChg>
        <pc:grpChg chg="add mod">
          <ac:chgData name="민지 박" userId="130e1bf8e1fc6787" providerId="LiveId" clId="{F6DC4F43-7707-41E1-B232-FEE1C9D7D071}" dt="2026-09-23T10:30:31.601" v="76" actId="571"/>
          <ac:grpSpMkLst>
            <pc:docMk/>
            <pc:sldMk cId="215208692" sldId="2490"/>
            <ac:grpSpMk id="2" creationId="{9FEDC1F6-3894-448A-9928-7A024E71DA93}"/>
          </ac:grpSpMkLst>
        </pc:grpChg>
        <pc:grpChg chg="mod">
          <ac:chgData name="민지 박" userId="130e1bf8e1fc6787" providerId="LiveId" clId="{F6DC4F43-7707-41E1-B232-FEE1C9D7D071}" dt="2026-09-23T10:30:31.601" v="76" actId="571"/>
          <ac:grpSpMkLst>
            <pc:docMk/>
            <pc:sldMk cId="215208692" sldId="2490"/>
            <ac:grpSpMk id="6" creationId="{7FE9DFA2-92F8-48E8-AB96-59FD45A1AD79}"/>
          </ac:grpSpMkLst>
        </pc:grpChg>
        <pc:grpChg chg="mod">
          <ac:chgData name="민지 박" userId="130e1bf8e1fc6787" providerId="LiveId" clId="{F6DC4F43-7707-41E1-B232-FEE1C9D7D071}" dt="2026-09-23T10:31:09.773" v="88" actId="20578"/>
          <ac:grpSpMkLst>
            <pc:docMk/>
            <pc:sldMk cId="215208692" sldId="2490"/>
            <ac:grpSpMk id="44" creationId="{E87C4EF3-ECAD-E199-0AE0-674FEC824A56}"/>
          </ac:grpSpMkLst>
        </pc:grpChg>
        <pc:grpChg chg="mod">
          <ac:chgData name="민지 박" userId="130e1bf8e1fc6787" providerId="LiveId" clId="{F6DC4F43-7707-41E1-B232-FEE1C9D7D071}" dt="2026-09-23T10:31:09.773" v="88" actId="20578"/>
          <ac:grpSpMkLst>
            <pc:docMk/>
            <pc:sldMk cId="215208692" sldId="2490"/>
            <ac:grpSpMk id="46" creationId="{A6486D33-712B-474B-F609-0DCB72EE9112}"/>
          </ac:grpSpMkLst>
        </pc:grpChg>
        <pc:picChg chg="add mod">
          <ac:chgData name="민지 박" userId="130e1bf8e1fc6787" providerId="LiveId" clId="{F6DC4F43-7707-41E1-B232-FEE1C9D7D071}" dt="2026-09-23T10:30:31.601" v="76" actId="571"/>
          <ac:picMkLst>
            <pc:docMk/>
            <pc:sldMk cId="215208692" sldId="2490"/>
            <ac:picMk id="14" creationId="{63A84EBF-5AEB-58FD-812D-67680BDBEAC0}"/>
          </ac:picMkLst>
        </pc:picChg>
        <pc:cxnChg chg="mod">
          <ac:chgData name="민지 박" userId="130e1bf8e1fc6787" providerId="LiveId" clId="{F6DC4F43-7707-41E1-B232-FEE1C9D7D071}" dt="2026-09-23T10:30:31.601" v="76" actId="571"/>
          <ac:cxnSpMkLst>
            <pc:docMk/>
            <pc:sldMk cId="215208692" sldId="2490"/>
            <ac:cxnSpMk id="5" creationId="{3ED13B0F-86AC-D952-56AC-D48BA48E7020}"/>
          </ac:cxnSpMkLst>
        </pc:cxnChg>
        <pc:cxnChg chg="mod">
          <ac:chgData name="민지 박" userId="130e1bf8e1fc6787" providerId="LiveId" clId="{F6DC4F43-7707-41E1-B232-FEE1C9D7D071}" dt="2026-09-23T10:31:09.773" v="88" actId="20578"/>
          <ac:cxnSpMkLst>
            <pc:docMk/>
            <pc:sldMk cId="215208692" sldId="2490"/>
            <ac:cxnSpMk id="45" creationId="{54FFB7C7-09F8-0B6C-3D92-8A035ACDDA9E}"/>
          </ac:cxnSpMkLst>
        </pc:cxnChg>
      </pc:sldChg>
      <pc:sldChg chg="modSp mod">
        <pc:chgData name="민지 박" userId="130e1bf8e1fc6787" providerId="LiveId" clId="{F6DC4F43-7707-41E1-B232-FEE1C9D7D071}" dt="2026-09-23T10:33:25.202" v="107" actId="113"/>
        <pc:sldMkLst>
          <pc:docMk/>
          <pc:sldMk cId="3522895643" sldId="2492"/>
        </pc:sldMkLst>
        <pc:spChg chg="mod">
          <ac:chgData name="민지 박" userId="130e1bf8e1fc6787" providerId="LiveId" clId="{F6DC4F43-7707-41E1-B232-FEE1C9D7D071}" dt="2026-09-23T10:33:25.202" v="107" actId="113"/>
          <ac:spMkLst>
            <pc:docMk/>
            <pc:sldMk cId="3522895643" sldId="2492"/>
            <ac:spMk id="3" creationId="{716CB073-5F71-2BA3-8A19-0E835BAEAB34}"/>
          </ac:spMkLst>
        </pc:spChg>
      </pc:sldChg>
      <pc:sldChg chg="modSp mod">
        <pc:chgData name="민지 박" userId="130e1bf8e1fc6787" providerId="LiveId" clId="{F6DC4F43-7707-41E1-B232-FEE1C9D7D071}" dt="2026-09-23T10:29:46.212" v="70" actId="1076"/>
        <pc:sldMkLst>
          <pc:docMk/>
          <pc:sldMk cId="1565850740" sldId="2493"/>
        </pc:sldMkLst>
        <pc:spChg chg="mod">
          <ac:chgData name="민지 박" userId="130e1bf8e1fc6787" providerId="LiveId" clId="{F6DC4F43-7707-41E1-B232-FEE1C9D7D071}" dt="2026-09-23T10:29:36.561" v="69" actId="113"/>
          <ac:spMkLst>
            <pc:docMk/>
            <pc:sldMk cId="1565850740" sldId="2493"/>
            <ac:spMk id="3" creationId="{CA214E3C-68B5-A9D8-BAAE-C0CBF9E77359}"/>
          </ac:spMkLst>
        </pc:spChg>
        <pc:spChg chg="mod">
          <ac:chgData name="민지 박" userId="130e1bf8e1fc6787" providerId="LiveId" clId="{F6DC4F43-7707-41E1-B232-FEE1C9D7D071}" dt="2026-09-23T10:29:46.212" v="70" actId="1076"/>
          <ac:spMkLst>
            <pc:docMk/>
            <pc:sldMk cId="1565850740" sldId="2493"/>
            <ac:spMk id="24" creationId="{3B57A486-DBB7-45B8-DFD7-4F8B077FCDC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2026-09-23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189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64F9F85-B8FA-4684-81CF-3327F06CBF5A}" type="datetime1">
              <a:rPr lang="ko-KR" altLang="en-US"/>
              <a:pPr lvl="0">
                <a:defRPr/>
              </a:pPr>
              <a:t>2026-09-23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424DF51-1552-4FA4-8157-58ABEEF161D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8963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93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841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273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F173C-D96F-9010-68D4-17700697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441415-6CAE-137F-CE80-C13C48AC1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FE35E8-07DA-D742-F440-A71C8797B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D5F78B-89CC-2405-AEC8-5F3455026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294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504C-0281-13DF-00A3-B8D90A24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69761E-27BF-9D68-F4BC-052AD0D83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42D3A1-0FB1-4BE1-630D-C288C95F9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E87E0-D15B-D4D6-80AF-E2E400125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6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59F0-06CB-BD09-3240-DC32D2035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0AA40-7E66-8BCF-0CE9-3A5604BCE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230683-E080-AA0B-FA1C-B73F45B02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DB5D42-849C-AEA7-014A-A2021F7E6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29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30593-1516-2F1B-6955-37B180FD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CAFAF6-011F-931B-30E7-5FF8CF035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5B2023-4FAD-68AB-44BC-52A7C89ED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429264-1875-7D42-59F8-751A33D40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031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5423-01A6-FFCD-F133-43454C93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03FB7B-B41C-7B0F-87C9-551E7A55C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A6A24B-A100-0244-B940-BFA73A311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B097F2-6BE2-2061-8FD3-2F9BCD08F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625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D798-1868-2507-2720-17218DA5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AF1A63-8303-BC40-EA95-411761244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950BEF-8300-DCAB-614B-9181C64D9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74A62F-B90C-C940-D97D-572E6F8E8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707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09EC-297C-AA43-3820-15A6D01B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52C408-32C2-0AF8-A19F-D36F04BCF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500646-7288-C12C-6241-230F21804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4DA56C-384A-EC0F-0619-052B2DDD9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315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5A53-6C52-095B-86E5-A6EB1820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AA9168-BDED-CCE1-CC63-3E40B6712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12B05B-3516-60BB-190E-2A4AD5C20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C8C96A-6C76-3D15-F28A-9105446E3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064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F7F9-1314-8BA5-939A-39F20414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E97D3E-A8C7-230A-BD0C-71FA64EDC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B9A0C2-35EB-9616-2421-74A9997B8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5BD88E-4347-B0F8-E793-DC1EE625C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074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877D-6FB5-4647-E7C9-A39E4C7FB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8627DF-AC7A-6E18-3852-A36AB6110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45A2CD-F65C-A425-4C12-DF6C0F859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E3EC0E-3FE1-4C75-9909-C09B9B1E7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02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3E45-8B3D-3AC3-2CB3-D6B47CBF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0A1713-D2C1-158E-FE28-5F6DFF3B0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93A1F0-3983-5CBD-7283-8ACD2EAEA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F9F3B1-7B8E-6667-4E82-43ABD4680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0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97AEA-0965-B657-DD90-470A2621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A5F419-69BA-089E-67F9-B8A514737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37A4C1-4A5D-F796-81A6-459979098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074CA1-967F-0873-CD1C-F0570AF6A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996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2565F-2101-8286-6B52-7C3EA574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FE9288-2277-3602-7DE9-41FFB5FC5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8006EA-3983-39D7-87E6-A8C7D62F9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255990-467D-53C4-ABE8-958E07E81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297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D3D9-0D47-8761-A2FE-BFEA695C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DFF17C-D190-E301-D0AC-1779CFE6B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E92DCB-F9D0-6B03-F32F-B877CBBD8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14D1A-CBD4-1DFF-5202-81C8C1965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398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A5A5-7FCE-3B61-C1ED-A7D8F6F5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7E1419-25FF-3203-C907-FF415155F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01DC8B-FE70-46A0-0795-2FD43BB08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5B93B-8769-6080-407C-9EEFDF3C5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4047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8748-1FC8-1FE5-26BF-2B4DAC6E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0E0EB3-12FF-1456-5E3A-2BAAC9751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60F8F1-4C32-9A70-9A98-9DBE5C8D5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798E4-49EF-2679-B4F4-2DE4B7A0E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7482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424DF51-1552-4FA4-8157-58ABEEF161D9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09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BA83F-33F7-96CF-840D-41AE10D0B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627592-2430-CCF0-B0F3-5E754AB1B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E9EB7-C9FE-51F3-A4DA-4C98BC84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5C5B5-F79B-FB9D-7011-CF23F14F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FCDD61-30FD-E3D8-6E7D-7E8698E9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00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01081-4E51-6049-BC81-1D8492EA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592E9-20CF-1583-13E5-B13A72F79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5928A7-0038-0EA1-7E3E-A60CCEBA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2D3053-3C31-1A12-6DD3-E3032C59A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C6BF4C-6A83-01F1-86CA-34EF421C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96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104DE-47A9-FB7E-5F67-0FF7FB1A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5C6E16-5E85-9DBF-5374-67AEC39C3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C35995-B018-9748-280A-7A7EC4BAF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1A7AEB-A519-3A3C-AAF7-94BE1624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502A7B-FB4D-2B37-973A-5BDAB24D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739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B679D-05D2-5C9F-F014-C4D69441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30793D-8115-FEA3-CF05-0D7425998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AEA760-2F0D-340D-C99B-08675B0B8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59365B-6D12-47FA-6483-DB7AE29C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6DF7BD-3EDD-CECA-EA15-EF69C6C3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3DE279-74E5-7AB6-7374-E613C4A1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90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248B3-2AB7-5700-2214-A225CC54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AA3F2C-6A97-12A0-64EB-F84BF38F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2FB0FF-5B62-A8C5-E588-F7A43BE41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236189-CE1B-C538-C5E1-797AAB620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5FC714-65ED-5946-9C6A-C7270520C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01F714-F72B-DE13-C796-E8AB4854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43704F-8B9A-5ECE-7CD7-59840AAD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A5A3A6-BA1B-8FF3-A1B4-9AE4F5B1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75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4412E-416A-CCB9-CA6E-A2AFE8A8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F0D57E-CC2A-4BB2-F121-505531F4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6F9CAE-8B3A-80DC-C5C9-4FF6850A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ABD681-0A1E-D510-D6F2-D0A83141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32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33D3E8-27F5-BE12-3FE3-AF55D41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3870DF-AFC3-68E7-DA6B-CAEA61C9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0B72E-2A84-855F-3144-32407FE8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7DFBD41-43DB-4C66-9F92-A6F865112AA5}" type="slidenum">
              <a:rPr lang="ko-KR" altLang="en-US" smtClean="0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6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F9A31-50A0-D891-BD63-BF4526A5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631BBC-A397-D428-4879-52F1C0D44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9D9749-858A-DAFE-718A-AF9D15D1D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C81AEB-F5BE-8399-D11D-108CE535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1A0D-E2D3-6BDF-51B0-42A51D7F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2ED93F-E64E-6ACF-0EAF-98B27368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31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00DB9-2572-80E4-D5FB-47DDC501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19A493-5939-F26C-A4A2-26C9594FF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757153-AA53-3A10-634F-E2A7E1CA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6B2660-3F04-A446-71E5-BE0C7BFC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DB62E9-5706-0370-88D4-6311225E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5829B-31BF-0E30-7254-3A1F4046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621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E48BE-DD82-35FF-9F6F-91C6B601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8076FB-C3C0-AD51-02A6-CA83DCAAA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56579C-F8CC-F2F6-9DD5-85BB79FF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337E0F-F276-04BC-40A1-5F3EBB8F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FE03E1-2C29-3FBF-8822-04D7B5E5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694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957465-CC0D-309B-0BC7-A560B19BE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F1E118-73AC-B142-295E-A76B4F7A4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9C81E9-4831-87A4-DF8E-FE7A677F1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D59475-52E0-FBB3-9536-D2E0F877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F4994-10C5-90F6-6B8E-7A0B29DE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BD41-43DB-4C66-9F92-A6F865112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080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레이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249D5F-5280-E8CD-A1C9-B9CD5D33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https://aifactory.skku.edu/home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F46F7142-AB17-3D45-1D3D-326E8653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2876" y="6406476"/>
            <a:ext cx="2743200" cy="386451"/>
          </a:xfrm>
        </p:spPr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123587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10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926107-96B1-950B-0E6B-15C402CC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D30E0-EE08-D8A4-7A59-BD5D622B7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BE2ADA-C5DF-85A7-EBA5-607511674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64A05A-C973-D1CC-B7EB-DDF0AA4C1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 algn="l">
              <a:defRPr/>
            </a:pPr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Written by | Kim Doohong                                                                                                                                                                                                                     Kim Doohong | https://github.com/dhkim10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DFFE32-2380-0ABB-C9E7-4B9BF02C3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7DFBD41-43DB-4C66-9F92-A6F865112AA5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050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61" r:id="rId13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org&amp;utm_campaign=index&amp;utm_content=origi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B5982-9183-1129-DE69-B716A373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DAFB434-45E2-3DF7-6D5E-2CA5F8B26D88}"/>
              </a:ext>
            </a:extLst>
          </p:cNvPr>
          <p:cNvGrpSpPr/>
          <p:nvPr/>
        </p:nvGrpSpPr>
        <p:grpSpPr>
          <a:xfrm>
            <a:off x="1080936" y="2093367"/>
            <a:ext cx="10030127" cy="2458259"/>
            <a:chOff x="1585250" y="1771946"/>
            <a:chExt cx="10030127" cy="2458259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CEA5260-B161-7191-E391-A9F567B5E1B0}"/>
                </a:ext>
              </a:extLst>
            </p:cNvPr>
            <p:cNvSpPr txBox="1"/>
            <p:nvPr/>
          </p:nvSpPr>
          <p:spPr>
            <a:xfrm>
              <a:off x="1585250" y="1771946"/>
              <a:ext cx="10030127" cy="1703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R="0" indent="0" algn="ctr" fontAlgn="base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</a:pPr>
              <a:r>
                <a:rPr lang="en-US" altLang="ko-KR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glow rad="381000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Rethinking </a:t>
              </a:r>
              <a:r>
                <a:rPr lang="en-US" altLang="ko-KR" sz="3200" dirty="0">
                  <a:solidFill>
                    <a:srgbClr val="FF0000"/>
                  </a:solidFill>
                  <a:effectLst>
                    <a:glow rad="381000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Features-Fused-Pyramid-Neck </a:t>
              </a:r>
              <a:br>
                <a:rPr lang="en-US" altLang="ko-KR" sz="3200" dirty="0">
                  <a:solidFill>
                    <a:srgbClr val="FF0000"/>
                  </a:solidFill>
                  <a:effectLst>
                    <a:glow rad="381000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glow rad="381000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 Object Detection</a:t>
              </a:r>
              <a:endPara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0">
                    <a:schemeClr val="bg1">
                      <a:alpha val="4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3E54E182-0987-20EE-D958-D340CAD1D99D}"/>
                </a:ext>
              </a:extLst>
            </p:cNvPr>
            <p:cNvCxnSpPr>
              <a:cxnSpLocks/>
            </p:cNvCxnSpPr>
            <p:nvPr/>
          </p:nvCxnSpPr>
          <p:spPr>
            <a:xfrm>
              <a:off x="2042038" y="3095542"/>
              <a:ext cx="9117424" cy="0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제목 1">
              <a:extLst>
                <a:ext uri="{FF2B5EF4-FFF2-40B4-BE49-F238E27FC236}">
                  <a16:creationId xmlns:a16="http://schemas.microsoft.com/office/drawing/2014/main" id="{6EE0BF4F-9501-FF32-9F7D-130233CE3673}"/>
                </a:ext>
              </a:extLst>
            </p:cNvPr>
            <p:cNvSpPr txBox="1">
              <a:spLocks/>
            </p:cNvSpPr>
            <p:nvPr/>
          </p:nvSpPr>
          <p:spPr>
            <a:xfrm>
              <a:off x="2419792" y="3156968"/>
              <a:ext cx="8361044" cy="631463"/>
            </a:xfrm>
            <a:prstGeom prst="rect">
              <a:avLst/>
            </a:prstGeom>
          </p:spPr>
          <p:txBody>
            <a:bodyPr vert="horz" lIns="60960" tIns="30480" rIns="60960" bIns="30480" rtlCol="0" anchor="ctr">
              <a:normAutofit/>
            </a:bodyPr>
            <a:lstStyle>
              <a:defPPr>
                <a:defRPr lang="ko-KR"/>
              </a:defPPr>
              <a:lvl1pPr marL="0"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Aft>
                  <a:spcPts val="800"/>
                </a:spcAft>
              </a:pPr>
              <a:r>
                <a:rPr lang="en-US" altLang="ko-KR" sz="167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glow rad="381000">
                      <a:schemeClr val="bg1">
                        <a:alpha val="40000"/>
                      </a:schemeClr>
                    </a:glo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Computer Vision ADS5034_01</a:t>
              </a:r>
              <a:endParaRPr lang="ko-KR" altLang="en-US" sz="167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381000">
                    <a:schemeClr val="bg1">
                      <a:alpha val="40000"/>
                    </a:schemeClr>
                  </a:glow>
                </a:effectLst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제목 1">
              <a:extLst>
                <a:ext uri="{FF2B5EF4-FFF2-40B4-BE49-F238E27FC236}">
                  <a16:creationId xmlns:a16="http://schemas.microsoft.com/office/drawing/2014/main" id="{87F95482-A28B-124D-A587-9552886266E1}"/>
                </a:ext>
              </a:extLst>
            </p:cNvPr>
            <p:cNvSpPr txBox="1">
              <a:spLocks/>
            </p:cNvSpPr>
            <p:nvPr/>
          </p:nvSpPr>
          <p:spPr>
            <a:xfrm>
              <a:off x="3531913" y="3849856"/>
              <a:ext cx="6096000" cy="380349"/>
            </a:xfrm>
            <a:prstGeom prst="rect">
              <a:avLst/>
            </a:prstGeom>
          </p:spPr>
          <p:txBody>
            <a:bodyPr vert="horz" lIns="60960" tIns="30480" rIns="60960" bIns="30480" rtlCol="0" anchor="b">
              <a:normAutofit/>
            </a:bodyPr>
            <a:lstStyle>
              <a:defPPr>
                <a:defRPr lang="ko-KR"/>
              </a:defPPr>
              <a:lvl1pPr marL="0"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cs typeface="+mj-lt"/>
                </a:rPr>
                <a:t>2026.09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Calibri"/>
              </a:endParaRPr>
            </a:p>
          </p:txBody>
        </p:sp>
      </p:grp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7186A46F-74B9-820B-391B-459AADF2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</a:t>
            </a:fld>
            <a:endParaRPr lang="ko-KR" altLang="en-US" dirty="0"/>
          </a:p>
        </p:txBody>
      </p:sp>
      <p:sp>
        <p:nvSpPr>
          <p:cNvPr id="2" name="바닥글 개체 틀 18">
            <a:extLst>
              <a:ext uri="{FF2B5EF4-FFF2-40B4-BE49-F238E27FC236}">
                <a16:creationId xmlns:a16="http://schemas.microsoft.com/office/drawing/2014/main" id="{7F5B4813-C2A4-EB29-4A3A-6714C7D0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55D79-F6B5-1791-E6A4-D234267BABF2}"/>
              </a:ext>
            </a:extLst>
          </p:cNvPr>
          <p:cNvSpPr txBox="1"/>
          <p:nvPr/>
        </p:nvSpPr>
        <p:spPr>
          <a:xfrm>
            <a:off x="3048699" y="4956645"/>
            <a:ext cx="6094602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8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Presenter: </a:t>
            </a:r>
            <a:r>
              <a:rPr lang="en-US" altLang="ko-KR" sz="1800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Taewooong</a:t>
            </a:r>
            <a:r>
              <a:rPr lang="en-US" altLang="ko-KR" sz="18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Kong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altLang="ko-KR" sz="1800" i="0" dirty="0">
                <a:solidFill>
                  <a:srgbClr val="215F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cong1</a:t>
            </a:r>
            <a:r>
              <a:rPr lang="en-US" altLang="ko-KR" dirty="0">
                <a:solidFill>
                  <a:srgbClr val="215F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6@g.skku.edu</a:t>
            </a:r>
            <a:endParaRPr lang="en-US" altLang="ko-KR" sz="1800" i="0" dirty="0">
              <a:solidFill>
                <a:srgbClr val="215F9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B2717EC-6567-60FD-207B-266F792F6C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9983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2ACB8-3176-5814-72C4-160C55D1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3">
            <a:extLst>
              <a:ext uri="{FF2B5EF4-FFF2-40B4-BE49-F238E27FC236}">
                <a16:creationId xmlns:a16="http://schemas.microsoft.com/office/drawing/2014/main" id="{EACA2BEC-D85D-E9A1-D11D-4ED4F621C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67" y="1761067"/>
            <a:ext cx="10854267" cy="1693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</p:pic>
      <p:sp>
        <p:nvSpPr>
          <p:cNvPr id="62" name="TextBox 20">
            <a:extLst>
              <a:ext uri="{FF2B5EF4-FFF2-40B4-BE49-F238E27FC236}">
                <a16:creationId xmlns:a16="http://schemas.microsoft.com/office/drawing/2014/main" id="{6FB43175-CE95-4F2D-96BF-76BD924FE35A}"/>
              </a:ext>
            </a:extLst>
          </p:cNvPr>
          <p:cNvSpPr txBox="1"/>
          <p:nvPr/>
        </p:nvSpPr>
        <p:spPr>
          <a:xfrm>
            <a:off x="1581150" y="620184"/>
            <a:ext cx="8890000" cy="956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8770"/>
              </a:lnSpc>
            </a:pPr>
            <a:r>
              <a:rPr lang="en-US" altLang="ko-KR" sz="5400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Contents</a:t>
            </a:r>
            <a:r>
              <a:rPr lang="en-US" altLang="ko-KR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  <a:endParaRPr lang="ko-KR" altLang="en-US" sz="5400" dirty="0">
              <a:solidFill>
                <a:srgbClr val="4D4D4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12D5A18-12AF-47BB-BE31-6D4CAFCC19BD}"/>
              </a:ext>
            </a:extLst>
          </p:cNvPr>
          <p:cNvSpPr txBox="1"/>
          <p:nvPr/>
        </p:nvSpPr>
        <p:spPr>
          <a:xfrm>
            <a:off x="1092783" y="2368689"/>
            <a:ext cx="10003386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spcBef>
                <a:spcPts val="2400"/>
              </a:spcBef>
              <a:buFont typeface="+mj-lt"/>
              <a:buAutoNum type="arabicPeriod"/>
            </a:pPr>
            <a:r>
              <a:rPr lang="ko-KR" alt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  <a:r>
              <a:rPr lang="en-US" altLang="ko-KR" sz="3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&amp; Related Work</a:t>
            </a:r>
            <a:endParaRPr lang="it-IT" altLang="ko-KR" sz="32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/>
            </a:pPr>
            <a:r>
              <a:rPr lang="en-US" altLang="ko-KR" sz="3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</a:p>
          <a:p>
            <a:pPr marL="457200" indent="-457200">
              <a:spcBef>
                <a:spcPts val="2400"/>
              </a:spcBef>
              <a:buFont typeface="+mj-lt"/>
              <a:buAutoNum type="arabicPeriod"/>
            </a:pPr>
            <a:r>
              <a:rPr lang="en-US" altLang="ko-KR" sz="3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Setup &amp; Result</a:t>
            </a:r>
          </a:p>
          <a:p>
            <a:pPr marL="457200" indent="-457200">
              <a:spcBef>
                <a:spcPts val="2400"/>
              </a:spcBef>
              <a:buFont typeface="+mj-lt"/>
              <a:buAutoNum type="arabicPeriod"/>
            </a:pPr>
            <a:r>
              <a:rPr lang="en-US" altLang="ko-KR" sz="3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128" name="슬라이드 번호 개체 틀 20">
            <a:extLst>
              <a:ext uri="{FF2B5EF4-FFF2-40B4-BE49-F238E27FC236}">
                <a16:creationId xmlns:a16="http://schemas.microsoft.com/office/drawing/2014/main" id="{1514545F-627F-98A9-1D7B-78A51DD7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2876" y="6406476"/>
            <a:ext cx="2743200" cy="386451"/>
          </a:xfrm>
        </p:spPr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2EFADD-2DB8-D551-241A-490269FBEA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2" name="바닥글 개체 틀 18">
            <a:extLst>
              <a:ext uri="{FF2B5EF4-FFF2-40B4-BE49-F238E27FC236}">
                <a16:creationId xmlns:a16="http://schemas.microsoft.com/office/drawing/2014/main" id="{4352FF08-3131-0604-7695-529F6E00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328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9773-1BE7-A4BF-FB85-652D01487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ECFD3B-7B4D-D578-D52A-9F244B95ED9A}"/>
              </a:ext>
            </a:extLst>
          </p:cNvPr>
          <p:cNvSpPr txBox="1"/>
          <p:nvPr/>
        </p:nvSpPr>
        <p:spPr>
          <a:xfrm>
            <a:off x="1919287" y="2662067"/>
            <a:ext cx="7995201" cy="1089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90500">
                    <a:schemeClr val="bg1">
                      <a:alpha val="85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&amp; Related Work</a:t>
            </a:r>
            <a:endParaRPr lang="ko-KR" altLang="en-US" sz="4800" dirty="0">
              <a:solidFill>
                <a:schemeClr val="tx1">
                  <a:lumMod val="85000"/>
                  <a:lumOff val="15000"/>
                </a:schemeClr>
              </a:solidFill>
              <a:effectLst>
                <a:glow rad="190500">
                  <a:schemeClr val="bg1">
                    <a:alpha val="85000"/>
                  </a:schemeClr>
                </a:glo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52DB2B44-46D8-6F9A-CD2A-391206F5CB4A}"/>
              </a:ext>
            </a:extLst>
          </p:cNvPr>
          <p:cNvSpPr/>
          <p:nvPr/>
        </p:nvSpPr>
        <p:spPr>
          <a:xfrm>
            <a:off x="1735412" y="2650784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6ECBD1FB-13D6-BE8B-9ACE-3DDEB53C2122}"/>
              </a:ext>
            </a:extLst>
          </p:cNvPr>
          <p:cNvSpPr/>
          <p:nvPr/>
        </p:nvSpPr>
        <p:spPr>
          <a:xfrm rot="10800000">
            <a:off x="9402414" y="3194319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45B07D0-2CC4-C6F0-8FCF-67B69F8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3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B4C09B-2486-2A80-6545-45A4BC6F16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3" name="바닥글 개체 틀 18">
            <a:extLst>
              <a:ext uri="{FF2B5EF4-FFF2-40B4-BE49-F238E27FC236}">
                <a16:creationId xmlns:a16="http://schemas.microsoft.com/office/drawing/2014/main" id="{120AD526-2FD4-8D39-0C82-25CD470DC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217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02B91-BB08-C486-A0B4-6ECCB90D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0946B15-BE92-BB2E-4867-72BB7519E9A1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1224720A-255A-7F7B-71AA-FC0215986C46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36F60060-90FD-135F-6DF5-4C484D775183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DF8B8D45-DF8A-2AFB-CBDA-4AA1864ECCE4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BFC8ADF0-C790-BF11-8DE8-726127A35615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A54461FA-3C50-0546-EBCD-2DB7A284D681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4A2BFE34-6F02-067C-E7D4-EB306146CE75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01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3E8D574E-3F6D-57BE-6305-C270E307FCC5}"/>
                </a:ext>
              </a:extLst>
            </p:cNvPr>
            <p:cNvSpPr txBox="1"/>
            <p:nvPr/>
          </p:nvSpPr>
          <p:spPr>
            <a:xfrm>
              <a:off x="1583995" y="499291"/>
              <a:ext cx="11002946" cy="430887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/>
            <a:p>
              <a:pPr lvl="0">
                <a:defRPr/>
              </a:pPr>
              <a:r>
                <a:rPr lang="en-US" altLang="ko-KR" sz="2400" b="1" spc="155" dirty="0">
                  <a:latin typeface="Calibri"/>
                  <a:ea typeface="+mj-ea"/>
                  <a:cs typeface="Calibri"/>
                </a:rPr>
                <a:t>Multi-scale Object Detection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40FA77F2-636A-5EE0-43A3-A1BB64A58BF6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Introduction &amp; Related Work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E98C87C-F502-8C98-0A1C-CABA7BDA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F640139-570C-9922-8CA5-0C36A7EEC4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F8E6B778-BCA3-D707-16D7-83BDE858F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BE433F19-4E87-5F53-2E66-2A4CE72B9FE8}"/>
              </a:ext>
            </a:extLst>
          </p:cNvPr>
          <p:cNvSpPr txBox="1"/>
          <p:nvPr/>
        </p:nvSpPr>
        <p:spPr>
          <a:xfrm>
            <a:off x="593003" y="1249756"/>
            <a:ext cx="11227522" cy="166840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실제 이미지에는 서로 다른 크기의 객체가 동시에 존재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단일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Map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만으로 다양한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Scale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객체 검출하기 어려움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CNN Backbone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은 계층이 깊어질수록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Map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해상도는 감소하고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Receptive Field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는 증가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낮은 계층은 </a:t>
            </a:r>
            <a:r>
              <a:rPr lang="en-US" altLang="ko-KR" sz="14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Small Object / Local Detail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높은 계층은 </a:t>
            </a:r>
            <a:r>
              <a:rPr lang="en-US" altLang="ko-KR" sz="1400" b="1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Large Object / Global Information </a:t>
            </a:r>
            <a:r>
              <a:rPr lang="ko-KR" altLang="en-US" sz="1400" b="1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표현에 유리</a:t>
            </a:r>
            <a:b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여러 계층의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활용하는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Multi-scale Detection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이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Object Detection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핵심 요소로 발전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2D8C8A2-C081-41C4-3639-89286211BECF}"/>
              </a:ext>
            </a:extLst>
          </p:cNvPr>
          <p:cNvGrpSpPr/>
          <p:nvPr/>
        </p:nvGrpSpPr>
        <p:grpSpPr>
          <a:xfrm>
            <a:off x="1578628" y="3574775"/>
            <a:ext cx="9034745" cy="2685582"/>
            <a:chOff x="1462422" y="3574775"/>
            <a:chExt cx="9034745" cy="268558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FC161EC-3D66-CC3D-BCBC-A9191AEE4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061" t="-221" r="-493" b="66050"/>
            <a:stretch>
              <a:fillRect/>
            </a:stretch>
          </p:blipFill>
          <p:spPr>
            <a:xfrm>
              <a:off x="6321853" y="3604570"/>
              <a:ext cx="4175314" cy="2655787"/>
            </a:xfrm>
            <a:prstGeom prst="rect">
              <a:avLst/>
            </a:prstGeom>
          </p:spPr>
        </p:pic>
        <p:pic>
          <p:nvPicPr>
            <p:cNvPr id="3" name="그림 2" descr="객체 탐지 - 위키백과, 우리 모두의 백과사전">
              <a:extLst>
                <a:ext uri="{FF2B5EF4-FFF2-40B4-BE49-F238E27FC236}">
                  <a16:creationId xmlns:a16="http://schemas.microsoft.com/office/drawing/2014/main" id="{70176515-781D-8F46-1C31-B24D8197D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2422" y="3574775"/>
              <a:ext cx="4175314" cy="2685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6045" sx="102000" sy="102000" algn="ctr" rotWithShape="0">
                <a:prstClr val="black">
                  <a:alpha val="20250"/>
                </a:prstClr>
              </a:outerShdw>
            </a:effectLst>
          </p:spPr>
        </p:pic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E7F3A0-C37A-43E8-427F-F955B2CE0C37}"/>
              </a:ext>
            </a:extLst>
          </p:cNvPr>
          <p:cNvSpPr/>
          <p:nvPr/>
        </p:nvSpPr>
        <p:spPr>
          <a:xfrm>
            <a:off x="6775450" y="5740400"/>
            <a:ext cx="1212850" cy="23495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  <a:effectLst>
            <a:glow rad="635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FB9733-C619-5611-628C-CEC5F1BDE3B4}"/>
              </a:ext>
            </a:extLst>
          </p:cNvPr>
          <p:cNvSpPr/>
          <p:nvPr/>
        </p:nvSpPr>
        <p:spPr>
          <a:xfrm>
            <a:off x="8694411" y="4507345"/>
            <a:ext cx="1630689" cy="146800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  <a:effectLst>
            <a:glow rad="635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246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1BE2-3F6C-E916-83B4-91B012E8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712751F-3623-0D75-44EE-42A9613F5AB6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7D7B06E6-2F51-59BD-182A-3E3ECFDADEB3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5F5599BE-1C11-7CD5-0412-216D2F0C7B35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F3A1DEAD-390F-6240-3015-C5DFAE291556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69BCB027-A933-25A1-EDAF-945C13D400AD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B9AA5A56-EF12-8179-41EF-B7A9AF658A9D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9048C384-601E-9C1E-00A5-73834AB8B8D5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01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18AC3E29-232F-40EF-186F-5114D79992F6}"/>
                </a:ext>
              </a:extLst>
            </p:cNvPr>
            <p:cNvSpPr txBox="1"/>
            <p:nvPr/>
          </p:nvSpPr>
          <p:spPr>
            <a:xfrm>
              <a:off x="1583995" y="499291"/>
              <a:ext cx="11002946" cy="430887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/>
            <a:p>
              <a:pPr lvl="0">
                <a:defRPr/>
              </a:pPr>
              <a:r>
                <a:rPr lang="en-US" altLang="ko-KR" sz="2400" b="1" spc="155" dirty="0">
                  <a:latin typeface="Calibri"/>
                  <a:ea typeface="+mj-ea"/>
                  <a:cs typeface="Calibri"/>
                </a:rPr>
                <a:t>Existing Methods: Feature Pyramid Fusion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ABBFAC79-7CED-26A8-26BB-0C1E6B4D6BF1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Introduction &amp; Related Work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C8A1B57-1F67-79FB-DEB8-B0F9E675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5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D0911F-ABD0-2451-4856-F3D501640A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12A413D4-D0D5-49FF-2268-222F1158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6EE1569-2523-8333-80E7-EB795D03F3B8}"/>
              </a:ext>
            </a:extLst>
          </p:cNvPr>
          <p:cNvSpPr txBox="1"/>
          <p:nvPr/>
        </p:nvSpPr>
        <p:spPr>
          <a:xfrm>
            <a:off x="593002" y="1249756"/>
            <a:ext cx="11511479" cy="180690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SSD: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서로 다른 계층의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Map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을 각 </a:t>
            </a: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Detection Head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 독립적으로 활용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(No Feature Fusion)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FPN: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High-level Feature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</a:t>
            </a:r>
            <a:r>
              <a:rPr lang="en-US" altLang="ko-KR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Upsampling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하여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Low-level Feature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와 결합하는 </a:t>
            </a:r>
            <a:r>
              <a:rPr lang="en-US" altLang="ko-KR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Top-down + Lateral Fusion </a:t>
            </a:r>
            <a:r>
              <a:rPr lang="ko-KR" altLang="en-US" sz="16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도입</a:t>
            </a:r>
            <a:endParaRPr lang="en-US" altLang="ko-KR" sz="16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이후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PANet, ASFF, BiFPN, RFPN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등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Fusion Path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와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Interaction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을 확장한 구조들이 제안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성능 향상과 함께 </a:t>
            </a:r>
            <a:r>
              <a:rPr lang="en-US" altLang="ko-KR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FPN-like Feature Fusion</a:t>
            </a:r>
            <a:r>
              <a:rPr lang="ko-KR" altLang="en-US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은 현대 </a:t>
            </a:r>
            <a:r>
              <a:rPr lang="en-US" altLang="ko-KR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Object Detector</a:t>
            </a:r>
            <a:r>
              <a:rPr lang="ko-KR" altLang="en-US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대표적인 </a:t>
            </a:r>
            <a:r>
              <a:rPr lang="en-US" altLang="ko-KR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Neck </a:t>
            </a:r>
            <a:r>
              <a:rPr lang="ko-KR" altLang="en-US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구조로 자리잡음</a:t>
            </a:r>
            <a:endParaRPr lang="en-US" altLang="ko-KR" sz="1600" b="1" dirty="0">
              <a:solidFill>
                <a:srgbClr val="92D05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402E914-5005-6AFE-3A42-8ABB8713C5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103" r="64348"/>
          <a:stretch>
            <a:fillRect/>
          </a:stretch>
        </p:blipFill>
        <p:spPr>
          <a:xfrm>
            <a:off x="7887593" y="3574344"/>
            <a:ext cx="2731915" cy="25834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DCE449E-4F32-8FEA-2F0E-F2ECA816A9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594" t="33300" b="33037"/>
          <a:stretch>
            <a:fillRect/>
          </a:stretch>
        </p:blipFill>
        <p:spPr>
          <a:xfrm>
            <a:off x="4638121" y="3574344"/>
            <a:ext cx="2827955" cy="26743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0571F4B-8728-EAB4-B93A-5D5C14D6E6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62" t="33168" r="71466" b="33168"/>
          <a:stretch>
            <a:fillRect/>
          </a:stretch>
        </p:blipFill>
        <p:spPr>
          <a:xfrm>
            <a:off x="1700537" y="3492981"/>
            <a:ext cx="2347646" cy="266485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F32CF2-792A-F57D-F94F-32F9C75AFCAD}"/>
              </a:ext>
            </a:extLst>
          </p:cNvPr>
          <p:cNvSpPr/>
          <p:nvPr/>
        </p:nvSpPr>
        <p:spPr>
          <a:xfrm>
            <a:off x="3263958" y="4617128"/>
            <a:ext cx="784225" cy="31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90EA49-3885-6E08-6F6A-8D827A88E235}"/>
              </a:ext>
            </a:extLst>
          </p:cNvPr>
          <p:cNvSpPr/>
          <p:nvPr/>
        </p:nvSpPr>
        <p:spPr>
          <a:xfrm rot="20675101">
            <a:off x="3436000" y="5194865"/>
            <a:ext cx="66482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EEC06A0-492F-6B29-55B0-074523D7A3C2}"/>
              </a:ext>
            </a:extLst>
          </p:cNvPr>
          <p:cNvSpPr/>
          <p:nvPr/>
        </p:nvSpPr>
        <p:spPr>
          <a:xfrm rot="20894505">
            <a:off x="3432884" y="5582407"/>
            <a:ext cx="66482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A8DAD9-58F9-C075-8CA0-2406F82E0859}"/>
              </a:ext>
            </a:extLst>
          </p:cNvPr>
          <p:cNvSpPr/>
          <p:nvPr/>
        </p:nvSpPr>
        <p:spPr>
          <a:xfrm>
            <a:off x="3325664" y="5578292"/>
            <a:ext cx="247270" cy="907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5ED9C8-F9A3-A385-82D3-3B19B5A8509A}"/>
              </a:ext>
            </a:extLst>
          </p:cNvPr>
          <p:cNvSpPr/>
          <p:nvPr/>
        </p:nvSpPr>
        <p:spPr>
          <a:xfrm>
            <a:off x="3338364" y="5235392"/>
            <a:ext cx="247270" cy="907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26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50FF-81CC-0AF0-CBA9-6BB5EDCC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7F8C304-543B-C442-4E3E-ED0141ED3D0B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227F1736-AE3E-8E98-701E-835FB14FF490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A76DE185-50BA-187E-953D-7F529FC5B2C6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D1A9575E-5077-C330-3847-10AD0DA495FE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0061AA31-95C6-168D-73D2-6A03396E0BC5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E9ABB70B-B2BC-EA4F-F848-13B3D4D293C9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82AAB663-9413-AC5A-2B5C-6053C830890E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01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1A7EABD8-D202-B941-7AEC-7781A9F2B121}"/>
                </a:ext>
              </a:extLst>
            </p:cNvPr>
            <p:cNvSpPr txBox="1"/>
            <p:nvPr/>
          </p:nvSpPr>
          <p:spPr>
            <a:xfrm>
              <a:off x="1583995" y="499291"/>
              <a:ext cx="11002946" cy="430887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/>
            <a:p>
              <a:pPr lvl="0">
                <a:defRPr/>
              </a:pPr>
              <a:r>
                <a:rPr lang="en-US" altLang="ko-KR" sz="2400" b="1" spc="155" dirty="0">
                  <a:latin typeface="Calibri"/>
                  <a:ea typeface="+mj-ea"/>
                  <a:cs typeface="Calibri"/>
                </a:rPr>
                <a:t>Limitation &amp; Proposed Direction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32CA79E0-8393-EBF4-A0D1-183766A68BA6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Introduction &amp; Related Work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D73F389-7232-31E0-B169-E995F5DB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6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6B32CE-1EDA-9B0E-9F7F-D90A9EDCC8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8F16ABE8-5486-649F-8A1E-60E27F28B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" y="6427628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C8965848-634D-90C4-6FF0-7E5AE811D79F}"/>
              </a:ext>
            </a:extLst>
          </p:cNvPr>
          <p:cNvSpPr txBox="1"/>
          <p:nvPr/>
        </p:nvSpPr>
        <p:spPr>
          <a:xfrm>
            <a:off x="593002" y="1249756"/>
            <a:ext cx="11511480" cy="180690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서로 다른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Hierarchy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는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Representation Bias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가짐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해상도만 맞춰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Point-to-point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직접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Fusion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하면 </a:t>
            </a:r>
            <a:r>
              <a:rPr lang="en-US" altLang="ko-KR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</a:t>
            </a:r>
            <a:r>
              <a:rPr lang="ko-KR" altLang="en-US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간 </a:t>
            </a:r>
            <a:r>
              <a:rPr lang="en-US" altLang="ko-KR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Misalignment</a:t>
            </a:r>
            <a:r>
              <a:rPr lang="ko-KR" altLang="en-US" sz="16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가 발생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할 수 있음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따라서 저자들은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FPN-like Feature Fusion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재검토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IHP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Fusion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효과를 검증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SNI · ESD · </a:t>
            </a:r>
            <a:r>
              <a:rPr lang="en-US" altLang="ko-KR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통해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Secondary Features Alignment(SA) Solution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을 제안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0A3D0E-0E77-1B7B-5D82-079D62E3D6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62" t="33884" r="35222" b="33168"/>
          <a:stretch>
            <a:fillRect/>
          </a:stretch>
        </p:blipFill>
        <p:spPr>
          <a:xfrm>
            <a:off x="3554245" y="3550023"/>
            <a:ext cx="5260874" cy="262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87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F698-47D9-E935-5275-43A0E436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87EB61-E338-5A9A-8936-E749BEDE7878}"/>
              </a:ext>
            </a:extLst>
          </p:cNvPr>
          <p:cNvSpPr txBox="1"/>
          <p:nvPr/>
        </p:nvSpPr>
        <p:spPr>
          <a:xfrm>
            <a:off x="1919287" y="2662067"/>
            <a:ext cx="7995201" cy="1089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90500">
                    <a:schemeClr val="bg1">
                      <a:alpha val="85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</a:t>
            </a: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E726056D-15F5-9735-4D76-33D3B2BC2AE9}"/>
              </a:ext>
            </a:extLst>
          </p:cNvPr>
          <p:cNvSpPr/>
          <p:nvPr/>
        </p:nvSpPr>
        <p:spPr>
          <a:xfrm>
            <a:off x="1735412" y="2650784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BCFA10B3-431B-EDCE-3794-D0C6A8F9BFA9}"/>
              </a:ext>
            </a:extLst>
          </p:cNvPr>
          <p:cNvSpPr/>
          <p:nvPr/>
        </p:nvSpPr>
        <p:spPr>
          <a:xfrm rot="10800000">
            <a:off x="9402414" y="3194319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DB4D2123-D1FF-71F7-FF62-70D6CF6E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7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B7A1CD-8B9E-B3AB-FC17-B353667E48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3" name="바닥글 개체 틀 18">
            <a:extLst>
              <a:ext uri="{FF2B5EF4-FFF2-40B4-BE49-F238E27FC236}">
                <a16:creationId xmlns:a16="http://schemas.microsoft.com/office/drawing/2014/main" id="{4ADA8A31-CC57-FB5A-EF2A-0A53EFD8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29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7737-07C2-8F93-6482-752C6D38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4F0103E-37E7-66D1-E37F-BCADFCF9CE3D}"/>
              </a:ext>
            </a:extLst>
          </p:cNvPr>
          <p:cNvSpPr/>
          <p:nvPr/>
        </p:nvSpPr>
        <p:spPr>
          <a:xfrm>
            <a:off x="925181" y="1348568"/>
            <a:ext cx="8480076" cy="360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F50D30D-993C-66DB-806D-62165D829C02}"/>
              </a:ext>
            </a:extLst>
          </p:cNvPr>
          <p:cNvSpPr/>
          <p:nvPr/>
        </p:nvSpPr>
        <p:spPr>
          <a:xfrm>
            <a:off x="925181" y="2407837"/>
            <a:ext cx="6094744" cy="360000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5DE2428-5DA4-2651-285A-F8986D8CB858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8648BA71-34C8-A4C8-2C98-9D0B4A917A14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AE401DF0-14CE-3E78-221F-B82A03E0A59C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64E02F27-A128-C815-5582-4B03D0119BD4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2C97E033-3DA7-F3AC-49AA-C4982B256DED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C886783B-05E5-EBF6-0CF2-B391E20B0EE9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46352529-9CB3-ABEE-BA40-E55A9FC6B98C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02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BFED0494-C3A3-7533-9276-700B1C6CF013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369332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Independent Hierarchy Pyramid (IHP)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8EFA1605-5D5A-9A95-CE5A-1B642236EA89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Method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E47A9EE-9E4F-E29D-2D44-0F3D01B2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8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CA001B-F778-4FC3-4A6A-50AB79336A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E6B3D7C7-1F42-8470-8E1E-6F728944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D0F649A8-982F-13EC-3BBB-B8C3C4B0BDCF}"/>
              </a:ext>
            </a:extLst>
          </p:cNvPr>
          <p:cNvSpPr txBox="1"/>
          <p:nvPr/>
        </p:nvSpPr>
        <p:spPr>
          <a:xfrm>
            <a:off x="593002" y="1249756"/>
            <a:ext cx="9935297" cy="2484013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서로 다른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Hierarchy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직접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Fusion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할 경우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Misalignment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발생 가능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기존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FPN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Fusion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제거하여 계층 간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Misalignment 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문제를 회피  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각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Hierarchy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독립적인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Prediction Branch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전달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Prediction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전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Bottleneck Convolution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을 적용하여 각 계층의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정제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Fusion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효과를 분리하여 검증하기 위한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Features-Unfused Pyramid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구조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5DE9AD5-5E1F-4FD1-AAF8-44891EB9EA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396" r="-1"/>
          <a:stretch>
            <a:fillRect/>
          </a:stretch>
        </p:blipFill>
        <p:spPr>
          <a:xfrm>
            <a:off x="6810756" y="3980418"/>
            <a:ext cx="1988605" cy="22087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06CDE6F-E9F3-185F-B7EB-2BB3F89EFF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63" t="33498" r="71212" b="33168"/>
          <a:stretch>
            <a:fillRect/>
          </a:stretch>
        </p:blipFill>
        <p:spPr>
          <a:xfrm>
            <a:off x="3020253" y="3973066"/>
            <a:ext cx="1988604" cy="2216095"/>
          </a:xfrm>
          <a:prstGeom prst="rect">
            <a:avLst/>
          </a:prstGeom>
        </p:spPr>
      </p:pic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0ABDA970-8A6F-176C-C668-C15258DA0CDC}"/>
              </a:ext>
            </a:extLst>
          </p:cNvPr>
          <p:cNvSpPr/>
          <p:nvPr/>
        </p:nvSpPr>
        <p:spPr>
          <a:xfrm>
            <a:off x="5462450" y="4935364"/>
            <a:ext cx="868680" cy="4648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1FD7006-8F20-5038-D8E2-777EE80C6365}"/>
              </a:ext>
            </a:extLst>
          </p:cNvPr>
          <p:cNvSpPr/>
          <p:nvPr/>
        </p:nvSpPr>
        <p:spPr>
          <a:xfrm>
            <a:off x="7917180" y="5086350"/>
            <a:ext cx="882181" cy="896544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DACF9BF-EBF7-937F-4FEC-7691142E0E65}"/>
              </a:ext>
            </a:extLst>
          </p:cNvPr>
          <p:cNvSpPr/>
          <p:nvPr/>
        </p:nvSpPr>
        <p:spPr>
          <a:xfrm>
            <a:off x="4143756" y="5096636"/>
            <a:ext cx="839068" cy="88384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496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4861-E1E8-DA09-BD95-903AAA59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1E26682-82AB-BDDE-C13D-E4CCE1021EFF}"/>
              </a:ext>
            </a:extLst>
          </p:cNvPr>
          <p:cNvSpPr/>
          <p:nvPr/>
        </p:nvSpPr>
        <p:spPr>
          <a:xfrm>
            <a:off x="925181" y="1363726"/>
            <a:ext cx="5582299" cy="576000"/>
          </a:xfrm>
          <a:prstGeom prst="roundRect">
            <a:avLst>
              <a:gd name="adj" fmla="val 14021"/>
            </a:avLst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DA83B99-EF79-6223-1EDD-E50084F69495}"/>
              </a:ext>
            </a:extLst>
          </p:cNvPr>
          <p:cNvSpPr/>
          <p:nvPr/>
        </p:nvSpPr>
        <p:spPr>
          <a:xfrm>
            <a:off x="925181" y="4065701"/>
            <a:ext cx="5681359" cy="583200"/>
          </a:xfrm>
          <a:prstGeom prst="roundRect">
            <a:avLst>
              <a:gd name="adj" fmla="val 12747"/>
            </a:avLst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5CC0E93-4747-9776-0E59-15011AB91354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F2B21FA8-0B78-C30D-FF50-DAE1AB753582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5D58DA0A-B3D2-6631-19CC-3AFAC29DAABE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2F9FD58B-DA8B-2389-4D9D-C7ABAD16620F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032C2A4F-67E2-8C62-41BB-3BE3A110E3E6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DECDCAB6-0955-FB2C-48BD-D20A90FF3D54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4EEB05C0-754B-1677-4E3F-9113ACDD5D57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02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1F2CF4E5-D0D6-1BC6-CA86-73E6CF3928E3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369332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Soft Nearest Neighbor Interpolation (SNI)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55FC97A4-DED7-4C24-9750-13832D6FE60B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Method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59BC687-07E1-AD07-AE23-F5053B41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778972-4479-890A-AAE1-F0E3ACBD80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07E89098-1BB3-D12F-0D43-19F074D6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30E00DEB-732B-A178-4577-6FF945753BC8}"/>
              </a:ext>
            </a:extLst>
          </p:cNvPr>
          <p:cNvSpPr txBox="1"/>
          <p:nvPr/>
        </p:nvSpPr>
        <p:spPr>
          <a:xfrm>
            <a:off x="593003" y="1249756"/>
            <a:ext cx="6366598" cy="5207836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기존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FPN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High-level 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Nearest Neighbor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</a:t>
            </a: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Upsampling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한 뒤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Low-level Feature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와 직접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Fusion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Upsampling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은 해상도를 확대할 뿐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, High-level 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의 표현 특성은 그대로 유지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확대된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직접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Fusion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할 경우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Hierarchy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간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Representation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차이로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Misalignment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가 발생할 수 있음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SNI: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Upsampling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된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Soft Weight (</a:t>
            </a:r>
            <a:r>
              <a:rPr lang="ko-KR" altLang="ko-KR" sz="1800" b="1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α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)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적용해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High-level Feature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영향을 완화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확대 비율이 클수록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High-level Semantic Feature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영향 감소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Nearest Neighbor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기반 </a:t>
            </a:r>
            <a:r>
              <a:rPr lang="en-US" altLang="ko-KR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Upsampling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연산 효율을 유지하면서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Misalignment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영향을 완화하고 주요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Texture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보존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308D730-9DC7-CDEA-0A1C-01CE7C50E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99" y="1213902"/>
            <a:ext cx="4752975" cy="22861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16D9A3A-5878-1403-ECA6-B7CEB328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799" y="3711422"/>
            <a:ext cx="4752975" cy="2529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498E29-C52B-010F-2DD7-FE2BF68E3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5337" y="4655345"/>
            <a:ext cx="3601986" cy="668159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FAAEA31-2D06-C840-AB10-DC734147FC7D}"/>
              </a:ext>
            </a:extLst>
          </p:cNvPr>
          <p:cNvSpPr/>
          <p:nvPr/>
        </p:nvSpPr>
        <p:spPr>
          <a:xfrm>
            <a:off x="7221600" y="1245757"/>
            <a:ext cx="2290700" cy="1700643"/>
          </a:xfrm>
          <a:prstGeom prst="roundRect">
            <a:avLst>
              <a:gd name="adj" fmla="val 7570"/>
            </a:avLst>
          </a:prstGeom>
          <a:noFill/>
          <a:ln w="38100">
            <a:solidFill>
              <a:srgbClr val="FF0000"/>
            </a:solidFill>
            <a:prstDash val="sysDash"/>
          </a:ln>
          <a:effectLst>
            <a:glow rad="381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FE56585-686E-FDF9-E9D8-835D77DA63BC}"/>
              </a:ext>
            </a:extLst>
          </p:cNvPr>
          <p:cNvSpPr/>
          <p:nvPr/>
        </p:nvSpPr>
        <p:spPr>
          <a:xfrm>
            <a:off x="9571101" y="1245757"/>
            <a:ext cx="2224659" cy="1700643"/>
          </a:xfrm>
          <a:prstGeom prst="roundRect">
            <a:avLst>
              <a:gd name="adj" fmla="val 6195"/>
            </a:avLst>
          </a:prstGeom>
          <a:noFill/>
          <a:ln w="38100">
            <a:solidFill>
              <a:srgbClr val="0070C0"/>
            </a:solidFill>
            <a:prstDash val="sysDash"/>
          </a:ln>
          <a:effectLst>
            <a:glow rad="381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1970AC5-5646-FC52-6A9C-BE32BAAB031D}"/>
              </a:ext>
            </a:extLst>
          </p:cNvPr>
          <p:cNvSpPr/>
          <p:nvPr/>
        </p:nvSpPr>
        <p:spPr>
          <a:xfrm>
            <a:off x="8410574" y="3771901"/>
            <a:ext cx="2935606" cy="883444"/>
          </a:xfrm>
          <a:prstGeom prst="roundRect">
            <a:avLst>
              <a:gd name="adj" fmla="val 7570"/>
            </a:avLst>
          </a:prstGeom>
          <a:noFill/>
          <a:ln w="19050">
            <a:solidFill>
              <a:srgbClr val="FF0000"/>
            </a:solidFill>
            <a:prstDash val="sysDash"/>
          </a:ln>
          <a:effectLst>
            <a:glow rad="381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50C9DE8-E8C8-F735-7693-4E5AD7FD51F1}"/>
              </a:ext>
            </a:extLst>
          </p:cNvPr>
          <p:cNvSpPr/>
          <p:nvPr/>
        </p:nvSpPr>
        <p:spPr>
          <a:xfrm>
            <a:off x="8410574" y="4681538"/>
            <a:ext cx="2935606" cy="888682"/>
          </a:xfrm>
          <a:prstGeom prst="roundRect">
            <a:avLst>
              <a:gd name="adj" fmla="val 6195"/>
            </a:avLst>
          </a:prstGeom>
          <a:noFill/>
          <a:ln w="19050">
            <a:solidFill>
              <a:srgbClr val="0070C0"/>
            </a:solidFill>
            <a:prstDash val="sysDash"/>
          </a:ln>
          <a:effectLst>
            <a:glow rad="381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836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B4585-B489-D8F2-F2AC-DE5D4757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811320-F8D2-59CB-D784-A7451189509C}"/>
              </a:ext>
            </a:extLst>
          </p:cNvPr>
          <p:cNvSpPr/>
          <p:nvPr/>
        </p:nvSpPr>
        <p:spPr>
          <a:xfrm>
            <a:off x="915656" y="2863564"/>
            <a:ext cx="4084969" cy="360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6B22A5-BCAF-E05F-A52F-C5201646ED0E}"/>
              </a:ext>
            </a:extLst>
          </p:cNvPr>
          <p:cNvSpPr/>
          <p:nvPr/>
        </p:nvSpPr>
        <p:spPr>
          <a:xfrm>
            <a:off x="5380550" y="2863564"/>
            <a:ext cx="4608195" cy="360000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2E1FD10-6001-6963-C501-F75990E5A83D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5C0F7B6A-DFDE-A493-06C0-33D3333761E7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5528DF20-516A-AED2-E8BB-856AB8E427C2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74C46C38-E500-1953-8827-566C84FAE37F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DE3B4F2C-F1B3-3EC0-DE3D-EEEB12025FA3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193D88C9-149B-89A6-9D6C-1BA144994ED7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B40B9966-FA2F-9975-D717-DB9CC9B54EE6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02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C9EC54FA-F95A-5664-5CE8-77939B9E2DEA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369332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Extended Spatial-window </a:t>
              </a:r>
              <a:r>
                <a:rPr lang="en-US" altLang="ko-KR" dirty="0" err="1"/>
                <a:t>Downsampling</a:t>
              </a:r>
              <a:r>
                <a:rPr lang="en-US" altLang="ko-KR" dirty="0"/>
                <a:t> (ESD)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8D5C981D-0DD4-0379-3C54-1D27DC73FD0C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Method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3ABB5A4-D36B-499E-55E5-AE548C8F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10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8F4D81C-BF84-AEC0-D049-DE260352F8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875D8C02-255E-BCF6-6B60-FF17C113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87E70538-8B24-522D-3EE1-26E96672EE3D}"/>
              </a:ext>
            </a:extLst>
          </p:cNvPr>
          <p:cNvSpPr txBox="1"/>
          <p:nvPr/>
        </p:nvSpPr>
        <p:spPr>
          <a:xfrm>
            <a:off x="593002" y="1249756"/>
            <a:ext cx="10740883" cy="2437847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Downsampling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을 반복하면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Map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이 작아지면서 공간 정보가 일부 사라짐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ESD: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Conv + Extended-window Max Pooling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으로 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세부적인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Local 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최대한 유지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Extended-window Average Pooling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으로 전체적인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Global 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도 함께 유지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ESD-I: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단순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Addition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으로 가볍게 결합하고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ESD-II: Learnable Fusion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으로 적응적으로 결합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Local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과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Global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정보를 함께 사용해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Downsampling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과정의 정보 손실을 줄임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7184CE-2A41-3BBC-A29A-A4759B607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101" y="3963180"/>
            <a:ext cx="8750750" cy="227341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496266A-9F65-2D7B-E2FA-A875CC13B8EE}"/>
              </a:ext>
            </a:extLst>
          </p:cNvPr>
          <p:cNvSpPr/>
          <p:nvPr/>
        </p:nvSpPr>
        <p:spPr>
          <a:xfrm>
            <a:off x="3072751" y="4151957"/>
            <a:ext cx="2000899" cy="1778943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  <a:effectLst>
            <a:glow rad="381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1CC997D-DE39-82C0-96E0-3116AFA6C979}"/>
              </a:ext>
            </a:extLst>
          </p:cNvPr>
          <p:cNvSpPr/>
          <p:nvPr/>
        </p:nvSpPr>
        <p:spPr>
          <a:xfrm>
            <a:off x="5524500" y="4165601"/>
            <a:ext cx="2533650" cy="1758950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ash"/>
          </a:ln>
          <a:effectLst>
            <a:glow rad="381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071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20C1A-8CFB-8A79-9779-0A714B2E9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F0FFAB4-42CA-BDA4-6938-C52E1780E2E6}"/>
              </a:ext>
            </a:extLst>
          </p:cNvPr>
          <p:cNvSpPr/>
          <p:nvPr/>
        </p:nvSpPr>
        <p:spPr>
          <a:xfrm>
            <a:off x="887081" y="2838776"/>
            <a:ext cx="9327952" cy="360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A7940FA-1A70-0EE2-BFCB-41B472038113}"/>
              </a:ext>
            </a:extLst>
          </p:cNvPr>
          <p:cNvSpPr/>
          <p:nvPr/>
        </p:nvSpPr>
        <p:spPr>
          <a:xfrm>
            <a:off x="887081" y="3348474"/>
            <a:ext cx="7898779" cy="360000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79FBC9-0E7B-2A2C-7322-76432DF4DBEE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79BDD546-0202-27FA-3F30-184A7DE5E2E9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A2816A73-EA06-5B07-8B92-44A1C3385934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F339E76B-5759-E344-7F02-527AFD352F41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6A79B82A-EA7F-1DF2-2FCB-A6A0E4C82FF7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B27B0834-C176-3F92-A46F-F979E0CF43F5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9242E156-E0D9-5A20-72FA-54C5EAE52C95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02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1BAC630B-7B18-B0AF-C638-94246E15CD1E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430887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 err="1"/>
                <a:t>GSConvE</a:t>
              </a:r>
              <a:endParaRPr lang="en-US" altLang="ko-KR" dirty="0"/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1FC11330-1971-9090-A5F4-96E580A596C4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Method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AA64733-C0EB-8482-ACEC-BD89AF0B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11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E5C98E2-25EF-AF0E-3981-82ACFD14B4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5264BA8E-591B-2151-D349-499DA7177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BB8B44F3-642E-30BC-F85B-3205E0C8A64F}"/>
              </a:ext>
            </a:extLst>
          </p:cNvPr>
          <p:cNvSpPr txBox="1"/>
          <p:nvPr/>
        </p:nvSpPr>
        <p:spPr>
          <a:xfrm>
            <a:off x="593003" y="1249756"/>
            <a:ext cx="11322772" cy="2945678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b="1" dirty="0" err="1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Depthwise</a:t>
            </a:r>
            <a:r>
              <a:rPr lang="en-US" altLang="ko-KR" sz="1800" b="1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Conv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는 </a:t>
            </a:r>
            <a:r>
              <a:rPr lang="ko-KR" altLang="en-US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연산량은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작지만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Channel 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간 정보 교환이 제한적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는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Vanilla Conv + </a:t>
            </a: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Depthwise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Conv + Feature Shuffle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이를 보완 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   </a:t>
            </a:r>
            <a:r>
              <a:rPr lang="en-US" altLang="ko-KR" sz="1800" b="1" i="1" u="sng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(</a:t>
            </a:r>
            <a:r>
              <a:rPr lang="ko-KR" altLang="en-US" sz="1800" b="1" i="1" u="sng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필자가 개념을 확장해 재정의한 것</a:t>
            </a:r>
            <a:r>
              <a:rPr lang="en-US" altLang="ko-KR" sz="1800" b="1" i="1" u="sng" dirty="0">
                <a:solidFill>
                  <a:schemeClr val="accent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)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이를 모델 규모에 맞게 확장한 </a:t>
            </a: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-I / II 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제안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-I(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일반 모델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):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Richness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유지하면서 추가적인 계산 비용 증가를 억제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하도록 설계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-II(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경량 모델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):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Large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DWConv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적은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Layer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에서도 넓은 영역의 정보 확보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9715830-6EC7-2621-2716-4A44F1840688}"/>
              </a:ext>
            </a:extLst>
          </p:cNvPr>
          <p:cNvGrpSpPr/>
          <p:nvPr/>
        </p:nvGrpSpPr>
        <p:grpSpPr>
          <a:xfrm>
            <a:off x="3584648" y="4515538"/>
            <a:ext cx="4534775" cy="1788560"/>
            <a:chOff x="3108836" y="3944200"/>
            <a:chExt cx="5971280" cy="235513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6247898-E2EF-6523-B6AF-B03746B5A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8836" y="3944200"/>
              <a:ext cx="5971280" cy="235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6045" sx="102000" sy="102000" algn="ctr" rotWithShape="0">
                <a:prstClr val="black">
                  <a:alpha val="20250"/>
                </a:prstClr>
              </a:outerShdw>
            </a:effectLst>
          </p:spPr>
        </p:pic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0E192E81-B2D7-5D52-D02F-E3F9B3EF6734}"/>
                </a:ext>
              </a:extLst>
            </p:cNvPr>
            <p:cNvSpPr/>
            <p:nvPr/>
          </p:nvSpPr>
          <p:spPr>
            <a:xfrm>
              <a:off x="4152900" y="4122344"/>
              <a:ext cx="1242060" cy="14859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  <a:effectLst>
              <a:glow rad="38100">
                <a:schemeClr val="bg1"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390FA8E1-7E57-A0F4-D060-337B59BFDEEF}"/>
                </a:ext>
              </a:extLst>
            </p:cNvPr>
            <p:cNvSpPr/>
            <p:nvPr/>
          </p:nvSpPr>
          <p:spPr>
            <a:xfrm>
              <a:off x="6439024" y="4122344"/>
              <a:ext cx="1180976" cy="148590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ash"/>
            </a:ln>
            <a:effectLst>
              <a:glow rad="38100">
                <a:schemeClr val="bg1"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0922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FB501-96FD-293B-7708-600AF5C1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ACE08EE-013E-16AF-079E-3261BD5F2580}"/>
              </a:ext>
            </a:extLst>
          </p:cNvPr>
          <p:cNvSpPr/>
          <p:nvPr/>
        </p:nvSpPr>
        <p:spPr>
          <a:xfrm>
            <a:off x="906779" y="2118813"/>
            <a:ext cx="6103621" cy="360000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78102E3-91C2-E9F5-EAF4-6FDA52C48F74}"/>
              </a:ext>
            </a:extLst>
          </p:cNvPr>
          <p:cNvSpPr/>
          <p:nvPr/>
        </p:nvSpPr>
        <p:spPr>
          <a:xfrm>
            <a:off x="906779" y="3184002"/>
            <a:ext cx="3924300" cy="360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1779E8-F7A8-B42D-05B5-88C8AA678E27}"/>
              </a:ext>
            </a:extLst>
          </p:cNvPr>
          <p:cNvSpPr/>
          <p:nvPr/>
        </p:nvSpPr>
        <p:spPr>
          <a:xfrm>
            <a:off x="906779" y="4517445"/>
            <a:ext cx="6148445" cy="576000"/>
          </a:xfrm>
          <a:prstGeom prst="roundRect">
            <a:avLst>
              <a:gd name="adj" fmla="val 11998"/>
            </a:avLst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6C475B1-D01A-7123-027F-8469D0EFEE0E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FEEE1D2E-E8FC-2573-00C9-ABFB6DF06F74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CF40673E-375B-0C87-B8B0-FBC815F94BDB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2A207A83-1338-32A7-0117-DC53AA54063F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84F20C35-77EA-D220-2A92-D84387F1E68D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84A95651-0071-F2A4-9A23-977C29CC3254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903221C6-FA44-0941-C5B4-A35301B71A42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02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9C329E60-EC6C-0F19-FBDC-698498E61832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430887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Secondary Features Alignment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F564366A-CF7D-20B0-AE78-BC2B0EE1FB13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Method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3F4D51B-B266-6E7D-48E2-76251C94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12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4082CD-6867-6A0F-4B8E-3B8EC022ED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DC94AFD4-9E66-14BD-0022-591D111F5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CA214E3C-68B5-A9D8-BAAE-C0CBF9E77359}"/>
              </a:ext>
            </a:extLst>
          </p:cNvPr>
          <p:cNvSpPr txBox="1"/>
          <p:nvPr/>
        </p:nvSpPr>
        <p:spPr>
          <a:xfrm>
            <a:off x="593002" y="1249756"/>
            <a:ext cx="6651363" cy="4376839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앞서 제안한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SNI + ESD +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하나의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Detection Architecture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통합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Backbone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Downsampling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구간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(P2~P5)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ESD-I / II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적용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Map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을 줄이면서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Spatial Information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손실 완화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Neck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Top-down Path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에는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SNI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적용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High-level 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Upsampling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할 때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Misalignment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영향 감소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Neck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Bottom-up Path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에는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ESD-I / II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적용하고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E-ELAN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일부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Convolution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을 </a:t>
            </a: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-I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으로 대체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이를 기반으로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Large / Small / Nano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규모의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SYOLO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구성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BC31B09-3BC3-C0B0-8CF5-2DFF866886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906" y="1299131"/>
            <a:ext cx="4583154" cy="46406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87E7337-71BB-ECC1-7573-8701DB525DB5}"/>
              </a:ext>
            </a:extLst>
          </p:cNvPr>
          <p:cNvSpPr/>
          <p:nvPr/>
        </p:nvSpPr>
        <p:spPr>
          <a:xfrm>
            <a:off x="7345680" y="2324100"/>
            <a:ext cx="1783080" cy="173736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F3EB8E-ED96-116B-1AAA-9D38D361606A}"/>
              </a:ext>
            </a:extLst>
          </p:cNvPr>
          <p:cNvSpPr/>
          <p:nvPr/>
        </p:nvSpPr>
        <p:spPr>
          <a:xfrm>
            <a:off x="7345680" y="4328160"/>
            <a:ext cx="1783080" cy="75827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47CDD4-AD06-2BAF-D96C-6A7E10792016}"/>
              </a:ext>
            </a:extLst>
          </p:cNvPr>
          <p:cNvSpPr/>
          <p:nvPr/>
        </p:nvSpPr>
        <p:spPr>
          <a:xfrm>
            <a:off x="7338060" y="5120640"/>
            <a:ext cx="1783080" cy="75827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52F5937-9C23-E83D-3E56-31C1EB965014}"/>
              </a:ext>
            </a:extLst>
          </p:cNvPr>
          <p:cNvSpPr/>
          <p:nvPr/>
        </p:nvSpPr>
        <p:spPr>
          <a:xfrm>
            <a:off x="9121140" y="1586754"/>
            <a:ext cx="1295848" cy="4300220"/>
          </a:xfrm>
          <a:prstGeom prst="rect">
            <a:avLst/>
          </a:prstGeom>
          <a:noFill/>
          <a:ln w="38100">
            <a:solidFill>
              <a:srgbClr val="002060"/>
            </a:solidFill>
            <a:prstDash val="sysDash"/>
          </a:ln>
          <a:effectLst>
            <a:glow rad="381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57A486-DBB7-45B8-DFD7-4F8B077FCDC4}"/>
              </a:ext>
            </a:extLst>
          </p:cNvPr>
          <p:cNvSpPr/>
          <p:nvPr/>
        </p:nvSpPr>
        <p:spPr>
          <a:xfrm>
            <a:off x="2449852" y="5287868"/>
            <a:ext cx="2273024" cy="320376"/>
          </a:xfrm>
          <a:prstGeom prst="rect">
            <a:avLst/>
          </a:prstGeom>
          <a:noFill/>
          <a:ln w="38100">
            <a:solidFill>
              <a:srgbClr val="002060"/>
            </a:solidFill>
            <a:prstDash val="sysDash"/>
          </a:ln>
          <a:effectLst>
            <a:glow rad="38100">
              <a:schemeClr val="bg1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850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1F0AC-691A-858F-D841-EB03D3A55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6256CC-38C7-4D4E-F244-8FE40746F780}"/>
              </a:ext>
            </a:extLst>
          </p:cNvPr>
          <p:cNvSpPr txBox="1"/>
          <p:nvPr/>
        </p:nvSpPr>
        <p:spPr>
          <a:xfrm>
            <a:off x="1919287" y="2662067"/>
            <a:ext cx="7995201" cy="1089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90500">
                    <a:schemeClr val="bg1">
                      <a:alpha val="85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Setup &amp; Result</a:t>
            </a: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828DBB21-DE00-11AE-127F-09F67E9E6B4F}"/>
              </a:ext>
            </a:extLst>
          </p:cNvPr>
          <p:cNvSpPr/>
          <p:nvPr/>
        </p:nvSpPr>
        <p:spPr>
          <a:xfrm>
            <a:off x="1735412" y="2650784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7C46D30F-F4D1-BF6F-797D-FD78512DD93B}"/>
              </a:ext>
            </a:extLst>
          </p:cNvPr>
          <p:cNvSpPr/>
          <p:nvPr/>
        </p:nvSpPr>
        <p:spPr>
          <a:xfrm rot="10800000">
            <a:off x="9402414" y="3194319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FA03E30-51CF-8326-989E-2A65A3FA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13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D7A0EB-DC16-00F9-E43A-0960EBCB0E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3" name="바닥글 개체 틀 18">
            <a:extLst>
              <a:ext uri="{FF2B5EF4-FFF2-40B4-BE49-F238E27FC236}">
                <a16:creationId xmlns:a16="http://schemas.microsoft.com/office/drawing/2014/main" id="{174966B1-AD58-C9B1-14B1-D8D675A3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274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EEE74-7AE3-7EDF-F074-5FAD0EFF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065006B-546D-EBA0-2CD4-404D6FD8F891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EC457BEA-EE31-1979-661C-763535A744BD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70EC721A-4280-1EC5-802E-7BE2DC387B5A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EAFA0FEC-9023-1D6F-1647-D17BC4172AA6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6CE20021-2286-2303-339D-EB9406AF1353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647B2DF8-AE34-38CF-084F-7144AB65B688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3911AC88-7D8C-9C03-5D60-00ED13931F96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03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7B08E5CA-1EFD-E6FC-9EDA-82DA25838851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369332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Experimental Setup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10E33255-75BD-A845-B7C9-E5280F9533AF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Experimental Setup &amp; Result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A8BDE0B-4801-AEFC-CB49-81543914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31CB48-735E-617B-C3FB-779F52A9A5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3C0D0E4B-B4B6-724F-3911-63276930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F6105275-4842-5348-D608-0E7627AE5AD2}"/>
              </a:ext>
            </a:extLst>
          </p:cNvPr>
          <p:cNvSpPr txBox="1"/>
          <p:nvPr/>
        </p:nvSpPr>
        <p:spPr>
          <a:xfrm>
            <a:off x="593002" y="1249756"/>
            <a:ext cx="11229804" cy="142218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Baselines: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YOLOv3~YOLOv8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Tiny/Nano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계열을 기반으로 제안 방법 검증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Pascal VOC 07+12: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train&amp;val07+12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학습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test07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 평가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Ablation Study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및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Detector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비교 실험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MS COCO: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train2017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학습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val2017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 평가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Detector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비교 실험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2" name="그림 1" descr="PASCAL VOC 2012 - Dataset Ninja">
            <a:extLst>
              <a:ext uri="{FF2B5EF4-FFF2-40B4-BE49-F238E27FC236}">
                <a16:creationId xmlns:a16="http://schemas.microsoft.com/office/drawing/2014/main" id="{AAB6B3CA-57A0-CC60-A5E0-EF9B73045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899" y="3694509"/>
            <a:ext cx="3984134" cy="21972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  <p:pic>
        <p:nvPicPr>
          <p:cNvPr id="6" name="그림 5" descr="COCO Dataset">
            <a:extLst>
              <a:ext uri="{FF2B5EF4-FFF2-40B4-BE49-F238E27FC236}">
                <a16:creationId xmlns:a16="http://schemas.microsoft.com/office/drawing/2014/main" id="{052DFD3B-B14D-823A-CAB1-86D4FB2C2A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512" b="7348"/>
          <a:stretch>
            <a:fillRect/>
          </a:stretch>
        </p:blipFill>
        <p:spPr>
          <a:xfrm>
            <a:off x="6724627" y="3603187"/>
            <a:ext cx="3403954" cy="23798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707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B93BD-7B02-C9CE-205E-5002B612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3900C7-7039-80D7-7391-87AF42FBEBE4}"/>
              </a:ext>
            </a:extLst>
          </p:cNvPr>
          <p:cNvSpPr/>
          <p:nvPr/>
        </p:nvSpPr>
        <p:spPr>
          <a:xfrm>
            <a:off x="925181" y="1356253"/>
            <a:ext cx="5771454" cy="360000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E1BFBD9-A665-F8C2-A9A2-29B5F6CCD6F8}"/>
              </a:ext>
            </a:extLst>
          </p:cNvPr>
          <p:cNvSpPr/>
          <p:nvPr/>
        </p:nvSpPr>
        <p:spPr>
          <a:xfrm>
            <a:off x="925181" y="2408671"/>
            <a:ext cx="3099972" cy="360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3B9BD7F-4897-586E-AF12-808DB046A4BD}"/>
              </a:ext>
            </a:extLst>
          </p:cNvPr>
          <p:cNvSpPr/>
          <p:nvPr/>
        </p:nvSpPr>
        <p:spPr>
          <a:xfrm>
            <a:off x="925181" y="3428387"/>
            <a:ext cx="4453643" cy="360000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9DDA4AE-6867-8781-D62C-5433C00A8143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92B557A6-C1C6-380B-0505-E0BF2CE11D7B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E87C4EF3-ECAD-E199-0AE0-674FEC824A56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54FFB7C7-09F8-0B6C-3D92-8A035ACDDA9E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A6486D33-712B-474B-F609-0DCB72EE9112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D60F11F0-010A-A46C-DD9F-5878E37842C2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B1116570-A32D-A0A9-D9B9-E6CBE2A56EA2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03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F300B963-DC20-7390-253C-19BBD5F8D135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430887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Ablation Study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07444001-F8A7-AA5F-BB82-24A6F4253538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Experimental Setup &amp; Result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B1F030C-BE2D-B6E3-2076-007FD9A8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15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6103561-9EA4-12DE-97DB-32F97F2783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2A531920-7080-7F06-1518-B0811DC6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1385FBCA-6DE4-A45D-BC72-A10EEB106249}"/>
              </a:ext>
            </a:extLst>
          </p:cNvPr>
          <p:cNvSpPr txBox="1"/>
          <p:nvPr/>
        </p:nvSpPr>
        <p:spPr>
          <a:xfrm>
            <a:off x="593003" y="1249756"/>
            <a:ext cx="6725290" cy="3869008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IHP: YOLOv3/4/5/7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에서는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AP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향상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YOLOv6/8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에서는 하락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Detector Architecture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 따라 효과가 다름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SNI: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모든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Baseline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AP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향상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가장 일관된 성능 개선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ESD-I / II: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대부분의 모델에서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AP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유지 또는 향상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Downsampling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개선 효과 확인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: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모델에 따라 효과 차이가 존재하지만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일부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Lightweight Detector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Accuracy–Efficiency Trade-off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개선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8A0AA4-343A-EF86-ED2C-C1F647D9D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293" y="1065389"/>
            <a:ext cx="4597482" cy="5341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C7B507-FA8D-F5D7-7E99-1A79CB450C63}"/>
              </a:ext>
            </a:extLst>
          </p:cNvPr>
          <p:cNvSpPr/>
          <p:nvPr/>
        </p:nvSpPr>
        <p:spPr>
          <a:xfrm>
            <a:off x="7467600" y="2567940"/>
            <a:ext cx="4373880" cy="944880"/>
          </a:xfrm>
          <a:prstGeom prst="rect">
            <a:avLst/>
          </a:prstGeom>
          <a:solidFill>
            <a:srgbClr val="00B050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9F9D22-B3F8-D0D2-2B6A-72F859D128B2}"/>
              </a:ext>
            </a:extLst>
          </p:cNvPr>
          <p:cNvSpPr/>
          <p:nvPr/>
        </p:nvSpPr>
        <p:spPr>
          <a:xfrm>
            <a:off x="7482840" y="3505200"/>
            <a:ext cx="4343400" cy="956390"/>
          </a:xfrm>
          <a:prstGeom prst="rect">
            <a:avLst/>
          </a:prstGeom>
          <a:solidFill>
            <a:srgbClr val="FF0000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3AB53E-9B10-154C-5FE0-DB603896D20C}"/>
              </a:ext>
            </a:extLst>
          </p:cNvPr>
          <p:cNvSpPr/>
          <p:nvPr/>
        </p:nvSpPr>
        <p:spPr>
          <a:xfrm>
            <a:off x="7467600" y="4457632"/>
            <a:ext cx="4389120" cy="1874588"/>
          </a:xfrm>
          <a:prstGeom prst="rect">
            <a:avLst/>
          </a:prstGeom>
          <a:solidFill>
            <a:srgbClr val="0070C0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29AFFC-58EF-A7D3-E32B-812D89BD808F}"/>
              </a:ext>
            </a:extLst>
          </p:cNvPr>
          <p:cNvSpPr txBox="1"/>
          <p:nvPr/>
        </p:nvSpPr>
        <p:spPr>
          <a:xfrm>
            <a:off x="4373537" y="333960"/>
            <a:ext cx="7320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b="0" dirty="0" err="1"/>
              <a:t>Ablation</a:t>
            </a:r>
            <a:r>
              <a:rPr lang="ko-KR" altLang="ko-KR" sz="1100" b="0" dirty="0"/>
              <a:t> </a:t>
            </a:r>
            <a:r>
              <a:rPr lang="ko-KR" altLang="ko-KR" sz="1100" b="0" dirty="0" err="1"/>
              <a:t>Study</a:t>
            </a:r>
            <a:r>
              <a:rPr lang="ko-KR" altLang="ko-KR" sz="1100" b="0" dirty="0"/>
              <a:t>(절제 연구 또는 제거 연구)는 인공지능(AI)이나 </a:t>
            </a:r>
            <a:r>
              <a:rPr lang="ko-KR" altLang="ko-KR" sz="1100" b="0" dirty="0" err="1"/>
              <a:t>머신러닝</a:t>
            </a:r>
            <a:r>
              <a:rPr lang="ko-KR" altLang="ko-KR" sz="1100" b="0" dirty="0"/>
              <a:t> 모델에서 </a:t>
            </a:r>
            <a:r>
              <a:rPr lang="ko-KR" altLang="ko-KR" sz="1100" dirty="0"/>
              <a:t>특정 구성 요소나 특징(</a:t>
            </a:r>
            <a:r>
              <a:rPr lang="ko-KR" altLang="ko-KR" sz="1100" dirty="0" err="1"/>
              <a:t>feature</a:t>
            </a:r>
            <a:r>
              <a:rPr lang="ko-KR" altLang="ko-KR" sz="1100" dirty="0"/>
              <a:t>)을 제거했을 때 모델의 성능이 어떻게 변하는지 </a:t>
            </a:r>
            <a:r>
              <a:rPr lang="ko-KR" altLang="ko-KR" sz="1100" dirty="0" err="1"/>
              <a:t>비교·분석하는</a:t>
            </a:r>
            <a:r>
              <a:rPr lang="ko-KR" altLang="ko-KR" sz="1100" dirty="0"/>
              <a:t> 실험 방법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5208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C9D82-77AB-5B02-A06D-31230EC7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F58308B-0435-C2F4-F4F0-D7A956F9B2EA}"/>
              </a:ext>
            </a:extLst>
          </p:cNvPr>
          <p:cNvSpPr/>
          <p:nvPr/>
        </p:nvSpPr>
        <p:spPr>
          <a:xfrm>
            <a:off x="869605" y="4524665"/>
            <a:ext cx="6270103" cy="576000"/>
          </a:xfrm>
          <a:prstGeom prst="roundRect">
            <a:avLst>
              <a:gd name="adj" fmla="val 10052"/>
            </a:avLst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6DCC0C0-4DD3-BF77-7329-9B699DAD2429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47AA15C6-9456-F583-0DC0-BADEF2707250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6E21E784-34C0-011C-7715-76E3E336CE8F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BE716FDC-A247-E340-293C-8A059BB0AC48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8944A1C7-989A-E6C5-CD52-C9C5040F6879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C0F70FE1-FAC2-D854-5386-B741E785A34B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8DD1FD0E-5B33-764F-FF4F-C22D46502E57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03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95843D0C-EC07-24FD-7DE4-9E116FE9B4D3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369332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Ablation Study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C734B3C8-0777-7BD8-CF0D-05FB959CEEED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Experimental Setup &amp; Result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F347025-01B7-D162-6550-64F389D10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16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4970BF-D823-8968-66C4-C25E4A9A5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A5441CE5-8E41-B6C2-F34A-F3B015FE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AD28BDDF-63DA-6601-9D04-6466389C67BD}"/>
              </a:ext>
            </a:extLst>
          </p:cNvPr>
          <p:cNvSpPr txBox="1"/>
          <p:nvPr/>
        </p:nvSpPr>
        <p:spPr>
          <a:xfrm>
            <a:off x="593003" y="1249756"/>
            <a:ext cx="6725290" cy="3869008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IHP: YOLOv3/4/5/7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에서는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AP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향상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YOLOv6/8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에서는 하락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Detector Architecture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 따라 효과가 다름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SNI: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모든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Baseline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AP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향상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가장 일관된 성능 개선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ESD-I / II: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대부분의 모델에서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AP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유지 또는 향상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Downsampling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개선 효과 확인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: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모델에 따라 효과 차이가 존재하지만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일부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Lightweight Detector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에서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Accuracy–Efficiency Trade-off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개선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BADE85BE-B034-28DD-26BC-30C271D16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046" y="1970555"/>
            <a:ext cx="4583194" cy="32555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A65EB67D-0208-5E52-BE5B-81BA44002C8D}"/>
              </a:ext>
            </a:extLst>
          </p:cNvPr>
          <p:cNvSpPr/>
          <p:nvPr/>
        </p:nvSpPr>
        <p:spPr>
          <a:xfrm>
            <a:off x="7427421" y="3396110"/>
            <a:ext cx="4250773" cy="1779139"/>
          </a:xfrm>
          <a:prstGeom prst="rect">
            <a:avLst/>
          </a:prstGeom>
          <a:solidFill>
            <a:srgbClr val="FF0000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071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8718-9ED1-C34B-FBD2-3185E180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F16AA4E-69CD-FABE-24FE-AC414C3C519D}"/>
              </a:ext>
            </a:extLst>
          </p:cNvPr>
          <p:cNvSpPr/>
          <p:nvPr/>
        </p:nvSpPr>
        <p:spPr>
          <a:xfrm>
            <a:off x="2236906" y="1352056"/>
            <a:ext cx="6541334" cy="360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A974BFB-2CB3-A3F4-BFDB-8A9AC5151725}"/>
              </a:ext>
            </a:extLst>
          </p:cNvPr>
          <p:cNvSpPr/>
          <p:nvPr/>
        </p:nvSpPr>
        <p:spPr>
          <a:xfrm>
            <a:off x="2068829" y="2390774"/>
            <a:ext cx="6953109" cy="360000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57EB052-98D5-ADC1-9DD5-F677C11E81DA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BF5A30B8-22D5-C7B5-ACE0-E493B473AF32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5E015AD6-0A09-48B1-47E9-6A1F77E86A45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7B26CCE8-83D6-C371-1832-9A6F2D48BAC9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AA2B24D9-E768-8728-65CA-172D30424EDC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09CB099E-407C-5475-06BF-229695919972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87D4A6DD-86F4-988E-9219-B06CD08DE586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03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4AD4FCA8-087B-765F-839A-AF53FD8F7029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369332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Comparison with State-of-the-Art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6950CCBC-BC1E-841E-FA28-41AC58A17A0B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Experimental Setup &amp; Result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1436B15-4AF9-4212-8F09-DC19BB9E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E3DB427-C02C-3193-A649-9F70DB73AC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160859C6-0A20-E451-6709-A8F9AA5C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1C7E5789-F697-3960-46D8-6665B8A9DC6B}"/>
              </a:ext>
            </a:extLst>
          </p:cNvPr>
          <p:cNvSpPr txBox="1"/>
          <p:nvPr/>
        </p:nvSpPr>
        <p:spPr>
          <a:xfrm>
            <a:off x="593003" y="1249756"/>
            <a:ext cx="11322772" cy="2022348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Pascal VOC: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SYolo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69.6 AP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비교한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Real-time Detector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중 가장 높은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AP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기록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SNI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만 적용해도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+0.9 AP,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추가 연산 비용 없음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MS COCO: </a:t>
            </a:r>
            <a:r>
              <a:rPr lang="en-US" altLang="ko-KR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SYolo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-s 40.8 AP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비교한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Lightweight Detector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중 가장 높은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AP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기록</a:t>
            </a: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YOLOv5-s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대비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+3.4 AP,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더 낮은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FLOPs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Latency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C7BE67-F1BE-A760-11DA-96C6700D4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03" y="3891331"/>
            <a:ext cx="4832896" cy="210915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5FF81F5-5A5E-A615-D205-031686B0C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752" y="3891331"/>
            <a:ext cx="6263023" cy="21091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6045" sx="102000" sy="102000" algn="ctr" rotWithShape="0">
              <a:prstClr val="black">
                <a:alpha val="20250"/>
              </a:prstClr>
            </a:outerShdw>
          </a:effectLst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03BB95B-86B8-D5AE-F146-DA00014ED06B}"/>
              </a:ext>
            </a:extLst>
          </p:cNvPr>
          <p:cNvSpPr/>
          <p:nvPr/>
        </p:nvSpPr>
        <p:spPr>
          <a:xfrm>
            <a:off x="609544" y="5518531"/>
            <a:ext cx="4572056" cy="16027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ACDFE42-5918-83E2-B728-E46AA3D1BBB8}"/>
              </a:ext>
            </a:extLst>
          </p:cNvPr>
          <p:cNvSpPr/>
          <p:nvPr/>
        </p:nvSpPr>
        <p:spPr>
          <a:xfrm>
            <a:off x="5735003" y="5743444"/>
            <a:ext cx="5957887" cy="168343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679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45BA5-65CA-7B8B-6723-62349F3A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D53973-6A27-A18D-87F0-3EEE0EF95ED3}"/>
              </a:ext>
            </a:extLst>
          </p:cNvPr>
          <p:cNvSpPr txBox="1"/>
          <p:nvPr/>
        </p:nvSpPr>
        <p:spPr>
          <a:xfrm>
            <a:off x="1919287" y="2662067"/>
            <a:ext cx="7995201" cy="10899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90500">
                    <a:schemeClr val="bg1">
                      <a:alpha val="85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4277C72A-943F-EC69-53E4-00EC11D9DB43}"/>
              </a:ext>
            </a:extLst>
          </p:cNvPr>
          <p:cNvSpPr/>
          <p:nvPr/>
        </p:nvSpPr>
        <p:spPr>
          <a:xfrm>
            <a:off x="1735412" y="2650784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25840D10-1A3D-66F2-98BF-87615BBEBEF6}"/>
              </a:ext>
            </a:extLst>
          </p:cNvPr>
          <p:cNvSpPr/>
          <p:nvPr/>
        </p:nvSpPr>
        <p:spPr>
          <a:xfrm rot="10800000">
            <a:off x="9402414" y="3194319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D5591F61-960C-2B36-E1D6-DF3CA26B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18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248598-23D6-421E-4DBF-9AAD72CA3A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3" name="바닥글 개체 틀 18">
            <a:extLst>
              <a:ext uri="{FF2B5EF4-FFF2-40B4-BE49-F238E27FC236}">
                <a16:creationId xmlns:a16="http://schemas.microsoft.com/office/drawing/2014/main" id="{2CC90963-B9BD-C4EF-8F88-13C71E39A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518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354A-88B2-D93B-C402-A52F4794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56C5D51-AEE4-4BCF-6714-ABA0E89C7B66}"/>
              </a:ext>
            </a:extLst>
          </p:cNvPr>
          <p:cNvSpPr txBox="1"/>
          <p:nvPr/>
        </p:nvSpPr>
        <p:spPr>
          <a:xfrm>
            <a:off x="418441" y="402844"/>
            <a:ext cx="37147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2">
              <a:spcBef>
                <a:spcPts val="100"/>
              </a:spcBef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32AFBBF3-612F-8E13-D856-99C36EB73BA3}"/>
              </a:ext>
            </a:extLst>
          </p:cNvPr>
          <p:cNvSpPr txBox="1"/>
          <p:nvPr/>
        </p:nvSpPr>
        <p:spPr>
          <a:xfrm>
            <a:off x="418441" y="402844"/>
            <a:ext cx="371475" cy="34010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2">
              <a:spcBef>
                <a:spcPts val="100"/>
              </a:spcBef>
              <a:defRPr/>
            </a:pPr>
            <a:r>
              <a:rPr sz="2200" spc="135">
                <a:solidFill>
                  <a:srgbClr val="FFFFFF"/>
                </a:solidFill>
                <a:latin typeface="+mj-ea"/>
                <a:ea typeface="+mj-ea"/>
                <a:cs typeface="Microsoft Sans Serif"/>
              </a:rPr>
              <a:t>03</a:t>
            </a:r>
            <a:endParaRPr sz="2200">
              <a:latin typeface="+mj-ea"/>
              <a:ea typeface="+mj-ea"/>
              <a:cs typeface="Microsoft Sans Serif"/>
            </a:endParaRPr>
          </a:p>
        </p:txBody>
      </p:sp>
      <p:grpSp>
        <p:nvGrpSpPr>
          <p:cNvPr id="44" name="그룹 30">
            <a:extLst>
              <a:ext uri="{FF2B5EF4-FFF2-40B4-BE49-F238E27FC236}">
                <a16:creationId xmlns:a16="http://schemas.microsoft.com/office/drawing/2014/main" id="{5E3C42C5-3DBB-A8F5-D357-9D0A7D966A2D}"/>
              </a:ext>
            </a:extLst>
          </p:cNvPr>
          <p:cNvGrpSpPr/>
          <p:nvPr/>
        </p:nvGrpSpPr>
        <p:grpSpPr>
          <a:xfrm>
            <a:off x="108642" y="122942"/>
            <a:ext cx="11995840" cy="870246"/>
            <a:chOff x="591101" y="116573"/>
            <a:chExt cx="11995840" cy="870246"/>
          </a:xfrm>
        </p:grpSpPr>
        <p:cxnSp>
          <p:nvCxnSpPr>
            <p:cNvPr id="45" name="직선 화살표 연결선 32">
              <a:extLst>
                <a:ext uri="{FF2B5EF4-FFF2-40B4-BE49-F238E27FC236}">
                  <a16:creationId xmlns:a16="http://schemas.microsoft.com/office/drawing/2014/main" id="{C42A5843-2F4D-2D18-3265-549385654072}"/>
                </a:ext>
              </a:extLst>
            </p:cNvPr>
            <p:cNvCxnSpPr/>
            <p:nvPr/>
          </p:nvCxnSpPr>
          <p:spPr>
            <a:xfrm>
              <a:off x="1657350" y="964658"/>
              <a:ext cx="10740884" cy="22161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33">
              <a:extLst>
                <a:ext uri="{FF2B5EF4-FFF2-40B4-BE49-F238E27FC236}">
                  <a16:creationId xmlns:a16="http://schemas.microsoft.com/office/drawing/2014/main" id="{94750462-D2B9-C123-FB7D-951B2CB20BD0}"/>
                </a:ext>
              </a:extLst>
            </p:cNvPr>
            <p:cNvGrpSpPr/>
            <p:nvPr/>
          </p:nvGrpSpPr>
          <p:grpSpPr>
            <a:xfrm>
              <a:off x="591101" y="116573"/>
              <a:ext cx="1103171" cy="870246"/>
              <a:chOff x="591101" y="116573"/>
              <a:chExt cx="1103171" cy="870246"/>
            </a:xfrm>
          </p:grpSpPr>
          <p:sp>
            <p:nvSpPr>
              <p:cNvPr id="47" name="object 2">
                <a:extLst>
                  <a:ext uri="{FF2B5EF4-FFF2-40B4-BE49-F238E27FC236}">
                    <a16:creationId xmlns:a16="http://schemas.microsoft.com/office/drawing/2014/main" id="{D7E30B7A-4635-E809-A4CB-BB9E3178A5A4}"/>
                  </a:ext>
                </a:extLst>
              </p:cNvPr>
              <p:cNvSpPr/>
              <p:nvPr/>
            </p:nvSpPr>
            <p:spPr>
              <a:xfrm>
                <a:off x="701378" y="202957"/>
                <a:ext cx="882618" cy="783862"/>
              </a:xfrm>
              <a:custGeom>
                <a:avLst/>
                <a:gdLst/>
                <a:ahLst/>
                <a:cxnLst/>
                <a:rect l="l" t="t" r="r" b="b"/>
                <a:pathLst>
                  <a:path w="594360" h="577850">
                    <a:moveTo>
                      <a:pt x="497739" y="0"/>
                    </a:moveTo>
                    <a:lnTo>
                      <a:pt x="96260" y="0"/>
                    </a:lnTo>
                    <a:lnTo>
                      <a:pt x="58791" y="7564"/>
                    </a:lnTo>
                    <a:lnTo>
                      <a:pt x="28194" y="28194"/>
                    </a:lnTo>
                    <a:lnTo>
                      <a:pt x="7564" y="58791"/>
                    </a:lnTo>
                    <a:lnTo>
                      <a:pt x="0" y="96260"/>
                    </a:lnTo>
                    <a:lnTo>
                      <a:pt x="0" y="481290"/>
                    </a:lnTo>
                    <a:lnTo>
                      <a:pt x="7564" y="518759"/>
                    </a:lnTo>
                    <a:lnTo>
                      <a:pt x="28194" y="549356"/>
                    </a:lnTo>
                    <a:lnTo>
                      <a:pt x="58791" y="569985"/>
                    </a:lnTo>
                    <a:lnTo>
                      <a:pt x="96260" y="577550"/>
                    </a:lnTo>
                    <a:lnTo>
                      <a:pt x="497739" y="577550"/>
                    </a:lnTo>
                    <a:lnTo>
                      <a:pt x="535208" y="569985"/>
                    </a:lnTo>
                    <a:lnTo>
                      <a:pt x="565805" y="549356"/>
                    </a:lnTo>
                    <a:lnTo>
                      <a:pt x="586435" y="518759"/>
                    </a:lnTo>
                    <a:lnTo>
                      <a:pt x="594000" y="481290"/>
                    </a:lnTo>
                    <a:lnTo>
                      <a:pt x="594000" y="96260"/>
                    </a:lnTo>
                    <a:lnTo>
                      <a:pt x="586435" y="58791"/>
                    </a:lnTo>
                    <a:lnTo>
                      <a:pt x="565805" y="28194"/>
                    </a:lnTo>
                    <a:lnTo>
                      <a:pt x="535208" y="7564"/>
                    </a:lnTo>
                    <a:lnTo>
                      <a:pt x="497739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4050">
                  <a:latin typeface="+mn-ea"/>
                </a:endParaRPr>
              </a:p>
            </p:txBody>
          </p:sp>
          <p:sp>
            <p:nvSpPr>
              <p:cNvPr id="48" name="object 3">
                <a:extLst>
                  <a:ext uri="{FF2B5EF4-FFF2-40B4-BE49-F238E27FC236}">
                    <a16:creationId xmlns:a16="http://schemas.microsoft.com/office/drawing/2014/main" id="{B36D8847-BB4D-3855-54A9-F1EEC9448546}"/>
                  </a:ext>
                </a:extLst>
              </p:cNvPr>
              <p:cNvSpPr txBox="1"/>
              <p:nvPr/>
            </p:nvSpPr>
            <p:spPr>
              <a:xfrm>
                <a:off x="591101" y="116573"/>
                <a:ext cx="1103171" cy="604416"/>
              </a:xfrm>
              <a:prstGeom prst="rect">
                <a:avLst/>
              </a:prstGeom>
            </p:spPr>
            <p:txBody>
              <a:bodyPr vert="horz" wrap="square" lIns="0" tIns="19050" rIns="0" bIns="0" anchor="t">
                <a:noAutofit/>
              </a:bodyPr>
              <a:lstStyle/>
              <a:p>
                <a:pPr marL="19050">
                  <a:lnSpc>
                    <a:spcPct val="100000"/>
                  </a:lnSpc>
                  <a:spcBef>
                    <a:spcPts val="150"/>
                  </a:spcBef>
                  <a:defRPr/>
                </a:pPr>
                <a:r>
                  <a:rPr lang="en-US" sz="44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5700" spc="203" dirty="0">
                    <a:solidFill>
                      <a:schemeClr val="bg1"/>
                    </a:solidFill>
                    <a:latin typeface="Calibri"/>
                    <a:cs typeface="Calibri"/>
                  </a:rPr>
                  <a:t>04</a:t>
                </a:r>
                <a:endParaRPr sz="570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379C3741-7C36-7352-CBD2-5EB58E8E7F27}"/>
                </a:ext>
              </a:extLst>
            </p:cNvPr>
            <p:cNvSpPr txBox="1"/>
            <p:nvPr/>
          </p:nvSpPr>
          <p:spPr>
            <a:xfrm>
              <a:off x="1583995" y="552299"/>
              <a:ext cx="11002946" cy="369332"/>
            </a:xfrm>
            <a:prstGeom prst="rect">
              <a:avLst/>
            </a:prstGeom>
            <a:noFill/>
          </p:spPr>
          <p:txBody>
            <a:bodyPr rot="0" vert="horz" wrap="square" lIns="60960" tIns="30480" rIns="60960" bIns="30480" anchor="t" anchorCtr="0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>
                <a:defRPr sz="2400" b="1" spc="155">
                  <a:latin typeface="Calibri"/>
                  <a:ea typeface="+mj-ea"/>
                  <a:cs typeface="Calibri"/>
                </a:defRPr>
              </a:lvl1pPr>
            </a:lstStyle>
            <a:p>
              <a:r>
                <a:rPr lang="en-US" altLang="ko-KR" dirty="0"/>
                <a:t>Conclusion</a:t>
              </a:r>
            </a:p>
          </p:txBody>
        </p:sp>
      </p:grpSp>
      <p:sp>
        <p:nvSpPr>
          <p:cNvPr id="50" name="TextBox 39">
            <a:extLst>
              <a:ext uri="{FF2B5EF4-FFF2-40B4-BE49-F238E27FC236}">
                <a16:creationId xmlns:a16="http://schemas.microsoft.com/office/drawing/2014/main" id="{16A0617E-4392-9985-6F68-4A7658B76005}"/>
              </a:ext>
            </a:extLst>
          </p:cNvPr>
          <p:cNvSpPr txBox="1"/>
          <p:nvPr/>
        </p:nvSpPr>
        <p:spPr>
          <a:xfrm>
            <a:off x="1120587" y="249092"/>
            <a:ext cx="3094226" cy="318100"/>
          </a:xfrm>
          <a:prstGeom prst="rect">
            <a:avLst/>
          </a:prstGeom>
          <a:noFill/>
        </p:spPr>
        <p:txBody>
          <a:bodyPr rot="0" vert="horz" wrap="square" lIns="60960" tIns="30480" rIns="60960" bIns="30480" anchor="t" anchorCtr="0">
            <a:prstTxWarp prst="textNoShape">
              <a:avLst/>
            </a:prstTxWarp>
            <a:spAutoFit/>
          </a:bodyPr>
          <a:lstStyle/>
          <a:p>
            <a:r>
              <a:rPr lang="it-IT" altLang="ko-KR" sz="1667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Conclusion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2F35771-83BC-4195-DE33-F8BED918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19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6AE1EB4-8F05-38D8-0545-09733AB1CC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7" name="바닥글 개체 틀 18">
            <a:extLst>
              <a:ext uri="{FF2B5EF4-FFF2-40B4-BE49-F238E27FC236}">
                <a16:creationId xmlns:a16="http://schemas.microsoft.com/office/drawing/2014/main" id="{C4184F2E-54FA-0F75-31B0-A9BE8086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16CB073-5F71-2BA3-8A19-0E835BAEAB34}"/>
              </a:ext>
            </a:extLst>
          </p:cNvPr>
          <p:cNvSpPr txBox="1"/>
          <p:nvPr/>
        </p:nvSpPr>
        <p:spPr>
          <a:xfrm>
            <a:off x="105813" y="1342530"/>
            <a:ext cx="12006072" cy="2714846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서로 다른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Hierarchy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직접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Fusion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할 때 발생할 수 있는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Misalignment 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문제를 지적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IHP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통해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Fusion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필요성을 다시 검토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하고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Detector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구조에 따라 효과가 달라질 수 있음을 확인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SNI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Fusion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과정의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Misalignment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완화하고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ESD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로 </a:t>
            </a: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Downsampling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과정의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Spatial Information Loss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줄임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통해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 일반 모델과 경량 모델의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Feature 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처리 효율을 개선</a:t>
            </a:r>
            <a:endParaRPr lang="en-US" altLang="ko-KR" sz="1800" b="1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최종적으로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SNI + ESD + </a:t>
            </a:r>
            <a:r>
              <a:rPr lang="en-US" altLang="ko-KR" sz="1800" b="1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GSConvE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결합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한 </a:t>
            </a:r>
            <a:r>
              <a:rPr lang="en-US" altLang="ko-KR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Secondary Features Alignment(SA)</a:t>
            </a:r>
            <a:r>
              <a:rPr lang="ko-KR" altLang="en-US" sz="1800" b="1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를 구성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하여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Real-time Detector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Calibri" panose="020F0502020204030204" pitchFamily="34" charset="0"/>
              </a:rPr>
              <a:t>의 성능을 향상</a:t>
            </a:r>
            <a:endParaRPr lang="en-US" altLang="ko-KR" sz="18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895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BF2337C6-DA4D-D468-C9B0-F7C79855D6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642" y="87139"/>
            <a:ext cx="11995841" cy="6683721"/>
          </a:xfrm>
          <a:custGeom>
            <a:avLst/>
            <a:gdLst/>
            <a:ahLst/>
            <a:cxnLst/>
            <a:rect l="l" t="t" r="r" b="b"/>
            <a:pathLst>
              <a:path w="11936730" h="6598284">
                <a:moveTo>
                  <a:pt x="11936626" y="0"/>
                </a:moveTo>
                <a:lnTo>
                  <a:pt x="0" y="0"/>
                </a:lnTo>
                <a:lnTo>
                  <a:pt x="0" y="6597907"/>
                </a:lnTo>
                <a:lnTo>
                  <a:pt x="11936626" y="6597907"/>
                </a:lnTo>
                <a:lnTo>
                  <a:pt x="119366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68900-D990-2AE1-7409-BA7EF230B54F}"/>
              </a:ext>
            </a:extLst>
          </p:cNvPr>
          <p:cNvSpPr txBox="1"/>
          <p:nvPr/>
        </p:nvSpPr>
        <p:spPr>
          <a:xfrm>
            <a:off x="1919287" y="2649367"/>
            <a:ext cx="7995201" cy="1089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6600" dirty="0">
                <a:solidFill>
                  <a:srgbClr val="215F9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ko-KR" altLang="en-US" sz="6600" dirty="0">
              <a:solidFill>
                <a:srgbClr val="215F9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727DB602-2F54-B967-A4DA-0B2819FCD9D2}"/>
              </a:ext>
            </a:extLst>
          </p:cNvPr>
          <p:cNvSpPr/>
          <p:nvPr/>
        </p:nvSpPr>
        <p:spPr>
          <a:xfrm>
            <a:off x="1735412" y="2650784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0E408A68-751E-F00A-D075-6BB8F6074889}"/>
              </a:ext>
            </a:extLst>
          </p:cNvPr>
          <p:cNvSpPr/>
          <p:nvPr/>
        </p:nvSpPr>
        <p:spPr>
          <a:xfrm rot="10800000">
            <a:off x="9402414" y="3194319"/>
            <a:ext cx="672550" cy="636758"/>
          </a:xfrm>
          <a:prstGeom prst="halfFrame">
            <a:avLst>
              <a:gd name="adj1" fmla="val 15738"/>
              <a:gd name="adj2" fmla="val 1794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BCFA8788-5F36-2A24-FEDA-36D92784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7DFBD41-43DB-4C66-9F92-A6F865112AA5}" type="slidenum">
              <a:rPr lang="ko-KR" altLang="en-US" smtClean="0"/>
              <a:pPr algn="ctr"/>
              <a:t>20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E4ECA7-6238-11D4-5493-0A3C21B296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919" y="6406476"/>
            <a:ext cx="1412525" cy="423873"/>
          </a:xfrm>
          <a:prstGeom prst="rect">
            <a:avLst/>
          </a:prstGeom>
          <a:noFill/>
        </p:spPr>
      </p:pic>
      <p:sp>
        <p:nvSpPr>
          <p:cNvPr id="4" name="바닥글 개체 틀 18">
            <a:extLst>
              <a:ext uri="{FF2B5EF4-FFF2-40B4-BE49-F238E27FC236}">
                <a16:creationId xmlns:a16="http://schemas.microsoft.com/office/drawing/2014/main" id="{AB9A1379-AA71-09DB-F0A8-00E1F50FB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406476"/>
            <a:ext cx="12006072" cy="386451"/>
          </a:xfrm>
        </p:spPr>
        <p:txBody>
          <a:bodyPr/>
          <a:lstStyle/>
          <a:p>
            <a:pPr lvl="0" algn="r">
              <a:defRPr/>
            </a:pP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AIFactoryLab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https://aifactory.skku.edu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0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1327</Words>
  <Application>Microsoft Office PowerPoint</Application>
  <PresentationFormat>와이드스크린</PresentationFormat>
  <Paragraphs>195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나눔스퀘어_ac Bold</vt:lpstr>
      <vt:lpstr>맑은 고딕</vt:lpstr>
      <vt:lpstr>Arial</vt:lpstr>
      <vt:lpstr>Calibri</vt:lpstr>
      <vt:lpstr>Microsoft Sans Serif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민지 박</cp:lastModifiedBy>
  <cp:revision>1</cp:revision>
  <dcterms:created xsi:type="dcterms:W3CDTF">2026-09-22T16:50:36Z</dcterms:created>
  <dcterms:modified xsi:type="dcterms:W3CDTF">2026-09-23T10:35:49Z</dcterms:modified>
  <cp:version/>
</cp:coreProperties>
</file>