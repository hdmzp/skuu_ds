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962" autoAdjust="0"/>
  </p:normalViewPr>
  <p:slideViewPr>
    <p:cSldViewPr snapToGrid="0">
      <p:cViewPr varScale="1">
        <p:scale>
          <a:sx n="50" d="100"/>
          <a:sy n="50" d="100"/>
        </p:scale>
        <p:origin x="16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08.19649v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dongjinkim9/IDF" TargetMode="External"/><Relationship Id="rId4" Type="http://schemas.openxmlformats.org/officeDocument/2006/relationships/hyperlink" Target="https://dongjinkim9.github.io/projects/idf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1">
            <a:extLst>
              <a:ext uri="{FF2B5EF4-FFF2-40B4-BE49-F238E27FC236}">
                <a16:creationId xmlns:a16="http://schemas.microsoft.com/office/drawing/2014/main" id="{9ABF56A6-4C4B-41CD-936D-9274F70B3CB7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5619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COMPUTER VISION 3주차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B9212914-4436-4469-BA0D-B5CD8916423A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58293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5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선형 필터와 </a:t>
            </a:r>
          </a:p>
          <a:p>
            <a:pPr>
              <a:buNone/>
              <a:defRPr sz="5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학습형 필터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465C2672-90F7-4AE4-924B-645951CE514D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552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IDF (반복 동적 필터링)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D870F75F-AE32-4B78-8514-A5A13B0A41F0}"/>
              </a:ext>
            </a:extLst>
          </p:cNvPr>
          <p:cNvSpPr>
            <a:spLocks noGrp="1"/>
          </p:cNvSpPr>
          <p:nvPr/>
        </p:nvSpPr>
        <p:spPr>
          <a:xfrm>
            <a:off x="400050" y="4024312"/>
            <a:ext cx="58293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강의의 가중 합 개념에서 출발한 논문 탐구</a:t>
            </a:r>
          </a:p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고정 스무딩의 경계 혼합 문제에 주목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06DA59CF-838F-4F60-95AD-3983E33A8FE6}"/>
              </a:ext>
            </a:extLst>
          </p:cNvPr>
          <p:cNvSpPr>
            <a:spLocks noGrp="1"/>
          </p:cNvSpPr>
          <p:nvPr/>
        </p:nvSpPr>
        <p:spPr>
          <a:xfrm>
            <a:off x="400050" y="3643313"/>
            <a:ext cx="5524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Kim et al., ICCV 2025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94F44F1C-B6C4-4BE3-9626-628FA9245788}"/>
              </a:ext>
            </a:extLst>
          </p:cNvPr>
          <p:cNvSpPr>
            <a:spLocks noGrp="1"/>
          </p:cNvSpPr>
          <p:nvPr/>
        </p:nvSpPr>
        <p:spPr>
          <a:xfrm>
            <a:off x="400050" y="4852986"/>
            <a:ext cx="552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김학성  | 컴퓨터 교육학과 </a:t>
            </a:r>
            <a:r>
              <a:rPr sz="165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| </a:t>
            </a:r>
            <a:r>
              <a: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2026711808</a:t>
            </a:r>
          </a:p>
        </p:txBody>
      </p:sp>
      <p:sp>
        <p:nvSpPr>
          <p:cNvPr id="7" name="region-7">
            <a:extLst>
              <a:ext uri="{FF2B5EF4-FFF2-40B4-BE49-F238E27FC236}">
                <a16:creationId xmlns:a16="http://schemas.microsoft.com/office/drawing/2014/main" id="{9AE536C9-6120-4F18-BEC5-34B542B90B2D}"/>
              </a:ext>
            </a:extLst>
          </p:cNvPr>
          <p:cNvSpPr>
            <a:spLocks noGrp="1"/>
          </p:cNvSpPr>
          <p:nvPr/>
        </p:nvSpPr>
        <p:spPr>
          <a:xfrm>
            <a:off x="6638925" y="1666874"/>
            <a:ext cx="5153025" cy="4105275"/>
          </a:xfrm>
          <a:prstGeom prst="rect">
            <a:avLst/>
          </a:prstGeom>
          <a:solidFill>
            <a:srgbClr val="EAF5F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45754018-430F-4926-A342-98679A7B87EE}"/>
              </a:ext>
            </a:extLst>
          </p:cNvPr>
          <p:cNvSpPr>
            <a:spLocks noGrp="1"/>
          </p:cNvSpPr>
          <p:nvPr/>
        </p:nvSpPr>
        <p:spPr>
          <a:xfrm>
            <a:off x="6877051" y="4648200"/>
            <a:ext cx="2152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가우시안 잡음 σ=50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86575" y="2419350"/>
            <a:ext cx="2171700" cy="217170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24975" y="2419350"/>
            <a:ext cx="2171700" cy="2171700"/>
          </a:xfrm>
          <a:prstGeom prst="rect">
            <a:avLst/>
          </a:prstGeom>
        </p:spPr>
      </p:pic>
      <p:sp>
        <p:nvSpPr>
          <p:cNvPr id="11" name="text-11">
            <a:extLst>
              <a:ext uri="{FF2B5EF4-FFF2-40B4-BE49-F238E27FC236}">
                <a16:creationId xmlns:a16="http://schemas.microsoft.com/office/drawing/2014/main" id="{785BBD61-713A-4FC7-B9D1-316FF9DDBDA7}"/>
              </a:ext>
            </a:extLst>
          </p:cNvPr>
          <p:cNvSpPr>
            <a:spLocks noGrp="1"/>
          </p:cNvSpPr>
          <p:nvPr/>
        </p:nvSpPr>
        <p:spPr>
          <a:xfrm>
            <a:off x="6877051" y="1924050"/>
            <a:ext cx="2171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입력 이미지</a:t>
            </a:r>
          </a:p>
        </p:txBody>
      </p:sp>
      <p:sp>
        <p:nvSpPr>
          <p:cNvPr id="12" name="text-12">
            <a:extLst>
              <a:ext uri="{FF2B5EF4-FFF2-40B4-BE49-F238E27FC236}">
                <a16:creationId xmlns:a16="http://schemas.microsoft.com/office/drawing/2014/main" id="{9611F4D1-BD9F-46C8-B9B8-EC60E0B46802}"/>
              </a:ext>
            </a:extLst>
          </p:cNvPr>
          <p:cNvSpPr>
            <a:spLocks noGrp="1"/>
          </p:cNvSpPr>
          <p:nvPr/>
        </p:nvSpPr>
        <p:spPr>
          <a:xfrm>
            <a:off x="9324975" y="1924050"/>
            <a:ext cx="2171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IDF 처리</a:t>
            </a:r>
          </a:p>
        </p:txBody>
      </p:sp>
      <p:sp>
        <p:nvSpPr>
          <p:cNvPr id="13" name="text-13">
            <a:extLst>
              <a:ext uri="{FF2B5EF4-FFF2-40B4-BE49-F238E27FC236}">
                <a16:creationId xmlns:a16="http://schemas.microsoft.com/office/drawing/2014/main" id="{93DC2BB9-DEDF-418F-B5A7-882CF9E2090A}"/>
              </a:ext>
            </a:extLst>
          </p:cNvPr>
          <p:cNvSpPr>
            <a:spLocks noGrp="1"/>
          </p:cNvSpPr>
          <p:nvPr/>
        </p:nvSpPr>
        <p:spPr>
          <a:xfrm>
            <a:off x="6886575" y="5372100"/>
            <a:ext cx="4619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논문 Fig.4의 같은 영역 확대</a:t>
            </a:r>
            <a:endParaRPr sz="1425" b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4" name="region-14">
            <a:extLst>
              <a:ext uri="{FF2B5EF4-FFF2-40B4-BE49-F238E27FC236}">
                <a16:creationId xmlns:a16="http://schemas.microsoft.com/office/drawing/2014/main" id="{736BD982-E603-42EB-8F63-6527EFD8F222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-15">
            <a:extLst>
              <a:ext uri="{FF2B5EF4-FFF2-40B4-BE49-F238E27FC236}">
                <a16:creationId xmlns:a16="http://schemas.microsoft.com/office/drawing/2014/main" id="{98E86B14-1ADC-4B88-956E-5A84F05CFBDB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0610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IDF: Iterative Dynamic Filtering Networks for Generalizable Image Denoising [P/A]</a:t>
            </a:r>
          </a:p>
        </p:txBody>
      </p:sp>
      <p:sp>
        <p:nvSpPr>
          <p:cNvPr id="16" name="text-16">
            <a:extLst>
              <a:ext uri="{FF2B5EF4-FFF2-40B4-BE49-F238E27FC236}">
                <a16:creationId xmlns:a16="http://schemas.microsoft.com/office/drawing/2014/main" id="{87B50008-4496-4156-9118-B9C2E9C0F665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7461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7">
            <a:extLst>
              <a:ext uri="{FF2B5EF4-FFF2-40B4-BE49-F238E27FC236}">
                <a16:creationId xmlns:a16="http://schemas.microsoft.com/office/drawing/2014/main" id="{E591C8AD-C55F-4726-AEED-8F72E487F334}"/>
              </a:ext>
            </a:extLst>
          </p:cNvPr>
          <p:cNvSpPr>
            <a:spLocks noGrp="1"/>
          </p:cNvSpPr>
          <p:nvPr/>
        </p:nvSpPr>
        <p:spPr>
          <a:xfrm>
            <a:off x="400050" y="352425"/>
            <a:ext cx="113919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선형 필터의 계산과 활용</a:t>
            </a:r>
          </a:p>
        </p:txBody>
      </p:sp>
      <p:sp>
        <p:nvSpPr>
          <p:cNvPr id="2" name="region-18">
            <a:extLst>
              <a:ext uri="{FF2B5EF4-FFF2-40B4-BE49-F238E27FC236}">
                <a16:creationId xmlns:a16="http://schemas.microsoft.com/office/drawing/2014/main" id="{F86397C2-B42E-474B-9A9B-8126BE1581BB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-20">
            <a:extLst>
              <a:ext uri="{FF2B5EF4-FFF2-40B4-BE49-F238E27FC236}">
                <a16:creationId xmlns:a16="http://schemas.microsoft.com/office/drawing/2014/main" id="{4FFE1056-E978-47E5-86C3-E34F0523BFD2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5" name="text-21">
            <a:extLst>
              <a:ext uri="{FF2B5EF4-FFF2-40B4-BE49-F238E27FC236}">
                <a16:creationId xmlns:a16="http://schemas.microsoft.com/office/drawing/2014/main" id="{03D07635-A7D3-4D71-BB7B-92870AD4D657}"/>
              </a:ext>
            </a:extLst>
          </p:cNvPr>
          <p:cNvSpPr>
            <a:spLocks noGrp="1"/>
          </p:cNvSpPr>
          <p:nvPr/>
        </p:nvSpPr>
        <p:spPr>
          <a:xfrm>
            <a:off x="400050" y="1724025"/>
            <a:ext cx="113919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8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8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y(p) = ∑ₛ h(s) x(p+s)</a:t>
            </a:r>
          </a:p>
        </p:txBody>
      </p:sp>
      <p:sp>
        <p:nvSpPr>
          <p:cNvPr id="6" name="text-22">
            <a:extLst>
              <a:ext uri="{FF2B5EF4-FFF2-40B4-BE49-F238E27FC236}">
                <a16:creationId xmlns:a16="http://schemas.microsoft.com/office/drawing/2014/main" id="{6EB5E0FB-E8C9-471B-86AA-A517803C2159}"/>
              </a:ext>
            </a:extLst>
          </p:cNvPr>
          <p:cNvSpPr>
            <a:spLocks noGrp="1"/>
          </p:cNvSpPr>
          <p:nvPr/>
        </p:nvSpPr>
        <p:spPr>
          <a:xfrm>
            <a:off x="400050" y="2619375"/>
            <a:ext cx="113919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x: 입력 이미지   y: 출력 이미지   h: 입력과 독립적인 가중치</a:t>
            </a:r>
          </a:p>
          <a:p>
            <a:pPr>
              <a:buNone/>
              <a:defRPr sz="18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p: 출력 위치   s: 이웃 픽셀의 상대 위치</a:t>
            </a:r>
          </a:p>
        </p:txBody>
      </p:sp>
      <p:sp>
        <p:nvSpPr>
          <p:cNvPr id="7" name="region-23">
            <a:extLst>
              <a:ext uri="{FF2B5EF4-FFF2-40B4-BE49-F238E27FC236}">
                <a16:creationId xmlns:a16="http://schemas.microsoft.com/office/drawing/2014/main" id="{30CE7202-8BC8-4FA1-B8F6-F6DC7D3CF55B}"/>
              </a:ext>
            </a:extLst>
          </p:cNvPr>
          <p:cNvSpPr>
            <a:spLocks noGrp="1"/>
          </p:cNvSpPr>
          <p:nvPr/>
        </p:nvSpPr>
        <p:spPr>
          <a:xfrm>
            <a:off x="400050" y="34956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-24">
            <a:extLst>
              <a:ext uri="{FF2B5EF4-FFF2-40B4-BE49-F238E27FC236}">
                <a16:creationId xmlns:a16="http://schemas.microsoft.com/office/drawing/2014/main" id="{B3BF7A27-4A54-419A-97C5-1F9E6CC24F1D}"/>
              </a:ext>
            </a:extLst>
          </p:cNvPr>
          <p:cNvSpPr>
            <a:spLocks noGrp="1"/>
          </p:cNvSpPr>
          <p:nvPr/>
        </p:nvSpPr>
        <p:spPr>
          <a:xfrm>
            <a:off x="400050" y="3762375"/>
            <a:ext cx="113919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6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활용 예: 가우시안 스무딩</a:t>
            </a:r>
          </a:p>
        </p:txBody>
      </p:sp>
      <p:sp>
        <p:nvSpPr>
          <p:cNvPr id="9" name="text-25">
            <a:extLst>
              <a:ext uri="{FF2B5EF4-FFF2-40B4-BE49-F238E27FC236}">
                <a16:creationId xmlns:a16="http://schemas.microsoft.com/office/drawing/2014/main" id="{0C87E24F-C051-4AEF-BBA1-311EEFA0ADC6}"/>
              </a:ext>
            </a:extLst>
          </p:cNvPr>
          <p:cNvSpPr>
            <a:spLocks noGrp="1"/>
          </p:cNvSpPr>
          <p:nvPr/>
        </p:nvSpPr>
        <p:spPr>
          <a:xfrm>
            <a:off x="400050" y="4391025"/>
            <a:ext cx="113919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가까운 픽셀에 더 큰 가중치를 주어 주변 값을 평균내고 잡음을 줄임</a:t>
            </a:r>
            <a:endParaRPr sz="2100" b="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0" name="region-26">
            <a:extLst>
              <a:ext uri="{FF2B5EF4-FFF2-40B4-BE49-F238E27FC236}">
                <a16:creationId xmlns:a16="http://schemas.microsoft.com/office/drawing/2014/main" id="{7220C4F9-C056-4952-AC0A-221E1B4C4E64}"/>
              </a:ext>
            </a:extLst>
          </p:cNvPr>
          <p:cNvSpPr>
            <a:spLocks noGrp="1"/>
          </p:cNvSpPr>
          <p:nvPr/>
        </p:nvSpPr>
        <p:spPr>
          <a:xfrm>
            <a:off x="400050" y="5353050"/>
            <a:ext cx="11391900" cy="695325"/>
          </a:xfrm>
          <a:prstGeom prst="rect">
            <a:avLst/>
          </a:prstGeom>
          <a:solidFill>
            <a:srgbClr val="EAF5F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-27">
            <a:extLst>
              <a:ext uri="{FF2B5EF4-FFF2-40B4-BE49-F238E27FC236}">
                <a16:creationId xmlns:a16="http://schemas.microsoft.com/office/drawing/2014/main" id="{7FD7B2F6-7A9E-48C6-8103-1CC292B9B7FE}"/>
              </a:ext>
            </a:extLst>
          </p:cNvPr>
          <p:cNvSpPr>
            <a:spLocks noGrp="1"/>
          </p:cNvSpPr>
          <p:nvPr/>
        </p:nvSpPr>
        <p:spPr>
          <a:xfrm>
            <a:off x="600075" y="5467350"/>
            <a:ext cx="110013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2175" b="1" dirty="0" err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가우시안</a:t>
            </a:r>
            <a:r>
              <a:rPr lang="ko-KR" altLang="en-US" sz="2175" b="1" dirty="0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2175" b="1" dirty="0" err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스무딩은</a:t>
            </a:r>
            <a:r>
              <a:rPr lang="ko-KR" altLang="en-US" sz="2175" b="1" dirty="0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 잡음을 줄이는 과정에서 물체의 경계까지 흐리게 만들 수 있음</a:t>
            </a:r>
            <a:endParaRPr sz="1700" b="1" dirty="0"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review-text-1">
            <a:extLst>
              <a:ext uri="{FF2B5EF4-FFF2-40B4-BE49-F238E27FC236}">
                <a16:creationId xmlns:a16="http://schemas.microsoft.com/office/drawing/2014/main" id="{5F0139F4-0978-4E16-BD17-F7B11E49DC1C}"/>
              </a:ext>
            </a:extLst>
          </p:cNvPr>
          <p:cNvSpPr>
            <a:spLocks noGrp="1"/>
          </p:cNvSpPr>
          <p:nvPr/>
        </p:nvSpPr>
        <p:spPr>
          <a:xfrm>
            <a:off x="400050" y="4886325"/>
            <a:ext cx="11391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입력과 독립적인 고정 가중치로 계산하므로 선형 연산</a:t>
            </a:r>
          </a:p>
        </p:txBody>
      </p:sp>
      <p:sp>
        <p:nvSpPr>
          <p:cNvPr id="14" name="idf-polish-1">
            <a:extLst>
              <a:ext uri="{FF2B5EF4-FFF2-40B4-BE49-F238E27FC236}">
                <a16:creationId xmlns:a16="http://schemas.microsoft.com/office/drawing/2014/main" id="{715C5AD9-6C21-4105-85A3-C25100C5AA75}"/>
              </a:ext>
            </a:extLst>
          </p:cNvPr>
          <p:cNvSpPr>
            <a:spLocks noGrp="1"/>
          </p:cNvSpPr>
          <p:nvPr/>
        </p:nvSpPr>
        <p:spPr>
          <a:xfrm>
            <a:off x="400050" y="63531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[L] 컴퓨터비전 3주차 Linear Filters. 입력과 독립적인 가중 합의 실수 연산으로 설명</a:t>
            </a:r>
          </a:p>
        </p:txBody>
      </p:sp>
    </p:spTree>
    <p:extLst>
      <p:ext uri="{BB962C8B-B14F-4D97-AF65-F5344CB8AC3E}">
        <p14:creationId xmlns:p14="http://schemas.microsoft.com/office/powerpoint/2010/main" val="54367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df-sequence-text-1">
            <a:extLst>
              <a:ext uri="{FF2B5EF4-FFF2-40B4-BE49-F238E27FC236}">
                <a16:creationId xmlns:a16="http://schemas.microsoft.com/office/drawing/2014/main" id="{1FBB86A5-FA5B-48C4-80F0-C755F4E9096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고정 필터와 IDF의 계산 방식</a:t>
            </a:r>
          </a:p>
        </p:txBody>
      </p:sp>
      <p:sp>
        <p:nvSpPr>
          <p:cNvPr id="2" name="idf-sequence-text-2">
            <a:extLst>
              <a:ext uri="{FF2B5EF4-FFF2-40B4-BE49-F238E27FC236}">
                <a16:creationId xmlns:a16="http://schemas.microsoft.com/office/drawing/2014/main" id="{59CCE731-7D71-4C0E-8F9F-11E16FEE301B}"/>
              </a:ext>
            </a:extLst>
          </p:cNvPr>
          <p:cNvSpPr>
            <a:spLocks noGrp="1"/>
          </p:cNvSpPr>
          <p:nvPr/>
        </p:nvSpPr>
        <p:spPr>
          <a:xfrm>
            <a:off x="400050" y="1543050"/>
            <a:ext cx="5476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가우시안 필터: 고정 가중치</a:t>
            </a:r>
          </a:p>
        </p:txBody>
      </p:sp>
      <p:sp>
        <p:nvSpPr>
          <p:cNvPr id="3" name="idf-sequence-text-3">
            <a:extLst>
              <a:ext uri="{FF2B5EF4-FFF2-40B4-BE49-F238E27FC236}">
                <a16:creationId xmlns:a16="http://schemas.microsoft.com/office/drawing/2014/main" id="{0A1A990F-7596-4CFB-871C-446C029E642F}"/>
              </a:ext>
            </a:extLst>
          </p:cNvPr>
          <p:cNvSpPr>
            <a:spLocks noGrp="1"/>
          </p:cNvSpPr>
          <p:nvPr/>
        </p:nvSpPr>
        <p:spPr>
          <a:xfrm>
            <a:off x="6276975" y="1543050"/>
            <a:ext cx="55149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IDF: 입력에 따라 예측한 가중치</a:t>
            </a:r>
          </a:p>
        </p:txBody>
      </p:sp>
      <p:sp>
        <p:nvSpPr>
          <p:cNvPr id="4" name="idf-sequence-region-4">
            <a:extLst>
              <a:ext uri="{FF2B5EF4-FFF2-40B4-BE49-F238E27FC236}">
                <a16:creationId xmlns:a16="http://schemas.microsoft.com/office/drawing/2014/main" id="{566C7F01-F2C3-4C18-84E6-8FA734C23400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5476875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idf-sequence-region-5">
            <a:extLst>
              <a:ext uri="{FF2B5EF4-FFF2-40B4-BE49-F238E27FC236}">
                <a16:creationId xmlns:a16="http://schemas.microsoft.com/office/drawing/2014/main" id="{273A2EA5-6C99-4FA2-8765-E223C1807CA5}"/>
              </a:ext>
            </a:extLst>
          </p:cNvPr>
          <p:cNvSpPr>
            <a:spLocks noGrp="1"/>
          </p:cNvSpPr>
          <p:nvPr/>
        </p:nvSpPr>
        <p:spPr>
          <a:xfrm>
            <a:off x="6276975" y="2143125"/>
            <a:ext cx="5514975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idf-sequence-text-6">
            <a:extLst>
              <a:ext uri="{FF2B5EF4-FFF2-40B4-BE49-F238E27FC236}">
                <a16:creationId xmlns:a16="http://schemas.microsoft.com/office/drawing/2014/main" id="{58E18E81-29CB-4C6D-9E2B-49C493A1C702}"/>
              </a:ext>
            </a:extLst>
          </p:cNvPr>
          <p:cNvSpPr>
            <a:spLocks noGrp="1"/>
          </p:cNvSpPr>
          <p:nvPr/>
        </p:nvSpPr>
        <p:spPr>
          <a:xfrm>
            <a:off x="400050" y="2524125"/>
            <a:ext cx="54768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y(p) = ∑ₛ h(s) x(p+s)</a:t>
            </a:r>
          </a:p>
        </p:txBody>
      </p:sp>
      <p:sp>
        <p:nvSpPr>
          <p:cNvPr id="7" name="idf-sequence-text-7">
            <a:extLst>
              <a:ext uri="{FF2B5EF4-FFF2-40B4-BE49-F238E27FC236}">
                <a16:creationId xmlns:a16="http://schemas.microsoft.com/office/drawing/2014/main" id="{87AA1683-07B0-4589-88A3-9911034D94CD}"/>
              </a:ext>
            </a:extLst>
          </p:cNvPr>
          <p:cNvSpPr>
            <a:spLocks noGrp="1"/>
          </p:cNvSpPr>
          <p:nvPr/>
        </p:nvSpPr>
        <p:spPr>
          <a:xfrm>
            <a:off x="6276975" y="2524125"/>
            <a:ext cx="55149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6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y(p) = ∑ₛ w(p,s;x) x(p+s)</a:t>
            </a:r>
          </a:p>
        </p:txBody>
      </p:sp>
      <p:sp>
        <p:nvSpPr>
          <p:cNvPr id="8" name="idf-sequence-text-8">
            <a:extLst>
              <a:ext uri="{FF2B5EF4-FFF2-40B4-BE49-F238E27FC236}">
                <a16:creationId xmlns:a16="http://schemas.microsoft.com/office/drawing/2014/main" id="{C8D1C3CC-1BF8-456F-BC3D-4FCC4749B022}"/>
              </a:ext>
            </a:extLst>
          </p:cNvPr>
          <p:cNvSpPr>
            <a:spLocks noGrp="1"/>
          </p:cNvSpPr>
          <p:nvPr/>
        </p:nvSpPr>
        <p:spPr>
          <a:xfrm>
            <a:off x="400050" y="3524250"/>
            <a:ext cx="5476875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설정한 h를 이미지 전체에 동일하게 적용</a:t>
            </a:r>
            <a:endParaRPr sz="2175" b="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입력과 독립적인 가중 합</a:t>
            </a:r>
          </a:p>
        </p:txBody>
      </p:sp>
      <p:sp>
        <p:nvSpPr>
          <p:cNvPr id="9" name="idf-sequence-text-9">
            <a:extLst>
              <a:ext uri="{FF2B5EF4-FFF2-40B4-BE49-F238E27FC236}">
                <a16:creationId xmlns:a16="http://schemas.microsoft.com/office/drawing/2014/main" id="{145EA6D4-66CD-42C5-8BD3-7D1799904612}"/>
              </a:ext>
            </a:extLst>
          </p:cNvPr>
          <p:cNvSpPr>
            <a:spLocks noGrp="1"/>
          </p:cNvSpPr>
          <p:nvPr/>
        </p:nvSpPr>
        <p:spPr>
          <a:xfrm>
            <a:off x="6276975" y="3524250"/>
            <a:ext cx="5514975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이미지 내용을 보고 w를 계산</a:t>
            </a:r>
          </a:p>
          <a:p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픽셀 위치마다 다른 비중으로 혼합</a:t>
            </a:r>
          </a:p>
        </p:txBody>
      </p:sp>
      <p:sp>
        <p:nvSpPr>
          <p:cNvPr id="10" name="idf-sequence-text-10">
            <a:extLst>
              <a:ext uri="{FF2B5EF4-FFF2-40B4-BE49-F238E27FC236}">
                <a16:creationId xmlns:a16="http://schemas.microsoft.com/office/drawing/2014/main" id="{7E9BA165-946F-4C54-B0BA-F5FFC35C8E58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5476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고정된 가중치로 계산하므로 선형</a:t>
            </a:r>
          </a:p>
        </p:txBody>
      </p:sp>
      <p:sp>
        <p:nvSpPr>
          <p:cNvPr id="11" name="idf-sequence-text-11">
            <a:extLst>
              <a:ext uri="{FF2B5EF4-FFF2-40B4-BE49-F238E27FC236}">
                <a16:creationId xmlns:a16="http://schemas.microsoft.com/office/drawing/2014/main" id="{F01EB7A9-101B-4320-9A74-C1B2A590D5C7}"/>
              </a:ext>
            </a:extLst>
          </p:cNvPr>
          <p:cNvSpPr>
            <a:spLocks noGrp="1"/>
          </p:cNvSpPr>
          <p:nvPr/>
        </p:nvSpPr>
        <p:spPr>
          <a:xfrm>
            <a:off x="6276975" y="4629150"/>
            <a:ext cx="5514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예측 과정까지 포함한 IDF 전체는 비선형</a:t>
            </a:r>
          </a:p>
        </p:txBody>
      </p:sp>
      <p:sp>
        <p:nvSpPr>
          <p:cNvPr id="12" name="idf-sequence-region-12">
            <a:extLst>
              <a:ext uri="{FF2B5EF4-FFF2-40B4-BE49-F238E27FC236}">
                <a16:creationId xmlns:a16="http://schemas.microsoft.com/office/drawing/2014/main" id="{4F279CF1-D796-437A-983B-6B1AD6866A88}"/>
              </a:ext>
            </a:extLst>
          </p:cNvPr>
          <p:cNvSpPr>
            <a:spLocks noGrp="1"/>
          </p:cNvSpPr>
          <p:nvPr/>
        </p:nvSpPr>
        <p:spPr>
          <a:xfrm>
            <a:off x="400050" y="5381625"/>
            <a:ext cx="11391900" cy="657225"/>
          </a:xfrm>
          <a:prstGeom prst="rect">
            <a:avLst/>
          </a:prstGeom>
          <a:solidFill>
            <a:srgbClr val="EAF5F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idf-sequence-text-13">
            <a:extLst>
              <a:ext uri="{FF2B5EF4-FFF2-40B4-BE49-F238E27FC236}">
                <a16:creationId xmlns:a16="http://schemas.microsoft.com/office/drawing/2014/main" id="{5AFB1E76-5793-4E04-A5B0-5C52633E420B}"/>
              </a:ext>
            </a:extLst>
          </p:cNvPr>
          <p:cNvSpPr>
            <a:spLocks noGrp="1"/>
          </p:cNvSpPr>
          <p:nvPr/>
        </p:nvSpPr>
        <p:spPr>
          <a:xfrm>
            <a:off x="600075" y="5514975"/>
            <a:ext cx="10991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두 방법 모두 가중 합을 사용하며, 가중치를 정하는 방식이 다름</a:t>
            </a:r>
          </a:p>
        </p:txBody>
      </p:sp>
      <p:sp>
        <p:nvSpPr>
          <p:cNvPr id="14" name="idf-sequence-region-14">
            <a:extLst>
              <a:ext uri="{FF2B5EF4-FFF2-40B4-BE49-F238E27FC236}">
                <a16:creationId xmlns:a16="http://schemas.microsoft.com/office/drawing/2014/main" id="{3AC6FE32-8719-4C45-890B-EE74AA00E68B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idf-sequence-text-15">
            <a:extLst>
              <a:ext uri="{FF2B5EF4-FFF2-40B4-BE49-F238E27FC236}">
                <a16:creationId xmlns:a16="http://schemas.microsoft.com/office/drawing/2014/main" id="{B7F04B78-75DF-4C31-B31D-9757FE13AE14}"/>
              </a:ext>
            </a:extLst>
          </p:cNvPr>
          <p:cNvSpPr>
            <a:spLocks noGrp="1"/>
          </p:cNvSpPr>
          <p:nvPr/>
        </p:nvSpPr>
        <p:spPr>
          <a:xfrm>
            <a:off x="400050" y="63531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[L] 선형 필터 / [P] §3. 한 단계의 계산을 단순화한 표현. IDF = Iterative Dynamic Filtering</a:t>
            </a:r>
          </a:p>
        </p:txBody>
      </p:sp>
      <p:sp>
        <p:nvSpPr>
          <p:cNvPr id="16" name="idf-sequence-text-16">
            <a:extLst>
              <a:ext uri="{FF2B5EF4-FFF2-40B4-BE49-F238E27FC236}">
                <a16:creationId xmlns:a16="http://schemas.microsoft.com/office/drawing/2014/main" id="{472099C7-AEEE-4127-BC9C-84C3E66517E6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532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df-sequence-text-17">
            <a:extLst>
              <a:ext uri="{FF2B5EF4-FFF2-40B4-BE49-F238E27FC236}">
                <a16:creationId xmlns:a16="http://schemas.microsoft.com/office/drawing/2014/main" id="{FF94FB23-9F70-419E-A012-2CAB7B0137A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고정 가중치와 동적 가중치의 계산 예시</a:t>
            </a:r>
          </a:p>
        </p:txBody>
      </p:sp>
      <p:sp>
        <p:nvSpPr>
          <p:cNvPr id="2" name="idf-sequence-text-18">
            <a:extLst>
              <a:ext uri="{FF2B5EF4-FFF2-40B4-BE49-F238E27FC236}">
                <a16:creationId xmlns:a16="http://schemas.microsoft.com/office/drawing/2014/main" id="{46CFC0F9-C6BD-4D1B-90C2-F3F1826FD4DE}"/>
              </a:ext>
            </a:extLst>
          </p:cNvPr>
          <p:cNvSpPr>
            <a:spLocks noGrp="1"/>
          </p:cNvSpPr>
          <p:nvPr/>
        </p:nvSpPr>
        <p:spPr>
          <a:xfrm>
            <a:off x="400050" y="1219200"/>
            <a:ext cx="11391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20와 22는 어두운 영역, 200은 경계 너머의 밝은 영역으로 가정</a:t>
            </a:r>
          </a:p>
        </p:txBody>
      </p:sp>
      <p:graphicFrame>
        <p:nvGraphicFramePr>
          <p:cNvPr id="19" name="표 16"/>
          <p:cNvGraphicFramePr/>
          <p:nvPr/>
        </p:nvGraphicFramePr>
        <p:xfrm>
          <a:off x="400050" y="1762125"/>
          <a:ext cx="11391900" cy="1828800"/>
        </p:xfrm>
        <a:graphic>
          <a:graphicData uri="http://schemas.openxmlformats.org/drawingml/2006/table">
            <a:tbl>
              <a:tblPr/>
              <a:tblGrid>
                <a:gridCol w="367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밝기</a:t>
                      </a:r>
                    </a:p>
                  </a:txBody>
                  <a:tcPr marL="114300" marR="114300" marT="85725" marB="85725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</a:t>
                      </a:r>
                    </a:p>
                  </a:txBody>
                  <a:tcPr marL="114300" marR="114300" marT="85725" marB="85725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D3323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22 (중심)</a:t>
                      </a:r>
                    </a:p>
                  </a:txBody>
                  <a:tcPr marL="114300" marR="114300" marT="85725" marB="85725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200</a:t>
                      </a:r>
                    </a:p>
                  </a:txBody>
                  <a:tcPr marL="114300" marR="114300" marT="85725" marB="85725" anchor="ctr">
                    <a:solidFill>
                      <a:srgbClr val="EA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고정 가중치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0.25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0.50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0.25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36CC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예시 동적 가중치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236CC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0.49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236CC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0.50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D3323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0.01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idf-sequence-text-19">
            <a:extLst>
              <a:ext uri="{FF2B5EF4-FFF2-40B4-BE49-F238E27FC236}">
                <a16:creationId xmlns:a16="http://schemas.microsoft.com/office/drawing/2014/main" id="{98E25B0C-0775-41BD-859F-5FF3E3680C46}"/>
              </a:ext>
            </a:extLst>
          </p:cNvPr>
          <p:cNvSpPr>
            <a:spLocks noGrp="1"/>
          </p:cNvSpPr>
          <p:nvPr/>
        </p:nvSpPr>
        <p:spPr>
          <a:xfrm>
            <a:off x="400050" y="3838575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고정 가중치</a:t>
            </a:r>
          </a:p>
        </p:txBody>
      </p:sp>
      <p:sp>
        <p:nvSpPr>
          <p:cNvPr id="5" name="idf-sequence-text-20">
            <a:extLst>
              <a:ext uri="{FF2B5EF4-FFF2-40B4-BE49-F238E27FC236}">
                <a16:creationId xmlns:a16="http://schemas.microsoft.com/office/drawing/2014/main" id="{48265FDF-197D-4390-85E3-6B160FA53ED2}"/>
              </a:ext>
            </a:extLst>
          </p:cNvPr>
          <p:cNvSpPr>
            <a:spLocks noGrp="1"/>
          </p:cNvSpPr>
          <p:nvPr/>
        </p:nvSpPr>
        <p:spPr>
          <a:xfrm>
            <a:off x="6276975" y="3838575"/>
            <a:ext cx="55149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예시 동적 가중치</a:t>
            </a:r>
          </a:p>
        </p:txBody>
      </p:sp>
      <p:sp>
        <p:nvSpPr>
          <p:cNvPr id="6" name="idf-sequence-text-21">
            <a:extLst>
              <a:ext uri="{FF2B5EF4-FFF2-40B4-BE49-F238E27FC236}">
                <a16:creationId xmlns:a16="http://schemas.microsoft.com/office/drawing/2014/main" id="{53449555-86B2-4AA4-91B8-72E818D06812}"/>
              </a:ext>
            </a:extLst>
          </p:cNvPr>
          <p:cNvSpPr>
            <a:spLocks noGrp="1"/>
          </p:cNvSpPr>
          <p:nvPr/>
        </p:nvSpPr>
        <p:spPr>
          <a:xfrm>
            <a:off x="400050" y="4257675"/>
            <a:ext cx="54768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0.25×20 + 0.50×22 + 0.25×200</a:t>
            </a:r>
          </a:p>
        </p:txBody>
      </p:sp>
      <p:sp>
        <p:nvSpPr>
          <p:cNvPr id="7" name="idf-sequence-text-22">
            <a:extLst>
              <a:ext uri="{FF2B5EF4-FFF2-40B4-BE49-F238E27FC236}">
                <a16:creationId xmlns:a16="http://schemas.microsoft.com/office/drawing/2014/main" id="{DD44FFDD-1876-4191-A078-6A5BC4A60292}"/>
              </a:ext>
            </a:extLst>
          </p:cNvPr>
          <p:cNvSpPr>
            <a:spLocks noGrp="1"/>
          </p:cNvSpPr>
          <p:nvPr/>
        </p:nvSpPr>
        <p:spPr>
          <a:xfrm>
            <a:off x="6276975" y="4257675"/>
            <a:ext cx="55149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0.49×20 + 0.50×22 + 0.01×200</a:t>
            </a:r>
          </a:p>
        </p:txBody>
      </p:sp>
      <p:sp>
        <p:nvSpPr>
          <p:cNvPr id="8" name="idf-sequence-text-23">
            <a:extLst>
              <a:ext uri="{FF2B5EF4-FFF2-40B4-BE49-F238E27FC236}">
                <a16:creationId xmlns:a16="http://schemas.microsoft.com/office/drawing/2014/main" id="{64E09502-8192-4D2B-97A9-91A6E493F47B}"/>
              </a:ext>
            </a:extLst>
          </p:cNvPr>
          <p:cNvSpPr>
            <a:spLocks noGrp="1"/>
          </p:cNvSpPr>
          <p:nvPr/>
        </p:nvSpPr>
        <p:spPr>
          <a:xfrm>
            <a:off x="400050" y="4733925"/>
            <a:ext cx="5476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9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9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출력 66</a:t>
            </a:r>
          </a:p>
        </p:txBody>
      </p:sp>
      <p:sp>
        <p:nvSpPr>
          <p:cNvPr id="9" name="idf-sequence-text-24">
            <a:extLst>
              <a:ext uri="{FF2B5EF4-FFF2-40B4-BE49-F238E27FC236}">
                <a16:creationId xmlns:a16="http://schemas.microsoft.com/office/drawing/2014/main" id="{3E86A49B-330C-40C1-B722-62A743E7E967}"/>
              </a:ext>
            </a:extLst>
          </p:cNvPr>
          <p:cNvSpPr>
            <a:spLocks noGrp="1"/>
          </p:cNvSpPr>
          <p:nvPr/>
        </p:nvSpPr>
        <p:spPr>
          <a:xfrm>
            <a:off x="6276975" y="4733925"/>
            <a:ext cx="55149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9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9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출력 22.8</a:t>
            </a:r>
          </a:p>
        </p:txBody>
      </p:sp>
      <p:sp>
        <p:nvSpPr>
          <p:cNvPr id="10" name="idf-sequence-region-25">
            <a:extLst>
              <a:ext uri="{FF2B5EF4-FFF2-40B4-BE49-F238E27FC236}">
                <a16:creationId xmlns:a16="http://schemas.microsoft.com/office/drawing/2014/main" id="{8D9C1D06-8B17-44A9-B051-7B38BF361E63}"/>
              </a:ext>
            </a:extLst>
          </p:cNvPr>
          <p:cNvSpPr>
            <a:spLocks noGrp="1"/>
          </p:cNvSpPr>
          <p:nvPr/>
        </p:nvSpPr>
        <p:spPr>
          <a:xfrm>
            <a:off x="400050" y="5419725"/>
            <a:ext cx="11391900" cy="657225"/>
          </a:xfrm>
          <a:prstGeom prst="rect">
            <a:avLst/>
          </a:prstGeom>
          <a:solidFill>
            <a:srgbClr val="EAF5F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idf-sequence-text-26">
            <a:extLst>
              <a:ext uri="{FF2B5EF4-FFF2-40B4-BE49-F238E27FC236}">
                <a16:creationId xmlns:a16="http://schemas.microsoft.com/office/drawing/2014/main" id="{51EA425C-8800-4FA8-BBE8-F803B5ADB179}"/>
              </a:ext>
            </a:extLst>
          </p:cNvPr>
          <p:cNvSpPr>
            <a:spLocks noGrp="1"/>
          </p:cNvSpPr>
          <p:nvPr/>
        </p:nvSpPr>
        <p:spPr>
          <a:xfrm>
            <a:off x="600075" y="5553075"/>
            <a:ext cx="10991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경계 너머 200의 비중을 낮추면, 그 이웃이 출력에 미치는 영향도 줄어듦</a:t>
            </a:r>
          </a:p>
        </p:txBody>
      </p:sp>
      <p:sp>
        <p:nvSpPr>
          <p:cNvPr id="12" name="idf-sequence-region-27">
            <a:extLst>
              <a:ext uri="{FF2B5EF4-FFF2-40B4-BE49-F238E27FC236}">
                <a16:creationId xmlns:a16="http://schemas.microsoft.com/office/drawing/2014/main" id="{863FC555-D6A9-4F77-B53D-7085DDDF714A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idf-sequence-text-29">
            <a:extLst>
              <a:ext uri="{FF2B5EF4-FFF2-40B4-BE49-F238E27FC236}">
                <a16:creationId xmlns:a16="http://schemas.microsoft.com/office/drawing/2014/main" id="{9224B83E-3626-4E51-BC7A-53F16D2D7B00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837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df-sequence-text-30">
            <a:extLst>
              <a:ext uri="{FF2B5EF4-FFF2-40B4-BE49-F238E27FC236}">
                <a16:creationId xmlns:a16="http://schemas.microsoft.com/office/drawing/2014/main" id="{C871AC9A-0AD3-4ED1-BABB-53A9CAA2539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가우시안 필터와 IDF의 이미지 비교</a:t>
            </a:r>
          </a:p>
        </p:txBody>
      </p:sp>
      <p:sp>
        <p:nvSpPr>
          <p:cNvPr id="2" name="idf-sequence-text-31">
            <a:extLst>
              <a:ext uri="{FF2B5EF4-FFF2-40B4-BE49-F238E27FC236}">
                <a16:creationId xmlns:a16="http://schemas.microsoft.com/office/drawing/2014/main" id="{C4B2F0B6-0D36-4F6A-BCB1-3095E9466A52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11391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구현한 프로그램에서 같은 원본 이미지에 적용한 처리 결과</a:t>
            </a:r>
          </a:p>
        </p:txBody>
      </p:sp>
      <p:sp>
        <p:nvSpPr>
          <p:cNvPr id="3" name="idf-sequence-text-32">
            <a:extLst>
              <a:ext uri="{FF2B5EF4-FFF2-40B4-BE49-F238E27FC236}">
                <a16:creationId xmlns:a16="http://schemas.microsoft.com/office/drawing/2014/main" id="{A1EC8B06-2DEF-4C62-8C94-7DE2E14D0626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54578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가우시안 필터 (σ = 2)</a:t>
            </a:r>
          </a:p>
        </p:txBody>
      </p:sp>
      <p:sp>
        <p:nvSpPr>
          <p:cNvPr id="4" name="idf-sequence-text-33">
            <a:extLst>
              <a:ext uri="{FF2B5EF4-FFF2-40B4-BE49-F238E27FC236}">
                <a16:creationId xmlns:a16="http://schemas.microsoft.com/office/drawing/2014/main" id="{A0B13963-65A4-4A34-8BCD-A1FEDC4CD1EE}"/>
              </a:ext>
            </a:extLst>
          </p:cNvPr>
          <p:cNvSpPr>
            <a:spLocks noGrp="1"/>
          </p:cNvSpPr>
          <p:nvPr/>
        </p:nvSpPr>
        <p:spPr>
          <a:xfrm>
            <a:off x="6334125" y="1676400"/>
            <a:ext cx="54578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IDF (10회 반복)</a:t>
            </a:r>
            <a:endParaRPr sz="2325" b="1">
              <a:solidFill>
                <a:srgbClr val="236CCB"/>
              </a:solidFill>
              <a:latin typeface="Noto Sans CJK KR"/>
              <a:ea typeface="Noto Sans CJK KR"/>
              <a:cs typeface="Noto Sans CJK KR"/>
            </a:endParaRPr>
          </a:p>
        </p:txBody>
      </p:sp>
      <p:pic>
        <p:nvPicPr>
          <p:cNvPr id="20" name="그림 15"/>
          <p:cNvPicPr>
            <a:picLocks noChangeAspect="1"/>
          </p:cNvPicPr>
          <p:nvPr/>
        </p:nvPicPr>
        <p:blipFill>
          <a:blip r:embed="rId3"/>
          <a:srcRect l="58788" t="52755" r="9434" b="17906"/>
          <a:stretch/>
        </p:blipFill>
        <p:spPr>
          <a:xfrm>
            <a:off x="624745" y="2200275"/>
            <a:ext cx="5008436" cy="3333750"/>
          </a:xfrm>
          <a:prstGeom prst="rect">
            <a:avLst/>
          </a:prstGeom>
        </p:spPr>
      </p:pic>
      <p:pic>
        <p:nvPicPr>
          <p:cNvPr id="21" name="그림 16"/>
          <p:cNvPicPr>
            <a:picLocks noChangeAspect="1"/>
          </p:cNvPicPr>
          <p:nvPr/>
        </p:nvPicPr>
        <p:blipFill>
          <a:blip r:embed="rId4"/>
          <a:srcRect l="58964" t="52740" r="9163" b="18082"/>
          <a:stretch/>
        </p:blipFill>
        <p:spPr>
          <a:xfrm>
            <a:off x="6558820" y="2200275"/>
            <a:ext cx="5008436" cy="3333750"/>
          </a:xfrm>
          <a:prstGeom prst="rect">
            <a:avLst/>
          </a:prstGeom>
        </p:spPr>
      </p:pic>
      <p:sp>
        <p:nvSpPr>
          <p:cNvPr id="7" name="idf-sequence-text-34">
            <a:extLst>
              <a:ext uri="{FF2B5EF4-FFF2-40B4-BE49-F238E27FC236}">
                <a16:creationId xmlns:a16="http://schemas.microsoft.com/office/drawing/2014/main" id="{E9AE8FD2-E067-4074-A3B8-D981430DBA06}"/>
              </a:ext>
            </a:extLst>
          </p:cNvPr>
          <p:cNvSpPr>
            <a:spLocks noGrp="1"/>
          </p:cNvSpPr>
          <p:nvPr/>
        </p:nvSpPr>
        <p:spPr>
          <a:xfrm>
            <a:off x="400050" y="5753100"/>
            <a:ext cx="54578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색 경계와 가는 선이 함께 흐려짐</a:t>
            </a:r>
          </a:p>
        </p:txBody>
      </p:sp>
      <p:sp>
        <p:nvSpPr>
          <p:cNvPr id="8" name="idf-sequence-text-35">
            <a:extLst>
              <a:ext uri="{FF2B5EF4-FFF2-40B4-BE49-F238E27FC236}">
                <a16:creationId xmlns:a16="http://schemas.microsoft.com/office/drawing/2014/main" id="{49319B24-6DA8-489C-9647-E37A4A222672}"/>
              </a:ext>
            </a:extLst>
          </p:cNvPr>
          <p:cNvSpPr>
            <a:spLocks noGrp="1"/>
          </p:cNvSpPr>
          <p:nvPr/>
        </p:nvSpPr>
        <p:spPr>
          <a:xfrm>
            <a:off x="6334125" y="5753100"/>
            <a:ext cx="54578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큰 색 경계는 남고 세부 무늬는 감소</a:t>
            </a:r>
            <a:endParaRPr sz="1800" b="1">
              <a:solidFill>
                <a:srgbClr val="236CC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9" name="idf-sequence-region-36">
            <a:extLst>
              <a:ext uri="{FF2B5EF4-FFF2-40B4-BE49-F238E27FC236}">
                <a16:creationId xmlns:a16="http://schemas.microsoft.com/office/drawing/2014/main" id="{8DE57038-B603-422F-A66A-725298514184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idf-sequence-text-38">
            <a:extLst>
              <a:ext uri="{FF2B5EF4-FFF2-40B4-BE49-F238E27FC236}">
                <a16:creationId xmlns:a16="http://schemas.microsoft.com/office/drawing/2014/main" id="{C5001213-2157-4569-B814-3CE4FF4FA5C6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1214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idf-polish-3">
            <a:extLst>
              <a:ext uri="{FF2B5EF4-FFF2-40B4-BE49-F238E27FC236}">
                <a16:creationId xmlns:a16="http://schemas.microsoft.com/office/drawing/2014/main" id="{4B6C5DC8-3083-4395-8375-02A07BA26F3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IDF의 전체 구조</a:t>
            </a:r>
          </a:p>
        </p:txBody>
      </p:sp>
      <p:sp>
        <p:nvSpPr>
          <p:cNvPr id="2" name="idf-polish-4">
            <a:extLst>
              <a:ext uri="{FF2B5EF4-FFF2-40B4-BE49-F238E27FC236}">
                <a16:creationId xmlns:a16="http://schemas.microsoft.com/office/drawing/2014/main" id="{010A7270-3421-474D-B11B-5975868E76DD}"/>
              </a:ext>
            </a:extLst>
          </p:cNvPr>
          <p:cNvSpPr>
            <a:spLocks noGrp="1"/>
          </p:cNvSpPr>
          <p:nvPr/>
        </p:nvSpPr>
        <p:spPr>
          <a:xfrm>
            <a:off x="400050" y="1162050"/>
            <a:ext cx="11391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IDF: Iterative Dynamic Filtering (반복 동적 필터링)</a:t>
            </a:r>
          </a:p>
        </p:txBody>
      </p:sp>
      <p:sp>
        <p:nvSpPr>
          <p:cNvPr id="3" name="idf-polish-5">
            <a:extLst>
              <a:ext uri="{FF2B5EF4-FFF2-40B4-BE49-F238E27FC236}">
                <a16:creationId xmlns:a16="http://schemas.microsoft.com/office/drawing/2014/main" id="{748D1291-29CF-4652-8F21-49AE4207D1DA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91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xₜ = </a:t>
            </a:r>
            <a:r>
              <a:rPr sz="39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W(xₜ₋₁, rₜ; θ)</a:t>
            </a:r>
            <a:r>
              <a:rPr sz="39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xₜ₋₁</a:t>
            </a:r>
          </a:p>
        </p:txBody>
      </p:sp>
      <p:sp>
        <p:nvSpPr>
          <p:cNvPr id="4" name="idf-polish-6">
            <a:extLst>
              <a:ext uri="{FF2B5EF4-FFF2-40B4-BE49-F238E27FC236}">
                <a16:creationId xmlns:a16="http://schemas.microsoft.com/office/drawing/2014/main" id="{BB8167FD-FB75-4C46-962D-6CBD8CF99DDB}"/>
              </a:ext>
            </a:extLst>
          </p:cNvPr>
          <p:cNvSpPr>
            <a:spLocks noGrp="1"/>
          </p:cNvSpPr>
          <p:nvPr/>
        </p:nvSpPr>
        <p:spPr>
          <a:xfrm>
            <a:off x="400050" y="2638425"/>
            <a:ext cx="11391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현재 이미지에서 필터를 예측하고, 그 필터로 주변 픽셀을 가중 합</a:t>
            </a:r>
          </a:p>
        </p:txBody>
      </p:sp>
      <p:sp>
        <p:nvSpPr>
          <p:cNvPr id="5" name="idf-polish-7">
            <a:extLst>
              <a:ext uri="{FF2B5EF4-FFF2-40B4-BE49-F238E27FC236}">
                <a16:creationId xmlns:a16="http://schemas.microsoft.com/office/drawing/2014/main" id="{8C233346-9BFA-4003-ACEF-51C4474B8D80}"/>
              </a:ext>
            </a:extLst>
          </p:cNvPr>
          <p:cNvSpPr>
            <a:spLocks noGrp="1"/>
          </p:cNvSpPr>
          <p:nvPr/>
        </p:nvSpPr>
        <p:spPr>
          <a:xfrm>
            <a:off x="400050" y="3305175"/>
            <a:ext cx="5572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θ  학습을 마친 신경망 파라미터</a:t>
            </a:r>
          </a:p>
        </p:txBody>
      </p:sp>
      <p:sp>
        <p:nvSpPr>
          <p:cNvPr id="6" name="idf-polish-8">
            <a:extLst>
              <a:ext uri="{FF2B5EF4-FFF2-40B4-BE49-F238E27FC236}">
                <a16:creationId xmlns:a16="http://schemas.microsoft.com/office/drawing/2014/main" id="{5766E381-B027-4B04-8DBC-BF5A10BA3CBD}"/>
              </a:ext>
            </a:extLst>
          </p:cNvPr>
          <p:cNvSpPr>
            <a:spLocks noGrp="1"/>
          </p:cNvSpPr>
          <p:nvPr/>
        </p:nvSpPr>
        <p:spPr>
          <a:xfrm>
            <a:off x="6248400" y="3305175"/>
            <a:ext cx="5543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Wₜ  t번째 단계에서 예측한 필터 가중치</a:t>
            </a:r>
          </a:p>
        </p:txBody>
      </p:sp>
      <p:sp>
        <p:nvSpPr>
          <p:cNvPr id="7" name="idf-polish-9">
            <a:extLst>
              <a:ext uri="{FF2B5EF4-FFF2-40B4-BE49-F238E27FC236}">
                <a16:creationId xmlns:a16="http://schemas.microsoft.com/office/drawing/2014/main" id="{5F66937A-6632-4B07-A749-3113C1F71BDD}"/>
              </a:ext>
            </a:extLst>
          </p:cNvPr>
          <p:cNvSpPr>
            <a:spLocks noGrp="1"/>
          </p:cNvSpPr>
          <p:nvPr/>
        </p:nvSpPr>
        <p:spPr>
          <a:xfrm>
            <a:off x="400050" y="3800475"/>
            <a:ext cx="11391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x₀는 잡음 입력 이미지, rₜ는 직전 단계의 이미지 변화, t는 반복 단계</a:t>
            </a:r>
          </a:p>
        </p:txBody>
      </p:sp>
      <p:sp>
        <p:nvSpPr>
          <p:cNvPr id="8" name="idf-polish-10">
            <a:extLst>
              <a:ext uri="{FF2B5EF4-FFF2-40B4-BE49-F238E27FC236}">
                <a16:creationId xmlns:a16="http://schemas.microsoft.com/office/drawing/2014/main" id="{BE3979F6-E432-4B6D-AC47-04FC61308170}"/>
              </a:ext>
            </a:extLst>
          </p:cNvPr>
          <p:cNvSpPr>
            <a:spLocks noGrp="1"/>
          </p:cNvSpPr>
          <p:nvPr/>
        </p:nvSpPr>
        <p:spPr>
          <a:xfrm>
            <a:off x="723900" y="4600575"/>
            <a:ext cx="1619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x₀</a:t>
            </a:r>
          </a:p>
        </p:txBody>
      </p:sp>
      <p:sp>
        <p:nvSpPr>
          <p:cNvPr id="9" name="idf-polish-11">
            <a:extLst>
              <a:ext uri="{FF2B5EF4-FFF2-40B4-BE49-F238E27FC236}">
                <a16:creationId xmlns:a16="http://schemas.microsoft.com/office/drawing/2014/main" id="{27806D3C-3B21-4987-AE2B-444B35210335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638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잡음 입력</a:t>
            </a:r>
          </a:p>
        </p:txBody>
      </p:sp>
      <p:sp>
        <p:nvSpPr>
          <p:cNvPr id="10" name="idf-polish-12">
            <a:extLst>
              <a:ext uri="{FF2B5EF4-FFF2-40B4-BE49-F238E27FC236}">
                <a16:creationId xmlns:a16="http://schemas.microsoft.com/office/drawing/2014/main" id="{F7EDB204-EF7B-4DD3-8599-D632F2B6CFCD}"/>
              </a:ext>
            </a:extLst>
          </p:cNvPr>
          <p:cNvSpPr>
            <a:spLocks noGrp="1"/>
          </p:cNvSpPr>
          <p:nvPr/>
        </p:nvSpPr>
        <p:spPr>
          <a:xfrm>
            <a:off x="3267075" y="4600575"/>
            <a:ext cx="1619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x₁</a:t>
            </a:r>
          </a:p>
        </p:txBody>
      </p:sp>
      <p:sp>
        <p:nvSpPr>
          <p:cNvPr id="11" name="idf-polish-13">
            <a:extLst>
              <a:ext uri="{FF2B5EF4-FFF2-40B4-BE49-F238E27FC236}">
                <a16:creationId xmlns:a16="http://schemas.microsoft.com/office/drawing/2014/main" id="{46BE2162-60EB-406B-A487-91DD745EFECD}"/>
              </a:ext>
            </a:extLst>
          </p:cNvPr>
          <p:cNvSpPr>
            <a:spLocks noGrp="1"/>
          </p:cNvSpPr>
          <p:nvPr/>
        </p:nvSpPr>
        <p:spPr>
          <a:xfrm>
            <a:off x="3267075" y="5191125"/>
            <a:ext cx="1638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1회 처리</a:t>
            </a:r>
          </a:p>
        </p:txBody>
      </p:sp>
      <p:sp>
        <p:nvSpPr>
          <p:cNvPr id="12" name="idf-polish-14">
            <a:extLst>
              <a:ext uri="{FF2B5EF4-FFF2-40B4-BE49-F238E27FC236}">
                <a16:creationId xmlns:a16="http://schemas.microsoft.com/office/drawing/2014/main" id="{F55BA93B-08FA-4976-8BEE-038CD22CA3E8}"/>
              </a:ext>
            </a:extLst>
          </p:cNvPr>
          <p:cNvSpPr>
            <a:spLocks noGrp="1"/>
          </p:cNvSpPr>
          <p:nvPr/>
        </p:nvSpPr>
        <p:spPr>
          <a:xfrm>
            <a:off x="5810250" y="4600575"/>
            <a:ext cx="1619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x₂</a:t>
            </a:r>
          </a:p>
        </p:txBody>
      </p:sp>
      <p:sp>
        <p:nvSpPr>
          <p:cNvPr id="13" name="idf-polish-15">
            <a:extLst>
              <a:ext uri="{FF2B5EF4-FFF2-40B4-BE49-F238E27FC236}">
                <a16:creationId xmlns:a16="http://schemas.microsoft.com/office/drawing/2014/main" id="{DF95E03B-1D7D-4AC8-8D00-28AE80A18EE4}"/>
              </a:ext>
            </a:extLst>
          </p:cNvPr>
          <p:cNvSpPr>
            <a:spLocks noGrp="1"/>
          </p:cNvSpPr>
          <p:nvPr/>
        </p:nvSpPr>
        <p:spPr>
          <a:xfrm>
            <a:off x="5810250" y="5191125"/>
            <a:ext cx="1638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2회 처리</a:t>
            </a:r>
          </a:p>
        </p:txBody>
      </p:sp>
      <p:sp>
        <p:nvSpPr>
          <p:cNvPr id="14" name="idf-polish-16">
            <a:extLst>
              <a:ext uri="{FF2B5EF4-FFF2-40B4-BE49-F238E27FC236}">
                <a16:creationId xmlns:a16="http://schemas.microsoft.com/office/drawing/2014/main" id="{888BEC93-1F10-444B-907B-8B96BD02F576}"/>
              </a:ext>
            </a:extLst>
          </p:cNvPr>
          <p:cNvSpPr>
            <a:spLocks noGrp="1"/>
          </p:cNvSpPr>
          <p:nvPr/>
        </p:nvSpPr>
        <p:spPr>
          <a:xfrm>
            <a:off x="10096500" y="4600575"/>
            <a:ext cx="1619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x₁₀</a:t>
            </a:r>
          </a:p>
        </p:txBody>
      </p:sp>
      <p:sp>
        <p:nvSpPr>
          <p:cNvPr id="15" name="idf-polish-17">
            <a:extLst>
              <a:ext uri="{FF2B5EF4-FFF2-40B4-BE49-F238E27FC236}">
                <a16:creationId xmlns:a16="http://schemas.microsoft.com/office/drawing/2014/main" id="{90B04EBF-F4C4-413F-929F-38988BE9D1A2}"/>
              </a:ext>
            </a:extLst>
          </p:cNvPr>
          <p:cNvSpPr>
            <a:spLocks noGrp="1"/>
          </p:cNvSpPr>
          <p:nvPr/>
        </p:nvSpPr>
        <p:spPr>
          <a:xfrm>
            <a:off x="10096500" y="5191125"/>
            <a:ext cx="1638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10회 처리</a:t>
            </a:r>
          </a:p>
        </p:txBody>
      </p:sp>
      <p:sp>
        <p:nvSpPr>
          <p:cNvPr id="16" name="idf-polish-18">
            <a:extLst>
              <a:ext uri="{FF2B5EF4-FFF2-40B4-BE49-F238E27FC236}">
                <a16:creationId xmlns:a16="http://schemas.microsoft.com/office/drawing/2014/main" id="{0D698ADA-155C-4312-9D55-DE4AEB3E4F5F}"/>
              </a:ext>
            </a:extLst>
          </p:cNvPr>
          <p:cNvSpPr>
            <a:spLocks noGrp="1"/>
          </p:cNvSpPr>
          <p:nvPr/>
        </p:nvSpPr>
        <p:spPr>
          <a:xfrm>
            <a:off x="8353425" y="4600575"/>
            <a:ext cx="7239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…</a:t>
            </a:r>
          </a:p>
        </p:txBody>
      </p:sp>
      <p:cxnSp>
        <p:nvCxnSpPr>
          <p:cNvPr id="44" name="직선 화살표 연결선 43"/>
          <p:cNvCxnSpPr>
            <a:stCxn id="8" idx="3"/>
            <a:endCxn id="10" idx="1"/>
          </p:cNvCxnSpPr>
          <p:nvPr/>
        </p:nvCxnSpPr>
        <p:spPr>
          <a:xfrm>
            <a:off x="2343150" y="4891088"/>
            <a:ext cx="923925" cy="0"/>
          </a:xfrm>
          <a:prstGeom prst="straightConnector1">
            <a:avLst/>
          </a:prstGeom>
          <a:ln w="19050">
            <a:solidFill>
              <a:srgbClr val="236CCB"/>
            </a:solidFill>
            <a:tailEnd type="triangle" w="med" len="med"/>
          </a:ln>
        </p:spPr>
      </p:cxnSp>
      <p:sp>
        <p:nvSpPr>
          <p:cNvPr id="18" name="idf-polish-19">
            <a:extLst>
              <a:ext uri="{FF2B5EF4-FFF2-40B4-BE49-F238E27FC236}">
                <a16:creationId xmlns:a16="http://schemas.microsoft.com/office/drawing/2014/main" id="{E60A999C-3CED-4898-BBB9-0AB666F89A7B}"/>
              </a:ext>
            </a:extLst>
          </p:cNvPr>
          <p:cNvSpPr>
            <a:spLocks noGrp="1"/>
          </p:cNvSpPr>
          <p:nvPr/>
        </p:nvSpPr>
        <p:spPr>
          <a:xfrm>
            <a:off x="2409825" y="4514850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W₁</a:t>
            </a:r>
          </a:p>
        </p:txBody>
      </p:sp>
      <p:cxnSp>
        <p:nvCxnSpPr>
          <p:cNvPr id="46" name="직선 화살표 연결선 45"/>
          <p:cNvCxnSpPr>
            <a:stCxn id="10" idx="3"/>
            <a:endCxn id="12" idx="1"/>
          </p:cNvCxnSpPr>
          <p:nvPr/>
        </p:nvCxnSpPr>
        <p:spPr>
          <a:xfrm>
            <a:off x="4886325" y="4891088"/>
            <a:ext cx="923925" cy="0"/>
          </a:xfrm>
          <a:prstGeom prst="straightConnector1">
            <a:avLst/>
          </a:prstGeom>
          <a:ln w="19050">
            <a:solidFill>
              <a:srgbClr val="236CCB"/>
            </a:solidFill>
            <a:tailEnd type="triangle" w="med" len="med"/>
          </a:ln>
        </p:spPr>
      </p:cxnSp>
      <p:sp>
        <p:nvSpPr>
          <p:cNvPr id="20" name="idf-polish-20">
            <a:extLst>
              <a:ext uri="{FF2B5EF4-FFF2-40B4-BE49-F238E27FC236}">
                <a16:creationId xmlns:a16="http://schemas.microsoft.com/office/drawing/2014/main" id="{88DB0101-8855-4513-8AAB-4FC028243A7B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W₂</a:t>
            </a:r>
          </a:p>
        </p:txBody>
      </p:sp>
      <p:cxnSp>
        <p:nvCxnSpPr>
          <p:cNvPr id="48" name="직선 화살표 연결선 47"/>
          <p:cNvCxnSpPr>
            <a:stCxn id="12" idx="3"/>
            <a:endCxn id="16" idx="1"/>
          </p:cNvCxnSpPr>
          <p:nvPr/>
        </p:nvCxnSpPr>
        <p:spPr>
          <a:xfrm>
            <a:off x="7429500" y="4891088"/>
            <a:ext cx="923925" cy="0"/>
          </a:xfrm>
          <a:prstGeom prst="straightConnector1">
            <a:avLst/>
          </a:prstGeom>
          <a:ln w="19050">
            <a:solidFill>
              <a:srgbClr val="236CCB"/>
            </a:solidFill>
            <a:tailEnd type="triangle" w="med" len="med"/>
          </a:ln>
        </p:spPr>
      </p:cxnSp>
      <p:cxnSp>
        <p:nvCxnSpPr>
          <p:cNvPr id="49" name="직선 화살표 연결선 48"/>
          <p:cNvCxnSpPr>
            <a:stCxn id="16" idx="3"/>
            <a:endCxn id="14" idx="1"/>
          </p:cNvCxnSpPr>
          <p:nvPr/>
        </p:nvCxnSpPr>
        <p:spPr>
          <a:xfrm>
            <a:off x="9077325" y="4891088"/>
            <a:ext cx="1019175" cy="0"/>
          </a:xfrm>
          <a:prstGeom prst="straightConnector1">
            <a:avLst/>
          </a:prstGeom>
          <a:ln w="19050">
            <a:solidFill>
              <a:srgbClr val="236CCB"/>
            </a:solidFill>
            <a:tailEnd type="triangle" w="med" len="med"/>
          </a:ln>
        </p:spPr>
      </p:cxnSp>
      <p:sp>
        <p:nvSpPr>
          <p:cNvPr id="23" name="idf-polish-21">
            <a:extLst>
              <a:ext uri="{FF2B5EF4-FFF2-40B4-BE49-F238E27FC236}">
                <a16:creationId xmlns:a16="http://schemas.microsoft.com/office/drawing/2014/main" id="{053ED7A9-F4EE-46EA-90C0-EFA5DD5228F6}"/>
              </a:ext>
            </a:extLst>
          </p:cNvPr>
          <p:cNvSpPr>
            <a:spLocks noGrp="1"/>
          </p:cNvSpPr>
          <p:nvPr/>
        </p:nvSpPr>
        <p:spPr>
          <a:xfrm>
            <a:off x="9239250" y="4514850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W₁₀</a:t>
            </a:r>
          </a:p>
        </p:txBody>
      </p:sp>
      <p:sp>
        <p:nvSpPr>
          <p:cNvPr id="24" name="idf-polish-22">
            <a:extLst>
              <a:ext uri="{FF2B5EF4-FFF2-40B4-BE49-F238E27FC236}">
                <a16:creationId xmlns:a16="http://schemas.microsoft.com/office/drawing/2014/main" id="{733C5598-B8A1-4D9A-9D1B-83C019BBD029}"/>
              </a:ext>
            </a:extLst>
          </p:cNvPr>
          <p:cNvSpPr>
            <a:spLocks noGrp="1"/>
          </p:cNvSpPr>
          <p:nvPr/>
        </p:nvSpPr>
        <p:spPr>
          <a:xfrm>
            <a:off x="400050" y="5743575"/>
            <a:ext cx="11391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모든 단계에서 같은 θ를 사용하며, Wₜ는 바뀐 입력에서 다시 계산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D39F03-EC64-473E-ABAF-2B5CAA74B0C7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idf-polish-23">
            <a:extLst>
              <a:ext uri="{FF2B5EF4-FFF2-40B4-BE49-F238E27FC236}">
                <a16:creationId xmlns:a16="http://schemas.microsoft.com/office/drawing/2014/main" id="{A8F2DF0F-A136-433E-8EDB-01D51C302086}"/>
              </a:ext>
            </a:extLst>
          </p:cNvPr>
          <p:cNvSpPr>
            <a:spLocks noGrp="1"/>
          </p:cNvSpPr>
          <p:nvPr/>
        </p:nvSpPr>
        <p:spPr>
          <a:xfrm>
            <a:off x="400050" y="63531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[P] Fig.2–3, §3. 원문 필터링을 행렬식으로 요약. 첫 단계에는 직전 변화 정보(GSM)를 생략</a:t>
            </a:r>
          </a:p>
        </p:txBody>
      </p:sp>
      <p:sp>
        <p:nvSpPr>
          <p:cNvPr id="27" name="idf-polish-24">
            <a:extLst>
              <a:ext uri="{FF2B5EF4-FFF2-40B4-BE49-F238E27FC236}">
                <a16:creationId xmlns:a16="http://schemas.microsoft.com/office/drawing/2014/main" id="{6A440E47-FFD1-40B7-A978-AF6D80C68279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160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df-sequence-text-58">
            <a:extLst>
              <a:ext uri="{FF2B5EF4-FFF2-40B4-BE49-F238E27FC236}">
                <a16:creationId xmlns:a16="http://schemas.microsoft.com/office/drawing/2014/main" id="{47D25C3D-7A7E-4DC4-8627-DD1F9F5041B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θ의 학습 과정</a:t>
            </a:r>
          </a:p>
        </p:txBody>
      </p:sp>
      <p:sp>
        <p:nvSpPr>
          <p:cNvPr id="2" name="idf-sequence-text-59">
            <a:extLst>
              <a:ext uri="{FF2B5EF4-FFF2-40B4-BE49-F238E27FC236}">
                <a16:creationId xmlns:a16="http://schemas.microsoft.com/office/drawing/2014/main" id="{9F81A2C0-16B0-4177-A62A-3A2B0F32ACE3}"/>
              </a:ext>
            </a:extLst>
          </p:cNvPr>
          <p:cNvSpPr>
            <a:spLocks noGrp="1"/>
          </p:cNvSpPr>
          <p:nvPr/>
        </p:nvSpPr>
        <p:spPr>
          <a:xfrm>
            <a:off x="400050" y="1266825"/>
            <a:ext cx="1139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θ는 필터를 예측하는 신경망 내부의 여러 파라미터</a:t>
            </a:r>
          </a:p>
        </p:txBody>
      </p:sp>
      <p:sp>
        <p:nvSpPr>
          <p:cNvPr id="3" name="idf-sequence-region-60">
            <a:extLst>
              <a:ext uri="{FF2B5EF4-FFF2-40B4-BE49-F238E27FC236}">
                <a16:creationId xmlns:a16="http://schemas.microsoft.com/office/drawing/2014/main" id="{71915698-F45D-4668-9154-F67364648802}"/>
              </a:ext>
            </a:extLst>
          </p:cNvPr>
          <p:cNvSpPr>
            <a:spLocks noGrp="1"/>
          </p:cNvSpPr>
          <p:nvPr/>
        </p:nvSpPr>
        <p:spPr>
          <a:xfrm>
            <a:off x="400050" y="2238375"/>
            <a:ext cx="25050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idf-sequence-text-61">
            <a:extLst>
              <a:ext uri="{FF2B5EF4-FFF2-40B4-BE49-F238E27FC236}">
                <a16:creationId xmlns:a16="http://schemas.microsoft.com/office/drawing/2014/main" id="{E510AB74-8EC1-472A-A4DC-8C7A3032F2DA}"/>
              </a:ext>
            </a:extLst>
          </p:cNvPr>
          <p:cNvSpPr>
            <a:spLocks noGrp="1"/>
          </p:cNvSpPr>
          <p:nvPr/>
        </p:nvSpPr>
        <p:spPr>
          <a:xfrm>
            <a:off x="533400" y="2390775"/>
            <a:ext cx="2238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1. 학습 데이터</a:t>
            </a:r>
          </a:p>
        </p:txBody>
      </p:sp>
      <p:sp>
        <p:nvSpPr>
          <p:cNvPr id="5" name="idf-sequence-text-62">
            <a:extLst>
              <a:ext uri="{FF2B5EF4-FFF2-40B4-BE49-F238E27FC236}">
                <a16:creationId xmlns:a16="http://schemas.microsoft.com/office/drawing/2014/main" id="{D125A483-C249-47E3-A50A-9DE89E1F0C20}"/>
              </a:ext>
            </a:extLst>
          </p:cNvPr>
          <p:cNvSpPr>
            <a:spLocks noGrp="1"/>
          </p:cNvSpPr>
          <p:nvPr/>
        </p:nvSpPr>
        <p:spPr>
          <a:xfrm>
            <a:off x="533400" y="2990850"/>
            <a:ext cx="223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원본에 잡음을 추가</a:t>
            </a:r>
          </a:p>
          <a:p>
            <a:pPr>
              <a:buNone/>
              <a:def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입력과 정답 쌍 준비</a:t>
            </a:r>
          </a:p>
        </p:txBody>
      </p:sp>
      <p:sp>
        <p:nvSpPr>
          <p:cNvPr id="6" name="idf-sequence-region-63">
            <a:extLst>
              <a:ext uri="{FF2B5EF4-FFF2-40B4-BE49-F238E27FC236}">
                <a16:creationId xmlns:a16="http://schemas.microsoft.com/office/drawing/2014/main" id="{F010501A-EF83-440F-95EF-DF7535C31343}"/>
              </a:ext>
            </a:extLst>
          </p:cNvPr>
          <p:cNvSpPr>
            <a:spLocks noGrp="1"/>
          </p:cNvSpPr>
          <p:nvPr/>
        </p:nvSpPr>
        <p:spPr>
          <a:xfrm>
            <a:off x="3362325" y="2238375"/>
            <a:ext cx="25050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idf-sequence-text-64">
            <a:extLst>
              <a:ext uri="{FF2B5EF4-FFF2-40B4-BE49-F238E27FC236}">
                <a16:creationId xmlns:a16="http://schemas.microsoft.com/office/drawing/2014/main" id="{E8FDF4B9-D658-4A9C-A08A-F6D7320E3815}"/>
              </a:ext>
            </a:extLst>
          </p:cNvPr>
          <p:cNvSpPr>
            <a:spLocks noGrp="1"/>
          </p:cNvSpPr>
          <p:nvPr/>
        </p:nvSpPr>
        <p:spPr>
          <a:xfrm>
            <a:off x="3495675" y="2390775"/>
            <a:ext cx="2238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2. 반복 복원</a:t>
            </a:r>
          </a:p>
        </p:txBody>
      </p:sp>
      <p:sp>
        <p:nvSpPr>
          <p:cNvPr id="8" name="idf-sequence-text-65">
            <a:extLst>
              <a:ext uri="{FF2B5EF4-FFF2-40B4-BE49-F238E27FC236}">
                <a16:creationId xmlns:a16="http://schemas.microsoft.com/office/drawing/2014/main" id="{F08AFC3B-DA01-41CE-B7CC-59CCFAF4EFE6}"/>
              </a:ext>
            </a:extLst>
          </p:cNvPr>
          <p:cNvSpPr>
            <a:spLocks noGrp="1"/>
          </p:cNvSpPr>
          <p:nvPr/>
        </p:nvSpPr>
        <p:spPr>
          <a:xfrm>
            <a:off x="3495675" y="2990850"/>
            <a:ext cx="223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현재 θ로 Wₜ 예측</a:t>
            </a:r>
          </a:p>
          <a:p>
            <a:pPr>
              <a:buNone/>
              <a:def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같은 θ로 10회 복원</a:t>
            </a:r>
          </a:p>
        </p:txBody>
      </p:sp>
      <p:sp>
        <p:nvSpPr>
          <p:cNvPr id="9" name="idf-sequence-region-66">
            <a:extLst>
              <a:ext uri="{FF2B5EF4-FFF2-40B4-BE49-F238E27FC236}">
                <a16:creationId xmlns:a16="http://schemas.microsoft.com/office/drawing/2014/main" id="{47692B1A-940D-4C00-909B-DF151B4A06EC}"/>
              </a:ext>
            </a:extLst>
          </p:cNvPr>
          <p:cNvSpPr>
            <a:spLocks noGrp="1"/>
          </p:cNvSpPr>
          <p:nvPr/>
        </p:nvSpPr>
        <p:spPr>
          <a:xfrm>
            <a:off x="6324600" y="2238375"/>
            <a:ext cx="25050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idf-sequence-text-67">
            <a:extLst>
              <a:ext uri="{FF2B5EF4-FFF2-40B4-BE49-F238E27FC236}">
                <a16:creationId xmlns:a16="http://schemas.microsoft.com/office/drawing/2014/main" id="{682D0EBA-073F-46A9-923D-4BC570FE951F}"/>
              </a:ext>
            </a:extLst>
          </p:cNvPr>
          <p:cNvSpPr>
            <a:spLocks noGrp="1"/>
          </p:cNvSpPr>
          <p:nvPr/>
        </p:nvSpPr>
        <p:spPr>
          <a:xfrm>
            <a:off x="6457950" y="2390775"/>
            <a:ext cx="2238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3. 오차 계산</a:t>
            </a:r>
          </a:p>
        </p:txBody>
      </p:sp>
      <p:sp>
        <p:nvSpPr>
          <p:cNvPr id="11" name="idf-sequence-text-68">
            <a:extLst>
              <a:ext uri="{FF2B5EF4-FFF2-40B4-BE49-F238E27FC236}">
                <a16:creationId xmlns:a16="http://schemas.microsoft.com/office/drawing/2014/main" id="{323E575C-92EF-4F0C-9662-A980DC78E5F7}"/>
              </a:ext>
            </a:extLst>
          </p:cNvPr>
          <p:cNvSpPr>
            <a:spLocks noGrp="1"/>
          </p:cNvSpPr>
          <p:nvPr/>
        </p:nvSpPr>
        <p:spPr>
          <a:xfrm>
            <a:off x="6457950" y="2876550"/>
            <a:ext cx="23717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최종 결과와 원본 비교</a:t>
            </a:r>
            <a:endParaRPr sz="1650" b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15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픽셀 차이의 절댓값</a:t>
            </a:r>
          </a:p>
          <a:p>
            <a:pPr>
              <a:buNone/>
              <a:defRPr sz="15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L1 손실 계산</a:t>
            </a:r>
          </a:p>
        </p:txBody>
      </p:sp>
      <p:sp>
        <p:nvSpPr>
          <p:cNvPr id="12" name="idf-sequence-region-69">
            <a:extLst>
              <a:ext uri="{FF2B5EF4-FFF2-40B4-BE49-F238E27FC236}">
                <a16:creationId xmlns:a16="http://schemas.microsoft.com/office/drawing/2014/main" id="{5F4D6C4D-AC0E-4A55-9B89-928043D39E14}"/>
              </a:ext>
            </a:extLst>
          </p:cNvPr>
          <p:cNvSpPr>
            <a:spLocks noGrp="1"/>
          </p:cNvSpPr>
          <p:nvPr/>
        </p:nvSpPr>
        <p:spPr>
          <a:xfrm>
            <a:off x="9286875" y="2238375"/>
            <a:ext cx="2505075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idf-sequence-text-70">
            <a:extLst>
              <a:ext uri="{FF2B5EF4-FFF2-40B4-BE49-F238E27FC236}">
                <a16:creationId xmlns:a16="http://schemas.microsoft.com/office/drawing/2014/main" id="{F49DCE50-5851-43F0-87E2-708D4ADC2D3C}"/>
              </a:ext>
            </a:extLst>
          </p:cNvPr>
          <p:cNvSpPr>
            <a:spLocks noGrp="1"/>
          </p:cNvSpPr>
          <p:nvPr/>
        </p:nvSpPr>
        <p:spPr>
          <a:xfrm>
            <a:off x="9420225" y="2390775"/>
            <a:ext cx="2238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4. θ 조정</a:t>
            </a:r>
          </a:p>
        </p:txBody>
      </p:sp>
      <p:sp>
        <p:nvSpPr>
          <p:cNvPr id="14" name="idf-sequence-text-71">
            <a:extLst>
              <a:ext uri="{FF2B5EF4-FFF2-40B4-BE49-F238E27FC236}">
                <a16:creationId xmlns:a16="http://schemas.microsoft.com/office/drawing/2014/main" id="{4BC7658A-97E3-4939-A125-22148BB2937E}"/>
              </a:ext>
            </a:extLst>
          </p:cNvPr>
          <p:cNvSpPr>
            <a:spLocks noGrp="1"/>
          </p:cNvSpPr>
          <p:nvPr/>
        </p:nvSpPr>
        <p:spPr>
          <a:xfrm>
            <a:off x="9420225" y="2990850"/>
            <a:ext cx="2238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역전파로 기울기 계산</a:t>
            </a:r>
          </a:p>
          <a:p>
            <a:pPr>
              <a:buNone/>
              <a:def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AdamW로 θ 조정</a:t>
            </a:r>
          </a:p>
        </p:txBody>
      </p:sp>
      <p:cxnSp>
        <p:nvCxnSpPr>
          <p:cNvPr id="56" name="직선 화살표 연결선 38"/>
          <p:cNvCxnSpPr>
            <a:stCxn id="3" idx="3"/>
            <a:endCxn id="6" idx="1"/>
          </p:cNvCxnSpPr>
          <p:nvPr/>
        </p:nvCxnSpPr>
        <p:spPr>
          <a:xfrm>
            <a:off x="2905125" y="3086100"/>
            <a:ext cx="457200" cy="0"/>
          </a:xfrm>
          <a:prstGeom prst="straightConnector1">
            <a:avLst/>
          </a:prstGeom>
          <a:ln w="19050">
            <a:solidFill>
              <a:srgbClr val="236CCB"/>
            </a:solidFill>
            <a:tailEnd type="triangle" w="med" len="med"/>
          </a:ln>
        </p:spPr>
      </p:cxnSp>
      <p:cxnSp>
        <p:nvCxnSpPr>
          <p:cNvPr id="57" name="직선 화살표 연결선 39"/>
          <p:cNvCxnSpPr>
            <a:stCxn id="6" idx="3"/>
            <a:endCxn id="9" idx="1"/>
          </p:cNvCxnSpPr>
          <p:nvPr/>
        </p:nvCxnSpPr>
        <p:spPr>
          <a:xfrm>
            <a:off x="5867400" y="3086100"/>
            <a:ext cx="457200" cy="0"/>
          </a:xfrm>
          <a:prstGeom prst="straightConnector1">
            <a:avLst/>
          </a:prstGeom>
          <a:ln w="19050">
            <a:solidFill>
              <a:srgbClr val="236CCB"/>
            </a:solidFill>
            <a:tailEnd type="triangle" w="med" len="med"/>
          </a:ln>
        </p:spPr>
      </p:cxnSp>
      <p:cxnSp>
        <p:nvCxnSpPr>
          <p:cNvPr id="58" name="직선 화살표 연결선 40"/>
          <p:cNvCxnSpPr>
            <a:stCxn id="9" idx="3"/>
            <a:endCxn id="12" idx="1"/>
          </p:cNvCxnSpPr>
          <p:nvPr/>
        </p:nvCxnSpPr>
        <p:spPr>
          <a:xfrm>
            <a:off x="8829675" y="3086100"/>
            <a:ext cx="457200" cy="0"/>
          </a:xfrm>
          <a:prstGeom prst="straightConnector1">
            <a:avLst/>
          </a:prstGeom>
          <a:ln w="19050">
            <a:solidFill>
              <a:srgbClr val="236CCB"/>
            </a:solidFill>
            <a:tailEnd type="triangle" w="med" len="med"/>
          </a:ln>
        </p:spPr>
      </p:cxnSp>
      <p:sp>
        <p:nvSpPr>
          <p:cNvPr id="18" name="idf-sequence-text-72">
            <a:extLst>
              <a:ext uri="{FF2B5EF4-FFF2-40B4-BE49-F238E27FC236}">
                <a16:creationId xmlns:a16="http://schemas.microsoft.com/office/drawing/2014/main" id="{C2419785-EF30-4B58-8894-9062EF05CFA3}"/>
              </a:ext>
            </a:extLst>
          </p:cNvPr>
          <p:cNvSpPr>
            <a:spLocks noGrp="1"/>
          </p:cNvSpPr>
          <p:nvPr/>
        </p:nvSpPr>
        <p:spPr>
          <a:xfrm>
            <a:off x="400050" y="4314825"/>
            <a:ext cx="11391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여러 학습 이미지에 이 과정을 반복하며 θ를 조정</a:t>
            </a:r>
          </a:p>
        </p:txBody>
      </p:sp>
      <p:sp>
        <p:nvSpPr>
          <p:cNvPr id="19" name="idf-sequence-text-73">
            <a:extLst>
              <a:ext uri="{FF2B5EF4-FFF2-40B4-BE49-F238E27FC236}">
                <a16:creationId xmlns:a16="http://schemas.microsoft.com/office/drawing/2014/main" id="{66CDA54D-6B82-4A85-93C2-5732ADD1899A}"/>
              </a:ext>
            </a:extLst>
          </p:cNvPr>
          <p:cNvSpPr>
            <a:spLocks noGrp="1"/>
          </p:cNvSpPr>
          <p:nvPr/>
        </p:nvSpPr>
        <p:spPr>
          <a:xfrm>
            <a:off x="400050" y="4886325"/>
            <a:ext cx="11391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학습을 마친 뒤에는 θ를 고정하고 새 이미지를 처리</a:t>
            </a:r>
          </a:p>
        </p:txBody>
      </p:sp>
      <p:sp>
        <p:nvSpPr>
          <p:cNvPr id="20" name="idf-sequence-region-74">
            <a:extLst>
              <a:ext uri="{FF2B5EF4-FFF2-40B4-BE49-F238E27FC236}">
                <a16:creationId xmlns:a16="http://schemas.microsoft.com/office/drawing/2014/main" id="{4B0B7C67-F422-42A5-BF3D-D604BDE1740B}"/>
              </a:ext>
            </a:extLst>
          </p:cNvPr>
          <p:cNvSpPr>
            <a:spLocks noGrp="1"/>
          </p:cNvSpPr>
          <p:nvPr/>
        </p:nvSpPr>
        <p:spPr>
          <a:xfrm>
            <a:off x="400050" y="5495925"/>
            <a:ext cx="11391900" cy="657225"/>
          </a:xfrm>
          <a:prstGeom prst="rect">
            <a:avLst/>
          </a:prstGeom>
          <a:solidFill>
            <a:srgbClr val="EAF5F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idf-sequence-text-75">
            <a:extLst>
              <a:ext uri="{FF2B5EF4-FFF2-40B4-BE49-F238E27FC236}">
                <a16:creationId xmlns:a16="http://schemas.microsoft.com/office/drawing/2014/main" id="{1C0D292D-5138-4137-A221-B239C2BA1612}"/>
              </a:ext>
            </a:extLst>
          </p:cNvPr>
          <p:cNvSpPr>
            <a:spLocks noGrp="1"/>
          </p:cNvSpPr>
          <p:nvPr/>
        </p:nvSpPr>
        <p:spPr>
          <a:xfrm>
            <a:off x="600075" y="5629275"/>
            <a:ext cx="10991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정답 W를 지정하지 않고, 복원 결과의 오차로 θ를 학습</a:t>
            </a:r>
          </a:p>
        </p:txBody>
      </p:sp>
      <p:sp>
        <p:nvSpPr>
          <p:cNvPr id="22" name="idf-sequence-region-76">
            <a:extLst>
              <a:ext uri="{FF2B5EF4-FFF2-40B4-BE49-F238E27FC236}">
                <a16:creationId xmlns:a16="http://schemas.microsoft.com/office/drawing/2014/main" id="{8D1107CB-A69D-4ABD-B973-923CEBE5F9CC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idf-sequence-text-77">
            <a:extLst>
              <a:ext uri="{FF2B5EF4-FFF2-40B4-BE49-F238E27FC236}">
                <a16:creationId xmlns:a16="http://schemas.microsoft.com/office/drawing/2014/main" id="{B48DF669-DAD8-444D-9B01-93C8356D1BB8}"/>
              </a:ext>
            </a:extLst>
          </p:cNvPr>
          <p:cNvSpPr>
            <a:spLocks noGrp="1"/>
          </p:cNvSpPr>
          <p:nvPr/>
        </p:nvSpPr>
        <p:spPr>
          <a:xfrm>
            <a:off x="400050" y="63531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[P] Fig.2(a), §4.1. CBSD432 + Gaussian σ=15, L1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손실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AdamW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. </a:t>
            </a:r>
          </a:p>
        </p:txBody>
      </p:sp>
      <p:sp>
        <p:nvSpPr>
          <p:cNvPr id="24" name="idf-sequence-text-78">
            <a:extLst>
              <a:ext uri="{FF2B5EF4-FFF2-40B4-BE49-F238E27FC236}">
                <a16:creationId xmlns:a16="http://schemas.microsoft.com/office/drawing/2014/main" id="{0B5C6983-49E4-47BE-8902-4751A8B01151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416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df-sequence-text-79">
            <a:extLst>
              <a:ext uri="{FF2B5EF4-FFF2-40B4-BE49-F238E27FC236}">
                <a16:creationId xmlns:a16="http://schemas.microsoft.com/office/drawing/2014/main" id="{23B0F105-6D5A-4BE9-9F36-040E3CD6305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Wₜ의 계산 과정</a:t>
            </a:r>
          </a:p>
        </p:txBody>
      </p:sp>
      <p:sp>
        <p:nvSpPr>
          <p:cNvPr id="2" name="idf-sequence-text-80">
            <a:extLst>
              <a:ext uri="{FF2B5EF4-FFF2-40B4-BE49-F238E27FC236}">
                <a16:creationId xmlns:a16="http://schemas.microsoft.com/office/drawing/2014/main" id="{479AC404-A901-481F-9387-20E6DD79B0C8}"/>
              </a:ext>
            </a:extLst>
          </p:cNvPr>
          <p:cNvSpPr>
            <a:spLocks noGrp="1"/>
          </p:cNvSpPr>
          <p:nvPr/>
        </p:nvSpPr>
        <p:spPr>
          <a:xfrm>
            <a:off x="400050" y="1247775"/>
            <a:ext cx="11391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학습된 θ로 이미지의 단서를 계산해 위치별 가중치 Wₜ를 예측</a:t>
            </a:r>
            <a:endParaRPr sz="2100" b="1">
              <a:solidFill>
                <a:srgbClr val="236CC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idf-sequence-region-81">
            <a:extLst>
              <a:ext uri="{FF2B5EF4-FFF2-40B4-BE49-F238E27FC236}">
                <a16:creationId xmlns:a16="http://schemas.microsoft.com/office/drawing/2014/main" id="{9C3175CC-45C2-4FCB-81D4-EDDDC4F104CC}"/>
              </a:ext>
            </a:extLst>
          </p:cNvPr>
          <p:cNvSpPr>
            <a:spLocks noGrp="1"/>
          </p:cNvSpPr>
          <p:nvPr/>
        </p:nvSpPr>
        <p:spPr>
          <a:xfrm>
            <a:off x="400050" y="2114550"/>
            <a:ext cx="3943350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idf-sequence-region-82">
            <a:extLst>
              <a:ext uri="{FF2B5EF4-FFF2-40B4-BE49-F238E27FC236}">
                <a16:creationId xmlns:a16="http://schemas.microsoft.com/office/drawing/2014/main" id="{DA73DA66-488C-49E8-86ED-6B52EE062ED1}"/>
              </a:ext>
            </a:extLst>
          </p:cNvPr>
          <p:cNvSpPr>
            <a:spLocks noGrp="1"/>
          </p:cNvSpPr>
          <p:nvPr/>
        </p:nvSpPr>
        <p:spPr>
          <a:xfrm>
            <a:off x="4819650" y="2114550"/>
            <a:ext cx="3095625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idf-sequence-region-83">
            <a:extLst>
              <a:ext uri="{FF2B5EF4-FFF2-40B4-BE49-F238E27FC236}">
                <a16:creationId xmlns:a16="http://schemas.microsoft.com/office/drawing/2014/main" id="{2C13ED73-BA87-4F9E-94FD-9D47026CD28F}"/>
              </a:ext>
            </a:extLst>
          </p:cNvPr>
          <p:cNvSpPr>
            <a:spLocks noGrp="1"/>
          </p:cNvSpPr>
          <p:nvPr/>
        </p:nvSpPr>
        <p:spPr>
          <a:xfrm>
            <a:off x="8391525" y="2114550"/>
            <a:ext cx="3400425" cy="2876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idf-sequence-text-84">
            <a:extLst>
              <a:ext uri="{FF2B5EF4-FFF2-40B4-BE49-F238E27FC236}">
                <a16:creationId xmlns:a16="http://schemas.microsoft.com/office/drawing/2014/main" id="{9ED80A07-CA60-4503-8AF1-52CB16AC74A0}"/>
              </a:ext>
            </a:extLst>
          </p:cNvPr>
          <p:cNvSpPr>
            <a:spLocks noGrp="1"/>
          </p:cNvSpPr>
          <p:nvPr/>
        </p:nvSpPr>
        <p:spPr>
          <a:xfrm>
            <a:off x="552450" y="2295525"/>
            <a:ext cx="36385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이미지에서 얻는 단서</a:t>
            </a:r>
          </a:p>
        </p:txBody>
      </p:sp>
      <p:sp>
        <p:nvSpPr>
          <p:cNvPr id="7" name="idf-sequence-text-85">
            <a:extLst>
              <a:ext uri="{FF2B5EF4-FFF2-40B4-BE49-F238E27FC236}">
                <a16:creationId xmlns:a16="http://schemas.microsoft.com/office/drawing/2014/main" id="{68D28C2C-98E0-48CF-9465-2D4664337675}"/>
              </a:ext>
            </a:extLst>
          </p:cNvPr>
          <p:cNvSpPr>
            <a:spLocks noGrp="1"/>
          </p:cNvSpPr>
          <p:nvPr/>
        </p:nvSpPr>
        <p:spPr>
          <a:xfrm>
            <a:off x="552450" y="2924175"/>
            <a:ext cx="3638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이미지의 패턴과 구조 (FEM)</a:t>
            </a:r>
          </a:p>
        </p:txBody>
      </p:sp>
      <p:sp>
        <p:nvSpPr>
          <p:cNvPr id="8" name="idf-sequence-text-86">
            <a:extLst>
              <a:ext uri="{FF2B5EF4-FFF2-40B4-BE49-F238E27FC236}">
                <a16:creationId xmlns:a16="http://schemas.microsoft.com/office/drawing/2014/main" id="{FCAE6635-8BCA-43A7-92EF-45CC9344DE9A}"/>
              </a:ext>
            </a:extLst>
          </p:cNvPr>
          <p:cNvSpPr>
            <a:spLocks noGrp="1"/>
          </p:cNvSpPr>
          <p:nvPr/>
        </p:nvSpPr>
        <p:spPr>
          <a:xfrm>
            <a:off x="552450" y="3505200"/>
            <a:ext cx="3638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중심 픽셀과 이웃의 유사성 (LCM)</a:t>
            </a:r>
          </a:p>
        </p:txBody>
      </p:sp>
      <p:sp>
        <p:nvSpPr>
          <p:cNvPr id="9" name="idf-sequence-text-87">
            <a:extLst>
              <a:ext uri="{FF2B5EF4-FFF2-40B4-BE49-F238E27FC236}">
                <a16:creationId xmlns:a16="http://schemas.microsoft.com/office/drawing/2014/main" id="{8A16E5CA-8F9E-4900-8363-8510EA58261F}"/>
              </a:ext>
            </a:extLst>
          </p:cNvPr>
          <p:cNvSpPr>
            <a:spLocks noGrp="1"/>
          </p:cNvSpPr>
          <p:nvPr/>
        </p:nvSpPr>
        <p:spPr>
          <a:xfrm>
            <a:off x="552450" y="4086225"/>
            <a:ext cx="36385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직전 단계의 변화량 (GSM)</a:t>
            </a:r>
          </a:p>
        </p:txBody>
      </p:sp>
      <p:sp>
        <p:nvSpPr>
          <p:cNvPr id="10" name="idf-sequence-text-88">
            <a:extLst>
              <a:ext uri="{FF2B5EF4-FFF2-40B4-BE49-F238E27FC236}">
                <a16:creationId xmlns:a16="http://schemas.microsoft.com/office/drawing/2014/main" id="{86603F66-A1F6-4646-BB42-A94D3F2E4C2F}"/>
              </a:ext>
            </a:extLst>
          </p:cNvPr>
          <p:cNvSpPr>
            <a:spLocks noGrp="1"/>
          </p:cNvSpPr>
          <p:nvPr/>
        </p:nvSpPr>
        <p:spPr>
          <a:xfrm>
            <a:off x="552450" y="4514850"/>
            <a:ext cx="3638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직전 이미지 변화의 평균과 표준편차</a:t>
            </a:r>
          </a:p>
        </p:txBody>
      </p:sp>
      <p:sp>
        <p:nvSpPr>
          <p:cNvPr id="11" name="idf-sequence-text-89">
            <a:extLst>
              <a:ext uri="{FF2B5EF4-FFF2-40B4-BE49-F238E27FC236}">
                <a16:creationId xmlns:a16="http://schemas.microsoft.com/office/drawing/2014/main" id="{40D3597C-6B0E-4C1F-BACE-0394448886FF}"/>
              </a:ext>
            </a:extLst>
          </p:cNvPr>
          <p:cNvSpPr>
            <a:spLocks noGrp="1"/>
          </p:cNvSpPr>
          <p:nvPr/>
        </p:nvSpPr>
        <p:spPr>
          <a:xfrm>
            <a:off x="4981575" y="2295525"/>
            <a:ext cx="27717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학습된 θ로 예측</a:t>
            </a:r>
          </a:p>
        </p:txBody>
      </p:sp>
      <p:sp>
        <p:nvSpPr>
          <p:cNvPr id="12" name="idf-sequence-text-90">
            <a:extLst>
              <a:ext uri="{FF2B5EF4-FFF2-40B4-BE49-F238E27FC236}">
                <a16:creationId xmlns:a16="http://schemas.microsoft.com/office/drawing/2014/main" id="{BA1F8D88-D153-4097-858B-E62CC3FDF225}"/>
              </a:ext>
            </a:extLst>
          </p:cNvPr>
          <p:cNvSpPr>
            <a:spLocks noGrp="1"/>
          </p:cNvSpPr>
          <p:nvPr/>
        </p:nvSpPr>
        <p:spPr>
          <a:xfrm>
            <a:off x="4981575" y="3076575"/>
            <a:ext cx="27717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단서를 결합한</a:t>
            </a:r>
            <a:endParaRPr sz="2025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20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합성곱 연산으로 계산</a:t>
            </a:r>
          </a:p>
        </p:txBody>
      </p:sp>
      <p:sp>
        <p:nvSpPr>
          <p:cNvPr id="13" name="idf-sequence-text-91">
            <a:extLst>
              <a:ext uri="{FF2B5EF4-FFF2-40B4-BE49-F238E27FC236}">
                <a16:creationId xmlns:a16="http://schemas.microsoft.com/office/drawing/2014/main" id="{A3E2245A-A3F2-4CE0-BE5E-B6F06911B09F}"/>
              </a:ext>
            </a:extLst>
          </p:cNvPr>
          <p:cNvSpPr>
            <a:spLocks noGrp="1"/>
          </p:cNvSpPr>
          <p:nvPr/>
        </p:nvSpPr>
        <p:spPr>
          <a:xfrm>
            <a:off x="4981575" y="4333875"/>
            <a:ext cx="2933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위치별 가중치 후보값</a:t>
            </a:r>
            <a:endParaRPr sz="1875" b="1">
              <a:solidFill>
                <a:srgbClr val="0070C0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예측 (KPM)</a:t>
            </a:r>
            <a:endParaRPr sz="1875" b="1">
              <a:solidFill>
                <a:srgbClr val="0070C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4" name="idf-sequence-text-92">
            <a:extLst>
              <a:ext uri="{FF2B5EF4-FFF2-40B4-BE49-F238E27FC236}">
                <a16:creationId xmlns:a16="http://schemas.microsoft.com/office/drawing/2014/main" id="{559CA187-7F0C-4A9A-A56E-0513C413E65F}"/>
              </a:ext>
            </a:extLst>
          </p:cNvPr>
          <p:cNvSpPr>
            <a:spLocks noGrp="1"/>
          </p:cNvSpPr>
          <p:nvPr/>
        </p:nvSpPr>
        <p:spPr>
          <a:xfrm>
            <a:off x="8562975" y="2295525"/>
            <a:ext cx="30575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가중치 정규화</a:t>
            </a:r>
          </a:p>
        </p:txBody>
      </p:sp>
      <p:sp>
        <p:nvSpPr>
          <p:cNvPr id="15" name="idf-sequence-text-93">
            <a:extLst>
              <a:ext uri="{FF2B5EF4-FFF2-40B4-BE49-F238E27FC236}">
                <a16:creationId xmlns:a16="http://schemas.microsoft.com/office/drawing/2014/main" id="{D0350445-4D89-4DF8-AF01-D1DE01A317E2}"/>
              </a:ext>
            </a:extLst>
          </p:cNvPr>
          <p:cNvSpPr>
            <a:spLocks noGrp="1"/>
          </p:cNvSpPr>
          <p:nvPr/>
        </p:nvSpPr>
        <p:spPr>
          <a:xfrm>
            <a:off x="8562975" y="2705100"/>
            <a:ext cx="3057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PowerNorm 적용</a:t>
            </a:r>
          </a:p>
        </p:txBody>
      </p:sp>
      <p:sp>
        <p:nvSpPr>
          <p:cNvPr id="16" name="idf-sequence-text-94">
            <a:extLst>
              <a:ext uri="{FF2B5EF4-FFF2-40B4-BE49-F238E27FC236}">
                <a16:creationId xmlns:a16="http://schemas.microsoft.com/office/drawing/2014/main" id="{505AF2BC-D30B-4516-A7AB-031F62CF105D}"/>
              </a:ext>
            </a:extLst>
          </p:cNvPr>
          <p:cNvSpPr>
            <a:spLocks noGrp="1"/>
          </p:cNvSpPr>
          <p:nvPr/>
        </p:nvSpPr>
        <p:spPr>
          <a:xfrm>
            <a:off x="8562975" y="3276600"/>
            <a:ext cx="30575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후보값의 절댓값을 세제곱</a:t>
            </a:r>
          </a:p>
          <a:p>
            <a:pPr>
              <a:buNone/>
              <a:def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전체 합 + 0.0001로 나눔</a:t>
            </a:r>
          </a:p>
        </p:txBody>
      </p:sp>
      <p:sp>
        <p:nvSpPr>
          <p:cNvPr id="17" name="idf-sequence-text-95">
            <a:extLst>
              <a:ext uri="{FF2B5EF4-FFF2-40B4-BE49-F238E27FC236}">
                <a16:creationId xmlns:a16="http://schemas.microsoft.com/office/drawing/2014/main" id="{0D41F0D6-16B8-40C8-ACFB-A50DCDC4F2A0}"/>
              </a:ext>
            </a:extLst>
          </p:cNvPr>
          <p:cNvSpPr>
            <a:spLocks noGrp="1"/>
          </p:cNvSpPr>
          <p:nvPr/>
        </p:nvSpPr>
        <p:spPr>
          <a:xfrm>
            <a:off x="8562975" y="4286250"/>
            <a:ext cx="30575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0 이상, 합은 약 1인</a:t>
            </a:r>
          </a:p>
          <a:p>
            <a:pPr>
              <a:buNone/>
              <a:defRPr sz="21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필터 가중치 Wₜ</a:t>
            </a:r>
            <a:endParaRPr sz="2025" b="1">
              <a:solidFill>
                <a:srgbClr val="236CCB"/>
              </a:solidFill>
              <a:latin typeface="Noto Sans CJK KR"/>
              <a:ea typeface="Noto Sans CJK KR"/>
              <a:cs typeface="Noto Sans CJK KR"/>
            </a:endParaRPr>
          </a:p>
        </p:txBody>
      </p:sp>
      <p:cxnSp>
        <p:nvCxnSpPr>
          <p:cNvPr id="61" name="직선 화살표 연결선 41"/>
          <p:cNvCxnSpPr>
            <a:stCxn id="3" idx="3"/>
            <a:endCxn id="4" idx="1"/>
          </p:cNvCxnSpPr>
          <p:nvPr/>
        </p:nvCxnSpPr>
        <p:spPr>
          <a:xfrm>
            <a:off x="4343400" y="3552825"/>
            <a:ext cx="476250" cy="0"/>
          </a:xfrm>
          <a:prstGeom prst="straightConnector1">
            <a:avLst/>
          </a:prstGeom>
          <a:ln w="19050">
            <a:solidFill>
              <a:srgbClr val="236CCB"/>
            </a:solidFill>
            <a:tailEnd type="triangle" w="med" len="med"/>
          </a:ln>
        </p:spPr>
      </p:cxnSp>
      <p:cxnSp>
        <p:nvCxnSpPr>
          <p:cNvPr id="62" name="직선 화살표 연결선 42"/>
          <p:cNvCxnSpPr>
            <a:stCxn id="4" idx="3"/>
            <a:endCxn id="5" idx="1"/>
          </p:cNvCxnSpPr>
          <p:nvPr/>
        </p:nvCxnSpPr>
        <p:spPr>
          <a:xfrm>
            <a:off x="7915275" y="3552825"/>
            <a:ext cx="476250" cy="0"/>
          </a:xfrm>
          <a:prstGeom prst="straightConnector1">
            <a:avLst/>
          </a:prstGeom>
          <a:ln w="19050">
            <a:solidFill>
              <a:srgbClr val="236CCB"/>
            </a:solidFill>
            <a:tailEnd type="triangle" w="med" len="med"/>
          </a:ln>
        </p:spPr>
      </p:cxnSp>
      <p:sp>
        <p:nvSpPr>
          <p:cNvPr id="20" name="idf-sequence-region-96">
            <a:extLst>
              <a:ext uri="{FF2B5EF4-FFF2-40B4-BE49-F238E27FC236}">
                <a16:creationId xmlns:a16="http://schemas.microsoft.com/office/drawing/2014/main" id="{837327F7-85E4-43A6-BA88-9D2A10C0F360}"/>
              </a:ext>
            </a:extLst>
          </p:cNvPr>
          <p:cNvSpPr>
            <a:spLocks noGrp="1"/>
          </p:cNvSpPr>
          <p:nvPr/>
        </p:nvSpPr>
        <p:spPr>
          <a:xfrm>
            <a:off x="400050" y="5448300"/>
            <a:ext cx="11391900" cy="657225"/>
          </a:xfrm>
          <a:prstGeom prst="rect">
            <a:avLst/>
          </a:prstGeom>
          <a:solidFill>
            <a:srgbClr val="EAF5F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idf-sequence-text-97">
            <a:extLst>
              <a:ext uri="{FF2B5EF4-FFF2-40B4-BE49-F238E27FC236}">
                <a16:creationId xmlns:a16="http://schemas.microsoft.com/office/drawing/2014/main" id="{F3E3F919-BB8F-4F53-A6FE-7D4E54652D3F}"/>
              </a:ext>
            </a:extLst>
          </p:cNvPr>
          <p:cNvSpPr>
            <a:spLocks noGrp="1"/>
          </p:cNvSpPr>
          <p:nvPr/>
        </p:nvSpPr>
        <p:spPr>
          <a:xfrm>
            <a:off x="600075" y="5581650"/>
            <a:ext cx="10991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계산한 가중치를 주변 픽셀에 곱해 더하면, 그 위치의 복원값을 얻음</a:t>
            </a:r>
          </a:p>
        </p:txBody>
      </p:sp>
      <p:sp>
        <p:nvSpPr>
          <p:cNvPr id="22" name="idf-sequence-region-98">
            <a:extLst>
              <a:ext uri="{FF2B5EF4-FFF2-40B4-BE49-F238E27FC236}">
                <a16:creationId xmlns:a16="http://schemas.microsoft.com/office/drawing/2014/main" id="{66EA012C-A450-4299-BD68-9D9082D6A921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idf-sequence-text-99">
            <a:extLst>
              <a:ext uri="{FF2B5EF4-FFF2-40B4-BE49-F238E27FC236}">
                <a16:creationId xmlns:a16="http://schemas.microsoft.com/office/drawing/2014/main" id="{F2630074-A539-464C-8A9D-6144D48F929B}"/>
              </a:ext>
            </a:extLst>
          </p:cNvPr>
          <p:cNvSpPr>
            <a:spLocks noGrp="1"/>
          </p:cNvSpPr>
          <p:nvPr/>
        </p:nvSpPr>
        <p:spPr>
          <a:xfrm>
            <a:off x="400050" y="63531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[P] Fig.3, Eq.(4)–(8). 첫 반복에는 직전 변화 통계(GSM) 생략. PowerNorm 분모의 안정화 값으로 합은 약 1</a:t>
            </a:r>
          </a:p>
        </p:txBody>
      </p:sp>
      <p:sp>
        <p:nvSpPr>
          <p:cNvPr id="24" name="idf-sequence-text-100">
            <a:extLst>
              <a:ext uri="{FF2B5EF4-FFF2-40B4-BE49-F238E27FC236}">
                <a16:creationId xmlns:a16="http://schemas.microsoft.com/office/drawing/2014/main" id="{BAEB1BED-D22A-4D56-97B5-D183204DB864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1656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80">
            <a:extLst>
              <a:ext uri="{FF2B5EF4-FFF2-40B4-BE49-F238E27FC236}">
                <a16:creationId xmlns:a16="http://schemas.microsoft.com/office/drawing/2014/main" id="{966DF489-D869-49FB-92AD-DAB381AD895C}"/>
              </a:ext>
            </a:extLst>
          </p:cNvPr>
          <p:cNvSpPr>
            <a:spLocks noGrp="1"/>
          </p:cNvSpPr>
          <p:nvPr/>
        </p:nvSpPr>
        <p:spPr>
          <a:xfrm>
            <a:off x="400050" y="352425"/>
            <a:ext cx="113919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논문의 성능 검증 조건</a:t>
            </a:r>
            <a:endParaRPr sz="3600" b="1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" name="region-81">
            <a:extLst>
              <a:ext uri="{FF2B5EF4-FFF2-40B4-BE49-F238E27FC236}">
                <a16:creationId xmlns:a16="http://schemas.microsoft.com/office/drawing/2014/main" id="{78CFEF0A-D50A-4A61-AB4B-1F68763D5976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-82">
            <a:extLst>
              <a:ext uri="{FF2B5EF4-FFF2-40B4-BE49-F238E27FC236}">
                <a16:creationId xmlns:a16="http://schemas.microsoft.com/office/drawing/2014/main" id="{E3923796-C75A-4130-B625-36D6F10932B7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0477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[P] §4.1–4.2, Table 1. 앞의 직접 비교 사진과 별개인 논문 보고값. 다음 표는 신경망 모델 간 비교</a:t>
            </a:r>
            <a:endParaRPr sz="1125" b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4" name="text-83">
            <a:extLst>
              <a:ext uri="{FF2B5EF4-FFF2-40B4-BE49-F238E27FC236}">
                <a16:creationId xmlns:a16="http://schemas.microsoft.com/office/drawing/2014/main" id="{F6C0CFA1-3300-4E05-99ED-ABBE7C7B00E1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5" name="text-84">
            <a:extLst>
              <a:ext uri="{FF2B5EF4-FFF2-40B4-BE49-F238E27FC236}">
                <a16:creationId xmlns:a16="http://schemas.microsoft.com/office/drawing/2014/main" id="{267B497F-3068-4ACF-8CE3-A7DBEDC60236}"/>
              </a:ext>
            </a:extLst>
          </p:cNvPr>
          <p:cNvSpPr>
            <a:spLocks noGrp="1"/>
          </p:cNvSpPr>
          <p:nvPr/>
        </p:nvSpPr>
        <p:spPr>
          <a:xfrm>
            <a:off x="400050" y="1828800"/>
            <a:ext cx="3562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학습</a:t>
            </a:r>
          </a:p>
        </p:txBody>
      </p:sp>
      <p:sp>
        <p:nvSpPr>
          <p:cNvPr id="6" name="text-85">
            <a:extLst>
              <a:ext uri="{FF2B5EF4-FFF2-40B4-BE49-F238E27FC236}">
                <a16:creationId xmlns:a16="http://schemas.microsoft.com/office/drawing/2014/main" id="{A90DA510-BBC5-4527-8302-12516588E4E6}"/>
              </a:ext>
            </a:extLst>
          </p:cNvPr>
          <p:cNvSpPr>
            <a:spLocks noGrp="1"/>
          </p:cNvSpPr>
          <p:nvPr/>
        </p:nvSpPr>
        <p:spPr>
          <a:xfrm>
            <a:off x="400050" y="2943225"/>
            <a:ext cx="35623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가우시안 잡음 σ=15</a:t>
            </a:r>
          </a:p>
        </p:txBody>
      </p:sp>
      <p:sp>
        <p:nvSpPr>
          <p:cNvPr id="7" name="region-86">
            <a:extLst>
              <a:ext uri="{FF2B5EF4-FFF2-40B4-BE49-F238E27FC236}">
                <a16:creationId xmlns:a16="http://schemas.microsoft.com/office/drawing/2014/main" id="{65483F5D-845A-4544-BE25-46E2A475BD0B}"/>
              </a:ext>
            </a:extLst>
          </p:cNvPr>
          <p:cNvSpPr>
            <a:spLocks noGrp="1"/>
          </p:cNvSpPr>
          <p:nvPr/>
        </p:nvSpPr>
        <p:spPr>
          <a:xfrm>
            <a:off x="364633" y="3705225"/>
            <a:ext cx="2919504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-87">
            <a:extLst>
              <a:ext uri="{FF2B5EF4-FFF2-40B4-BE49-F238E27FC236}">
                <a16:creationId xmlns:a16="http://schemas.microsoft.com/office/drawing/2014/main" id="{BE2ABFCA-1789-484E-8ED0-E1553EB371B6}"/>
              </a:ext>
            </a:extLst>
          </p:cNvPr>
          <p:cNvSpPr>
            <a:spLocks noGrp="1"/>
          </p:cNvSpPr>
          <p:nvPr/>
        </p:nvSpPr>
        <p:spPr>
          <a:xfrm>
            <a:off x="400050" y="4057650"/>
            <a:ext cx="35623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한 가지 잡음 조건으로 학습</a:t>
            </a:r>
          </a:p>
          <a:p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CBSD432 이미지 사용</a:t>
            </a:r>
          </a:p>
        </p:txBody>
      </p:sp>
      <p:sp>
        <p:nvSpPr>
          <p:cNvPr id="9" name="text-88">
            <a:extLst>
              <a:ext uri="{FF2B5EF4-FFF2-40B4-BE49-F238E27FC236}">
                <a16:creationId xmlns:a16="http://schemas.microsoft.com/office/drawing/2014/main" id="{88B3B13F-4BE2-4F45-92E1-77EE66392404}"/>
              </a:ext>
            </a:extLst>
          </p:cNvPr>
          <p:cNvSpPr>
            <a:spLocks noGrp="1"/>
          </p:cNvSpPr>
          <p:nvPr/>
        </p:nvSpPr>
        <p:spPr>
          <a:xfrm>
            <a:off x="4314825" y="1828800"/>
            <a:ext cx="3562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시험</a:t>
            </a:r>
          </a:p>
        </p:txBody>
      </p:sp>
      <p:sp>
        <p:nvSpPr>
          <p:cNvPr id="10" name="text-89">
            <a:extLst>
              <a:ext uri="{FF2B5EF4-FFF2-40B4-BE49-F238E27FC236}">
                <a16:creationId xmlns:a16="http://schemas.microsoft.com/office/drawing/2014/main" id="{800623FE-59B7-4C02-8739-534F3A5C9394}"/>
              </a:ext>
            </a:extLst>
          </p:cNvPr>
          <p:cNvSpPr>
            <a:spLocks noGrp="1"/>
          </p:cNvSpPr>
          <p:nvPr/>
        </p:nvSpPr>
        <p:spPr>
          <a:xfrm>
            <a:off x="4314825" y="2943225"/>
            <a:ext cx="35623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더 강하거나 다른 잡음</a:t>
            </a:r>
            <a:endParaRPr sz="2325" b="1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1" name="region-90">
            <a:extLst>
              <a:ext uri="{FF2B5EF4-FFF2-40B4-BE49-F238E27FC236}">
                <a16:creationId xmlns:a16="http://schemas.microsoft.com/office/drawing/2014/main" id="{385C6791-84E0-4844-8E75-A8B625F7253F}"/>
              </a:ext>
            </a:extLst>
          </p:cNvPr>
          <p:cNvSpPr>
            <a:spLocks noGrp="1"/>
          </p:cNvSpPr>
          <p:nvPr/>
        </p:nvSpPr>
        <p:spPr>
          <a:xfrm>
            <a:off x="3978170" y="3695700"/>
            <a:ext cx="3974403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-91">
            <a:extLst>
              <a:ext uri="{FF2B5EF4-FFF2-40B4-BE49-F238E27FC236}">
                <a16:creationId xmlns:a16="http://schemas.microsoft.com/office/drawing/2014/main" id="{DFAD0C30-00E6-4C93-8E11-A680E197F41C}"/>
              </a:ext>
            </a:extLst>
          </p:cNvPr>
          <p:cNvSpPr>
            <a:spLocks noGrp="1"/>
          </p:cNvSpPr>
          <p:nvPr/>
        </p:nvSpPr>
        <p:spPr>
          <a:xfrm>
            <a:off x="4314825" y="4057650"/>
            <a:ext cx="35623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학습 분포와 다른 잡음(OOD)</a:t>
            </a:r>
            <a:endParaRPr sz="2025" b="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시험 이미지: CBSD68</a:t>
            </a:r>
            <a:endParaRPr sz="2025" b="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다음 표에 3개 조건 제시</a:t>
            </a:r>
            <a:endParaRPr sz="2025" b="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text-92">
            <a:extLst>
              <a:ext uri="{FF2B5EF4-FFF2-40B4-BE49-F238E27FC236}">
                <a16:creationId xmlns:a16="http://schemas.microsoft.com/office/drawing/2014/main" id="{81EAB1A0-1930-414A-8A1E-C1B50934C03B}"/>
              </a:ext>
            </a:extLst>
          </p:cNvPr>
          <p:cNvSpPr>
            <a:spLocks noGrp="1"/>
          </p:cNvSpPr>
          <p:nvPr/>
        </p:nvSpPr>
        <p:spPr>
          <a:xfrm>
            <a:off x="8229600" y="1828800"/>
            <a:ext cx="3562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평가</a:t>
            </a:r>
          </a:p>
        </p:txBody>
      </p:sp>
      <p:sp>
        <p:nvSpPr>
          <p:cNvPr id="14" name="text-93">
            <a:extLst>
              <a:ext uri="{FF2B5EF4-FFF2-40B4-BE49-F238E27FC236}">
                <a16:creationId xmlns:a16="http://schemas.microsoft.com/office/drawing/2014/main" id="{D0504F45-2ABB-4783-8591-4268E113F9B8}"/>
              </a:ext>
            </a:extLst>
          </p:cNvPr>
          <p:cNvSpPr>
            <a:spLocks noGrp="1"/>
          </p:cNvSpPr>
          <p:nvPr/>
        </p:nvSpPr>
        <p:spPr>
          <a:xfrm>
            <a:off x="8229600" y="2943225"/>
            <a:ext cx="35623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PSNR로 복원 성능 측정</a:t>
            </a:r>
            <a:endParaRPr sz="2325" b="1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5" name="region-94">
            <a:extLst>
              <a:ext uri="{FF2B5EF4-FFF2-40B4-BE49-F238E27FC236}">
                <a16:creationId xmlns:a16="http://schemas.microsoft.com/office/drawing/2014/main" id="{F877C032-0BEF-4149-87E2-9080B9B4D2C6}"/>
              </a:ext>
            </a:extLst>
          </p:cNvPr>
          <p:cNvSpPr>
            <a:spLocks noGrp="1"/>
          </p:cNvSpPr>
          <p:nvPr/>
        </p:nvSpPr>
        <p:spPr>
          <a:xfrm>
            <a:off x="8229600" y="3705225"/>
            <a:ext cx="356235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-95">
            <a:extLst>
              <a:ext uri="{FF2B5EF4-FFF2-40B4-BE49-F238E27FC236}">
                <a16:creationId xmlns:a16="http://schemas.microsoft.com/office/drawing/2014/main" id="{87B5ECED-4B8A-4D0B-BFEE-70F8B8821134}"/>
              </a:ext>
            </a:extLst>
          </p:cNvPr>
          <p:cNvSpPr>
            <a:spLocks noGrp="1"/>
          </p:cNvSpPr>
          <p:nvPr/>
        </p:nvSpPr>
        <p:spPr>
          <a:xfrm>
            <a:off x="8229600" y="4057650"/>
            <a:ext cx="35623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값이 높을수록</a:t>
            </a:r>
            <a:endParaRPr sz="2025" b="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원본과의 </a:t>
            </a:r>
            <a:r>
              <a:rPr sz="1875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복원</a:t>
            </a: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오차가 작음</a:t>
            </a:r>
            <a:endParaRPr sz="2025" b="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7" name="text-96">
            <a:extLst>
              <a:ext uri="{FF2B5EF4-FFF2-40B4-BE49-F238E27FC236}">
                <a16:creationId xmlns:a16="http://schemas.microsoft.com/office/drawing/2014/main" id="{3C5EB385-0338-4804-97FE-CB5047BD370B}"/>
              </a:ext>
            </a:extLst>
          </p:cNvPr>
          <p:cNvSpPr>
            <a:spLocks noGrp="1"/>
          </p:cNvSpPr>
          <p:nvPr/>
        </p:nvSpPr>
        <p:spPr>
          <a:xfrm>
            <a:off x="400050" y="5695950"/>
            <a:ext cx="11391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CLIPDenoising은 대규모 사전 학습을 사용하므로 참고 비교로 표시</a:t>
            </a:r>
          </a:p>
        </p:txBody>
      </p:sp>
    </p:spTree>
    <p:extLst>
      <p:ext uri="{BB962C8B-B14F-4D97-AF65-F5344CB8AC3E}">
        <p14:creationId xmlns:p14="http://schemas.microsoft.com/office/powerpoint/2010/main" val="752171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97">
            <a:extLst>
              <a:ext uri="{FF2B5EF4-FFF2-40B4-BE49-F238E27FC236}">
                <a16:creationId xmlns:a16="http://schemas.microsoft.com/office/drawing/2014/main" id="{61EEAF4F-4D5F-46D9-B615-97A63F51E86E}"/>
              </a:ext>
            </a:extLst>
          </p:cNvPr>
          <p:cNvSpPr>
            <a:spLocks noGrp="1"/>
          </p:cNvSpPr>
          <p:nvPr/>
        </p:nvSpPr>
        <p:spPr>
          <a:xfrm>
            <a:off x="400050" y="352425"/>
            <a:ext cx="113919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잡음 조건별 복원 성능 비교</a:t>
            </a:r>
          </a:p>
        </p:txBody>
      </p:sp>
      <p:sp>
        <p:nvSpPr>
          <p:cNvPr id="2" name="region-98">
            <a:extLst>
              <a:ext uri="{FF2B5EF4-FFF2-40B4-BE49-F238E27FC236}">
                <a16:creationId xmlns:a16="http://schemas.microsoft.com/office/drawing/2014/main" id="{84A0390F-C79F-47FB-AF55-37A161D9EFB5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-99">
            <a:extLst>
              <a:ext uri="{FF2B5EF4-FFF2-40B4-BE49-F238E27FC236}">
                <a16:creationId xmlns:a16="http://schemas.microsoft.com/office/drawing/2014/main" id="{22F38B23-C0FA-4196-B44C-CF5F39C19E0C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0477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[P] Table 1. CBSD68의 3개 잡음 조건과 일부 비교 방법을 발췌</a:t>
            </a:r>
            <a:endParaRPr sz="1125" b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4" name="text-100">
            <a:extLst>
              <a:ext uri="{FF2B5EF4-FFF2-40B4-BE49-F238E27FC236}">
                <a16:creationId xmlns:a16="http://schemas.microsoft.com/office/drawing/2014/main" id="{C47D7604-295D-4C13-8EE6-61EF28066DDC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graphicFrame>
        <p:nvGraphicFramePr>
          <p:cNvPr id="15" name="표 14"/>
          <p:cNvGraphicFramePr/>
          <p:nvPr/>
        </p:nvGraphicFramePr>
        <p:xfrm>
          <a:off x="400050" y="1524000"/>
          <a:ext cx="11391900" cy="3112225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방법</a:t>
                      </a:r>
                    </a:p>
                  </a:txBody>
                  <a:tcPr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가우시안 잡음 </a:t>
                      </a:r>
                      <a:r>
                        <a:rPr sz="200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σ</a:t>
                      </a:r>
                      <a:r>
                        <a:rPr sz="18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= 50</a:t>
                      </a:r>
                    </a:p>
                  </a:txBody>
                  <a:tcPr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공간 상관 잡음 </a:t>
                      </a:r>
                      <a:r>
                        <a:rPr sz="200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σ= </a:t>
                      </a:r>
                      <a:r>
                        <a:rPr sz="18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55</a:t>
                      </a:r>
                    </a:p>
                  </a:txBody>
                  <a:tcPr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 잡음 (salt &amp; pepper) d = 0.02</a:t>
                      </a:r>
                    </a:p>
                  </a:txBody>
                  <a:tcPr anchor="ctr">
                    <a:solidFill>
                      <a:srgbClr val="EA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DnCNN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15.87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25.88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24.02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Restormer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23.34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23.60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MaskedDenoising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26.72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29.74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CLIPDenoising*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u="sng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25.84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27.57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29.82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6CC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IDF 10회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6CC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25.73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236CC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27.87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236CC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33.38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-102">
            <a:extLst>
              <a:ext uri="{FF2B5EF4-FFF2-40B4-BE49-F238E27FC236}">
                <a16:creationId xmlns:a16="http://schemas.microsoft.com/office/drawing/2014/main" id="{A7B7DEB9-2E77-4687-8C12-4AC7CAD544CF}"/>
              </a:ext>
            </a:extLst>
          </p:cNvPr>
          <p:cNvSpPr>
            <a:spLocks noGrp="1"/>
          </p:cNvSpPr>
          <p:nvPr/>
        </p:nvSpPr>
        <p:spPr>
          <a:xfrm>
            <a:off x="400050" y="4905375"/>
            <a:ext cx="113919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PSNR(dB): 높을수록 좋음. 밑줄은 제시된 방법 중 최고값</a:t>
            </a:r>
            <a:endParaRPr sz="1400" b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buNone/>
              <a:defRPr sz="15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* CLIPDenoising은 대규모 사전 학습을 활용한 참고 비교 모델</a:t>
            </a:r>
            <a:endParaRPr sz="1575" b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0" name="idf-polish-25">
            <a:extLst>
              <a:ext uri="{FF2B5EF4-FFF2-40B4-BE49-F238E27FC236}">
                <a16:creationId xmlns:a16="http://schemas.microsoft.com/office/drawing/2014/main" id="{6B9E82F7-0F98-486B-9079-7769F25221DE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391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제시된 방법 중 IDF는 공간 상관 잡음과 점 잡음에서 가장 높은 점수</a:t>
            </a:r>
          </a:p>
        </p:txBody>
      </p:sp>
    </p:spTree>
    <p:extLst>
      <p:ext uri="{BB962C8B-B14F-4D97-AF65-F5344CB8AC3E}">
        <p14:creationId xmlns:p14="http://schemas.microsoft.com/office/powerpoint/2010/main" val="1637690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df-polish-26">
            <a:extLst>
              <a:ext uri="{FF2B5EF4-FFF2-40B4-BE49-F238E27FC236}">
                <a16:creationId xmlns:a16="http://schemas.microsoft.com/office/drawing/2014/main" id="{AD0410C1-05A8-4A0D-9701-9899BBFE297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3600" b="1" dirty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한계</a:t>
            </a:r>
            <a:endParaRPr sz="3600" b="1" dirty="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" name="idf-polish-27">
            <a:extLst>
              <a:ext uri="{FF2B5EF4-FFF2-40B4-BE49-F238E27FC236}">
                <a16:creationId xmlns:a16="http://schemas.microsoft.com/office/drawing/2014/main" id="{829B4A98-2565-49BE-9198-9334403DC036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5295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잡음 조건에 따른 성능 차이</a:t>
            </a:r>
          </a:p>
        </p:txBody>
      </p:sp>
      <p:sp>
        <p:nvSpPr>
          <p:cNvPr id="3" name="idf-polish-28">
            <a:extLst>
              <a:ext uri="{FF2B5EF4-FFF2-40B4-BE49-F238E27FC236}">
                <a16:creationId xmlns:a16="http://schemas.microsoft.com/office/drawing/2014/main" id="{D0B93A26-508F-44BD-B229-EC8108C89471}"/>
              </a:ext>
            </a:extLst>
          </p:cNvPr>
          <p:cNvSpPr>
            <a:spLocks noGrp="1"/>
          </p:cNvSpPr>
          <p:nvPr/>
        </p:nvSpPr>
        <p:spPr>
          <a:xfrm>
            <a:off x="400050" y="2257425"/>
            <a:ext cx="54006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학습 때와 같은 가우시안 잡음 σ=15, CBSD68</a:t>
            </a:r>
          </a:p>
        </p:txBody>
      </p:sp>
      <p:graphicFrame>
        <p:nvGraphicFramePr>
          <p:cNvPr id="17" name="표 16"/>
          <p:cNvGraphicFramePr/>
          <p:nvPr/>
        </p:nvGraphicFramePr>
        <p:xfrm>
          <a:off x="400050" y="2800350"/>
          <a:ext cx="5295900" cy="1685925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모델</a:t>
                      </a:r>
                    </a:p>
                  </a:txBody>
                  <a:tcPr marL="114300" marR="11430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PSNR (dB)</a:t>
                      </a:r>
                    </a:p>
                  </a:txBody>
                  <a:tcPr marL="114300" marR="114300" marT="76200" marB="76200" anchor="ctr">
                    <a:solidFill>
                      <a:srgbClr val="EA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36CC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IDF 10회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36CC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32.18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Restormer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33.99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idf-polish-29">
            <a:extLst>
              <a:ext uri="{FF2B5EF4-FFF2-40B4-BE49-F238E27FC236}">
                <a16:creationId xmlns:a16="http://schemas.microsoft.com/office/drawing/2014/main" id="{599014F9-EAAA-4680-BCA1-00572417727E}"/>
              </a:ext>
            </a:extLst>
          </p:cNvPr>
          <p:cNvSpPr>
            <a:spLocks noGrp="1"/>
          </p:cNvSpPr>
          <p:nvPr/>
        </p:nvSpPr>
        <p:spPr>
          <a:xfrm>
            <a:off x="400050" y="4686300"/>
            <a:ext cx="52959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조건에서는 IDF의 점수가</a:t>
            </a:r>
          </a:p>
          <a:p>
            <a:pPr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Restormer보다 낮음</a:t>
            </a:r>
          </a:p>
        </p:txBody>
      </p:sp>
      <p:sp>
        <p:nvSpPr>
          <p:cNvPr id="6" name="idf-polish-30">
            <a:extLst>
              <a:ext uri="{FF2B5EF4-FFF2-40B4-BE49-F238E27FC236}">
                <a16:creationId xmlns:a16="http://schemas.microsoft.com/office/drawing/2014/main" id="{0C9109A5-C6CC-434A-9904-7A6603781556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53149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과도한 평활화 가능성</a:t>
            </a:r>
          </a:p>
        </p:txBody>
      </p:sp>
      <p:sp>
        <p:nvSpPr>
          <p:cNvPr id="7" name="idf-polish-31">
            <a:extLst>
              <a:ext uri="{FF2B5EF4-FFF2-40B4-BE49-F238E27FC236}">
                <a16:creationId xmlns:a16="http://schemas.microsoft.com/office/drawing/2014/main" id="{E1B1AC24-5A8B-4903-8762-EC04CD7FD233}"/>
              </a:ext>
            </a:extLst>
          </p:cNvPr>
          <p:cNvSpPr>
            <a:spLocks noGrp="1"/>
          </p:cNvSpPr>
          <p:nvPr/>
        </p:nvSpPr>
        <p:spPr>
          <a:xfrm>
            <a:off x="6477000" y="2257425"/>
            <a:ext cx="53149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잡음이 약한 이미지에 반복을 많이 적용하면</a:t>
            </a:r>
          </a:p>
          <a:p>
            <a:pPr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가는 선과 질감도 줄어들 수 있음</a:t>
            </a:r>
          </a:p>
        </p:txBody>
      </p:sp>
      <p:sp>
        <p:nvSpPr>
          <p:cNvPr id="8" name="idf-polish-32">
            <a:extLst>
              <a:ext uri="{FF2B5EF4-FFF2-40B4-BE49-F238E27FC236}">
                <a16:creationId xmlns:a16="http://schemas.microsoft.com/office/drawing/2014/main" id="{DB13C2AC-893E-4E7B-97FE-1BF892051541}"/>
              </a:ext>
            </a:extLst>
          </p:cNvPr>
          <p:cNvSpPr>
            <a:spLocks noGrp="1"/>
          </p:cNvSpPr>
          <p:nvPr/>
        </p:nvSpPr>
        <p:spPr>
          <a:xfrm>
            <a:off x="6477000" y="3886200"/>
            <a:ext cx="53149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직접 비교 사진에서의 관찰</a:t>
            </a:r>
          </a:p>
        </p:txBody>
      </p:sp>
      <p:sp>
        <p:nvSpPr>
          <p:cNvPr id="9" name="idf-polish-33">
            <a:extLst>
              <a:ext uri="{FF2B5EF4-FFF2-40B4-BE49-F238E27FC236}">
                <a16:creationId xmlns:a16="http://schemas.microsoft.com/office/drawing/2014/main" id="{D1872B44-6167-4F89-87C1-5F63A4555C35}"/>
              </a:ext>
            </a:extLst>
          </p:cNvPr>
          <p:cNvSpPr>
            <a:spLocks noGrp="1"/>
          </p:cNvSpPr>
          <p:nvPr/>
        </p:nvSpPr>
        <p:spPr>
          <a:xfrm>
            <a:off x="6477000" y="4419600"/>
            <a:ext cx="5314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IDF에서도 원본의 세부 무늬가 감소</a:t>
            </a:r>
          </a:p>
        </p:txBody>
      </p:sp>
      <p:sp>
        <p:nvSpPr>
          <p:cNvPr id="10" name="idf-polish-34">
            <a:extLst>
              <a:ext uri="{FF2B5EF4-FFF2-40B4-BE49-F238E27FC236}">
                <a16:creationId xmlns:a16="http://schemas.microsoft.com/office/drawing/2014/main" id="{4C04B943-090B-4E59-9369-7DB6FFE89AAB}"/>
              </a:ext>
            </a:extLst>
          </p:cNvPr>
          <p:cNvSpPr>
            <a:spLocks noGrp="1"/>
          </p:cNvSpPr>
          <p:nvPr/>
        </p:nvSpPr>
        <p:spPr>
          <a:xfrm>
            <a:off x="400050" y="5695950"/>
            <a:ext cx="11391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사진 한 장의 시각 비교는 모든 이미지에 대한 복원 성능을 대표하지 않음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45E59-F701-4BD8-95CF-5DDF618AA45F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idf-polish-35">
            <a:extLst>
              <a:ext uri="{FF2B5EF4-FFF2-40B4-BE49-F238E27FC236}">
                <a16:creationId xmlns:a16="http://schemas.microsoft.com/office/drawing/2014/main" id="{50044AD9-C8AB-4FF9-A8C7-2621552DB80D}"/>
              </a:ext>
            </a:extLst>
          </p:cNvPr>
          <p:cNvSpPr>
            <a:spLocks noGrp="1"/>
          </p:cNvSpPr>
          <p:nvPr/>
        </p:nvSpPr>
        <p:spPr>
          <a:xfrm>
            <a:off x="400050" y="63531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[P] §3.3, Appendix Table A8.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IDF는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기본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10회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모델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3" name="idf-polish-36">
            <a:extLst>
              <a:ext uri="{FF2B5EF4-FFF2-40B4-BE49-F238E27FC236}">
                <a16:creationId xmlns:a16="http://schemas.microsoft.com/office/drawing/2014/main" id="{7AE3C672-D44F-4A9B-A8B9-B0CF0B29C35E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2718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df-sequence-text-101">
            <a:extLst>
              <a:ext uri="{FF2B5EF4-FFF2-40B4-BE49-F238E27FC236}">
                <a16:creationId xmlns:a16="http://schemas.microsoft.com/office/drawing/2014/main" id="{22FF990F-DEAA-4AA2-A435-9BEB27E4462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 dirty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</a:t>
            </a:r>
            <a:r>
              <a:rPr lang="ko-KR" altLang="en-US" sz="3600" b="1" dirty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론</a:t>
            </a:r>
            <a:endParaRPr sz="3600" b="1" dirty="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" name="idf-sequence-text-102">
            <a:extLst>
              <a:ext uri="{FF2B5EF4-FFF2-40B4-BE49-F238E27FC236}">
                <a16:creationId xmlns:a16="http://schemas.microsoft.com/office/drawing/2014/main" id="{D47236A0-D8F8-4E48-A3D5-BCAF13AB4CA4}"/>
              </a:ext>
            </a:extLst>
          </p:cNvPr>
          <p:cNvSpPr>
            <a:spLocks noGrp="1"/>
          </p:cNvSpPr>
          <p:nvPr/>
        </p:nvSpPr>
        <p:spPr>
          <a:xfrm>
            <a:off x="400050" y="1543050"/>
            <a:ext cx="29813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2400" b="1" dirty="0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공통 계산 구조</a:t>
            </a:r>
            <a:endParaRPr sz="2400" b="1" dirty="0">
              <a:solidFill>
                <a:srgbClr val="236CC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idf-sequence-text-103">
            <a:extLst>
              <a:ext uri="{FF2B5EF4-FFF2-40B4-BE49-F238E27FC236}">
                <a16:creationId xmlns:a16="http://schemas.microsoft.com/office/drawing/2014/main" id="{C192A040-D969-43CC-A75D-E878F30782AA}"/>
              </a:ext>
            </a:extLst>
          </p:cNvPr>
          <p:cNvSpPr>
            <a:spLocks noGrp="1"/>
          </p:cNvSpPr>
          <p:nvPr/>
        </p:nvSpPr>
        <p:spPr>
          <a:xfrm>
            <a:off x="3714750" y="1543050"/>
            <a:ext cx="8077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주변 픽셀을 가중 합하는 계산</a:t>
            </a:r>
          </a:p>
        </p:txBody>
      </p:sp>
      <p:sp>
        <p:nvSpPr>
          <p:cNvPr id="4" name="idf-sequence-text-104">
            <a:extLst>
              <a:ext uri="{FF2B5EF4-FFF2-40B4-BE49-F238E27FC236}">
                <a16:creationId xmlns:a16="http://schemas.microsoft.com/office/drawing/2014/main" id="{52B8C947-4926-47FA-A3C6-138F0F0E9BF9}"/>
              </a:ext>
            </a:extLst>
          </p:cNvPr>
          <p:cNvSpPr>
            <a:spLocks noGrp="1"/>
          </p:cNvSpPr>
          <p:nvPr/>
        </p:nvSpPr>
        <p:spPr>
          <a:xfrm>
            <a:off x="3714750" y="2124075"/>
            <a:ext cx="8077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가우시안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필터와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IDF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모두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이웃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값에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비중을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주어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출력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계산</a:t>
            </a:r>
            <a:endParaRPr lang="en-US" sz="1600" b="0" dirty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160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고정 </a:t>
            </a:r>
            <a:r>
              <a:rPr lang="ko-KR" altLang="en-US" sz="160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스무딩은</a:t>
            </a:r>
            <a:r>
              <a:rPr lang="ko-KR" altLang="en-US" sz="160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잡음을 줄이지만 경계까지 함께 섞어 </a:t>
            </a:r>
            <a:r>
              <a:rPr lang="ko-KR" altLang="en-US" sz="160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블러링할</a:t>
            </a:r>
            <a:r>
              <a:rPr lang="ko-KR" altLang="en-US" sz="160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수 있음</a:t>
            </a:r>
            <a:endParaRPr sz="1600" b="0" dirty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5" name="idf-sequence-region-105">
            <a:extLst>
              <a:ext uri="{FF2B5EF4-FFF2-40B4-BE49-F238E27FC236}">
                <a16:creationId xmlns:a16="http://schemas.microsoft.com/office/drawing/2014/main" id="{88C80CD3-8FC5-4FBB-9AF7-E608A34A36C6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idf-sequence-text-106">
            <a:extLst>
              <a:ext uri="{FF2B5EF4-FFF2-40B4-BE49-F238E27FC236}">
                <a16:creationId xmlns:a16="http://schemas.microsoft.com/office/drawing/2014/main" id="{4E4AEBD5-2EFD-4658-AA02-4B5E5D97C2A5}"/>
              </a:ext>
            </a:extLst>
          </p:cNvPr>
          <p:cNvSpPr>
            <a:spLocks noGrp="1"/>
          </p:cNvSpPr>
          <p:nvPr/>
        </p:nvSpPr>
        <p:spPr>
          <a:xfrm>
            <a:off x="400050" y="2847975"/>
            <a:ext cx="29813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IDF의 확장</a:t>
            </a:r>
          </a:p>
        </p:txBody>
      </p:sp>
      <p:sp>
        <p:nvSpPr>
          <p:cNvPr id="7" name="idf-sequence-text-107">
            <a:extLst>
              <a:ext uri="{FF2B5EF4-FFF2-40B4-BE49-F238E27FC236}">
                <a16:creationId xmlns:a16="http://schemas.microsoft.com/office/drawing/2014/main" id="{A446440D-D9D8-4306-948D-76FD293E5767}"/>
              </a:ext>
            </a:extLst>
          </p:cNvPr>
          <p:cNvSpPr>
            <a:spLocks noGrp="1"/>
          </p:cNvSpPr>
          <p:nvPr/>
        </p:nvSpPr>
        <p:spPr>
          <a:xfrm>
            <a:off x="3714750" y="2847975"/>
            <a:ext cx="8077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 dirty="0" err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입력에</a:t>
            </a:r>
            <a:r>
              <a:rPr sz="2400" b="1" dirty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1" dirty="0" err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맞는</a:t>
            </a:r>
            <a:r>
              <a:rPr sz="2400" b="1" dirty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1" dirty="0" err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필터</a:t>
            </a:r>
            <a:r>
              <a:rPr sz="2400" b="1" dirty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2400" b="1" dirty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예측</a:t>
            </a:r>
            <a:endParaRPr sz="2400" b="1" dirty="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8" name="idf-sequence-text-108">
            <a:extLst>
              <a:ext uri="{FF2B5EF4-FFF2-40B4-BE49-F238E27FC236}">
                <a16:creationId xmlns:a16="http://schemas.microsoft.com/office/drawing/2014/main" id="{9BB77BA4-CF98-4E5A-ACB8-096D036A9202}"/>
              </a:ext>
            </a:extLst>
          </p:cNvPr>
          <p:cNvSpPr>
            <a:spLocks noGrp="1"/>
          </p:cNvSpPr>
          <p:nvPr/>
        </p:nvSpPr>
        <p:spPr>
          <a:xfrm>
            <a:off x="3714750" y="3429000"/>
            <a:ext cx="8077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학습된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θ로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60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가중치 </a:t>
            </a:r>
            <a:r>
              <a:rPr lang="en-US" altLang="ko-KR" sz="160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Wt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매 단계 다시 예측</a:t>
            </a:r>
            <a:endParaRPr lang="en-US" altLang="ko-KR" sz="1600" b="0" dirty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160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입력 구조에 따라 위치별 가중치를 조절해 불필요한 경계 혼합을 완화할 수 있음</a:t>
            </a:r>
            <a:endParaRPr sz="1600" b="0" dirty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9" name="idf-sequence-region-109">
            <a:extLst>
              <a:ext uri="{FF2B5EF4-FFF2-40B4-BE49-F238E27FC236}">
                <a16:creationId xmlns:a16="http://schemas.microsoft.com/office/drawing/2014/main" id="{77AF821C-F068-4654-94E2-ADAB1B2E1D09}"/>
              </a:ext>
            </a:extLst>
          </p:cNvPr>
          <p:cNvSpPr>
            <a:spLocks noGrp="1"/>
          </p:cNvSpPr>
          <p:nvPr/>
        </p:nvSpPr>
        <p:spPr>
          <a:xfrm>
            <a:off x="400050" y="39909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idf-sequence-text-110">
            <a:extLst>
              <a:ext uri="{FF2B5EF4-FFF2-40B4-BE49-F238E27FC236}">
                <a16:creationId xmlns:a16="http://schemas.microsoft.com/office/drawing/2014/main" id="{291A94FC-6B59-4F71-B6A9-585474092E26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29813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성능의 해석</a:t>
            </a:r>
          </a:p>
        </p:txBody>
      </p:sp>
      <p:sp>
        <p:nvSpPr>
          <p:cNvPr id="11" name="idf-sequence-text-111">
            <a:extLst>
              <a:ext uri="{FF2B5EF4-FFF2-40B4-BE49-F238E27FC236}">
                <a16:creationId xmlns:a16="http://schemas.microsoft.com/office/drawing/2014/main" id="{00411913-D6E6-4CFF-BCF9-3EB9C9779147}"/>
              </a:ext>
            </a:extLst>
          </p:cNvPr>
          <p:cNvSpPr>
            <a:spLocks noGrp="1"/>
          </p:cNvSpPr>
          <p:nvPr/>
        </p:nvSpPr>
        <p:spPr>
          <a:xfrm>
            <a:off x="3714750" y="4152900"/>
            <a:ext cx="8077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잡음 조건에 따른 장점과 차이</a:t>
            </a:r>
          </a:p>
        </p:txBody>
      </p:sp>
      <p:sp>
        <p:nvSpPr>
          <p:cNvPr id="12" name="idf-sequence-text-112">
            <a:extLst>
              <a:ext uri="{FF2B5EF4-FFF2-40B4-BE49-F238E27FC236}">
                <a16:creationId xmlns:a16="http://schemas.microsoft.com/office/drawing/2014/main" id="{35724CEE-9D79-46E6-87AA-83631573E4E9}"/>
              </a:ext>
            </a:extLst>
          </p:cNvPr>
          <p:cNvSpPr>
            <a:spLocks noGrp="1"/>
          </p:cNvSpPr>
          <p:nvPr/>
        </p:nvSpPr>
        <p:spPr>
          <a:xfrm>
            <a:off x="3714750" y="4733925"/>
            <a:ext cx="8077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논문은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학습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때와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다른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잡음에서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강점을</a:t>
            </a:r>
            <a:r>
              <a:rPr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보고하</a:t>
            </a:r>
            <a:r>
              <a:rPr lang="ko-KR" altLang="en-US" sz="160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지만 모든 조건에서 최고인 것은 아님</a:t>
            </a:r>
            <a:endParaRPr sz="1600" b="0" dirty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idf-sequence-region-113">
            <a:extLst>
              <a:ext uri="{FF2B5EF4-FFF2-40B4-BE49-F238E27FC236}">
                <a16:creationId xmlns:a16="http://schemas.microsoft.com/office/drawing/2014/main" id="{47951865-BAB7-427B-8E94-3415D4137DCD}"/>
              </a:ext>
            </a:extLst>
          </p:cNvPr>
          <p:cNvSpPr>
            <a:spLocks noGrp="1"/>
          </p:cNvSpPr>
          <p:nvPr/>
        </p:nvSpPr>
        <p:spPr>
          <a:xfrm>
            <a:off x="400050" y="5495925"/>
            <a:ext cx="11391900" cy="657225"/>
          </a:xfrm>
          <a:prstGeom prst="rect">
            <a:avLst/>
          </a:prstGeom>
          <a:solidFill>
            <a:srgbClr val="EAF5F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idf-sequence-text-114">
            <a:extLst>
              <a:ext uri="{FF2B5EF4-FFF2-40B4-BE49-F238E27FC236}">
                <a16:creationId xmlns:a16="http://schemas.microsoft.com/office/drawing/2014/main" id="{1A1BC135-B136-41E6-8872-EA4C545DB5A2}"/>
              </a:ext>
            </a:extLst>
          </p:cNvPr>
          <p:cNvSpPr>
            <a:spLocks noGrp="1"/>
          </p:cNvSpPr>
          <p:nvPr/>
        </p:nvSpPr>
        <p:spPr>
          <a:xfrm>
            <a:off x="600075" y="5629275"/>
            <a:ext cx="10991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2100" b="1" dirty="0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고정 </a:t>
            </a:r>
            <a:r>
              <a:rPr lang="ko-KR" altLang="en-US" sz="2100" b="1" dirty="0" err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스무딩의</a:t>
            </a:r>
            <a:r>
              <a:rPr lang="ko-KR" altLang="en-US" sz="2100" b="1" dirty="0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 경계 혼합 문제를</a:t>
            </a:r>
            <a:r>
              <a:rPr lang="en-US" altLang="ko-KR" sz="2100" b="1" dirty="0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2100" b="1" dirty="0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입력에 맞는 동적 가중치 예측으로 완화</a:t>
            </a:r>
            <a:endParaRPr sz="2100" b="1" dirty="0">
              <a:solidFill>
                <a:srgbClr val="236CCB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5" name="idf-sequence-region-115">
            <a:extLst>
              <a:ext uri="{FF2B5EF4-FFF2-40B4-BE49-F238E27FC236}">
                <a16:creationId xmlns:a16="http://schemas.microsoft.com/office/drawing/2014/main" id="{3F6F625D-43FD-42E8-BEE5-2CA84FC6A6CB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idf-sequence-text-116">
            <a:extLst>
              <a:ext uri="{FF2B5EF4-FFF2-40B4-BE49-F238E27FC236}">
                <a16:creationId xmlns:a16="http://schemas.microsoft.com/office/drawing/2014/main" id="{BECBB9AD-0ECD-44D3-A17A-05E2B924234B}"/>
              </a:ext>
            </a:extLst>
          </p:cNvPr>
          <p:cNvSpPr>
            <a:spLocks noGrp="1"/>
          </p:cNvSpPr>
          <p:nvPr/>
        </p:nvSpPr>
        <p:spPr>
          <a:xfrm>
            <a:off x="400050" y="63531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[L]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선형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필터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/ [P] §3, Table 1.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직접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비교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사진의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관찰은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해당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이미지와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실행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조건의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범위에서</a:t>
            </a:r>
            <a:r>
              <a:rPr sz="1050" b="0" dirty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dirty="0" err="1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해석</a:t>
            </a:r>
            <a:endParaRPr sz="1050" b="0" dirty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7" name="idf-sequence-text-117">
            <a:extLst>
              <a:ext uri="{FF2B5EF4-FFF2-40B4-BE49-F238E27FC236}">
                <a16:creationId xmlns:a16="http://schemas.microsoft.com/office/drawing/2014/main" id="{F123BAB0-FB73-42AA-99C5-E1004DAB9C1D}"/>
              </a:ext>
            </a:extLst>
          </p:cNvPr>
          <p:cNvSpPr>
            <a:spLocks noGrp="1"/>
          </p:cNvSpPr>
          <p:nvPr/>
        </p:nvSpPr>
        <p:spPr>
          <a:xfrm>
            <a:off x="11334750" y="629602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39457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df-sequence-text-118">
            <a:extLst>
              <a:ext uri="{FF2B5EF4-FFF2-40B4-BE49-F238E27FC236}">
                <a16:creationId xmlns:a16="http://schemas.microsoft.com/office/drawing/2014/main" id="{456F9558-7598-4897-B5DB-6467A440763D}"/>
              </a:ext>
            </a:extLst>
          </p:cNvPr>
          <p:cNvSpPr>
            <a:spLocks noGrp="1"/>
          </p:cNvSpPr>
          <p:nvPr/>
        </p:nvSpPr>
        <p:spPr>
          <a:xfrm>
            <a:off x="400050" y="2228850"/>
            <a:ext cx="113919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66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6600" b="1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rPr>
              <a:t>Q&amp;A</a:t>
            </a:r>
          </a:p>
        </p:txBody>
      </p:sp>
      <p:sp>
        <p:nvSpPr>
          <p:cNvPr id="2" name="idf-sequence-text-119">
            <a:extLst>
              <a:ext uri="{FF2B5EF4-FFF2-40B4-BE49-F238E27FC236}">
                <a16:creationId xmlns:a16="http://schemas.microsoft.com/office/drawing/2014/main" id="{C120074F-3704-44D9-92D7-747BAB2C4DC0}"/>
              </a:ext>
            </a:extLst>
          </p:cNvPr>
          <p:cNvSpPr>
            <a:spLocks noGrp="1"/>
          </p:cNvSpPr>
          <p:nvPr/>
        </p:nvSpPr>
        <p:spPr>
          <a:xfrm>
            <a:off x="400050" y="3533775"/>
            <a:ext cx="113919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0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감사합니다</a:t>
            </a:r>
            <a:endParaRPr sz="3000" b="0">
              <a:solidFill>
                <a:srgbClr val="53586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idf-sequence-region-120">
            <a:extLst>
              <a:ext uri="{FF2B5EF4-FFF2-40B4-BE49-F238E27FC236}">
                <a16:creationId xmlns:a16="http://schemas.microsoft.com/office/drawing/2014/main" id="{E2891B25-7AAF-4829-B98C-7C8C05D3056B}"/>
              </a:ext>
            </a:extLst>
          </p:cNvPr>
          <p:cNvSpPr>
            <a:spLocks noGrp="1"/>
          </p:cNvSpPr>
          <p:nvPr/>
        </p:nvSpPr>
        <p:spPr>
          <a:xfrm>
            <a:off x="400050" y="519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idf-sequence-text-121">
            <a:extLst>
              <a:ext uri="{FF2B5EF4-FFF2-40B4-BE49-F238E27FC236}">
                <a16:creationId xmlns:a16="http://schemas.microsoft.com/office/drawing/2014/main" id="{CA9755D6-C243-47CD-8CAB-AF6B8D7DD6FD}"/>
              </a:ext>
            </a:extLst>
          </p:cNvPr>
          <p:cNvSpPr>
            <a:spLocks noGrp="1"/>
          </p:cNvSpPr>
          <p:nvPr/>
        </p:nvSpPr>
        <p:spPr>
          <a:xfrm>
            <a:off x="400050" y="5400675"/>
            <a:ext cx="113919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참고 자료</a:t>
            </a:r>
          </a:p>
        </p:txBody>
      </p:sp>
      <p:sp>
        <p:nvSpPr>
          <p:cNvPr id="5" name="idf-sequence-text-122">
            <a:extLst>
              <a:ext uri="{FF2B5EF4-FFF2-40B4-BE49-F238E27FC236}">
                <a16:creationId xmlns:a16="http://schemas.microsoft.com/office/drawing/2014/main" id="{3CDF6121-F3FF-4314-AAE7-E4C829CBFA22}"/>
              </a:ext>
            </a:extLst>
          </p:cNvPr>
          <p:cNvSpPr>
            <a:spLocks noGrp="1"/>
          </p:cNvSpPr>
          <p:nvPr/>
        </p:nvSpPr>
        <p:spPr>
          <a:xfrm>
            <a:off x="400050" y="5819775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 u="sng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  <a:hlinkClick r:id="rId3"/>
              </a:rPr>
              <a:t>[P] IDF 논문</a:t>
            </a:r>
          </a:p>
        </p:txBody>
      </p:sp>
      <p:sp>
        <p:nvSpPr>
          <p:cNvPr id="6" name="idf-sequence-text-123">
            <a:extLst>
              <a:ext uri="{FF2B5EF4-FFF2-40B4-BE49-F238E27FC236}">
                <a16:creationId xmlns:a16="http://schemas.microsoft.com/office/drawing/2014/main" id="{F76C6E22-F152-4904-9361-22A401753CD4}"/>
              </a:ext>
            </a:extLst>
          </p:cNvPr>
          <p:cNvSpPr>
            <a:spLocks noGrp="1"/>
          </p:cNvSpPr>
          <p:nvPr/>
        </p:nvSpPr>
        <p:spPr>
          <a:xfrm>
            <a:off x="3905250" y="5819775"/>
            <a:ext cx="38766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 u="sng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  <a:hlinkClick r:id="rId4"/>
              </a:rPr>
              <a:t>[A] 저자 공식 프로젝트</a:t>
            </a:r>
          </a:p>
        </p:txBody>
      </p:sp>
      <p:sp>
        <p:nvSpPr>
          <p:cNvPr id="7" name="idf-sequence-text-124">
            <a:extLst>
              <a:ext uri="{FF2B5EF4-FFF2-40B4-BE49-F238E27FC236}">
                <a16:creationId xmlns:a16="http://schemas.microsoft.com/office/drawing/2014/main" id="{4F015356-DDCE-4E3D-8250-736A494C7071}"/>
              </a:ext>
            </a:extLst>
          </p:cNvPr>
          <p:cNvSpPr>
            <a:spLocks noGrp="1"/>
          </p:cNvSpPr>
          <p:nvPr/>
        </p:nvSpPr>
        <p:spPr>
          <a:xfrm>
            <a:off x="8143875" y="5819775"/>
            <a:ext cx="3648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 u="sng">
                <a:solidFill>
                  <a:srgbClr val="236CCB"/>
                </a:solidFill>
                <a:latin typeface="Noto Sans CJK KR"/>
                <a:ea typeface="Noto Sans CJK KR"/>
                <a:cs typeface="Noto Sans CJK KR"/>
                <a:hlinkClick r:id="rId5"/>
              </a:rPr>
              <a:t>[C] 저자 공식 코드</a:t>
            </a:r>
          </a:p>
        </p:txBody>
      </p:sp>
      <p:sp>
        <p:nvSpPr>
          <p:cNvPr id="9" name="idf-sequence-text-126">
            <a:extLst>
              <a:ext uri="{FF2B5EF4-FFF2-40B4-BE49-F238E27FC236}">
                <a16:creationId xmlns:a16="http://schemas.microsoft.com/office/drawing/2014/main" id="{ACD4E908-7ECC-4960-AA69-6FB5CDB6ED50}"/>
              </a:ext>
            </a:extLst>
          </p:cNvPr>
          <p:cNvSpPr>
            <a:spLocks noGrp="1"/>
          </p:cNvSpPr>
          <p:nvPr/>
        </p:nvSpPr>
        <p:spPr>
          <a:xfrm>
            <a:off x="11334750" y="6353175"/>
            <a:ext cx="457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11" name="idf-polish-37">
            <a:extLst>
              <a:ext uri="{FF2B5EF4-FFF2-40B4-BE49-F238E27FC236}">
                <a16:creationId xmlns:a16="http://schemas.microsoft.com/office/drawing/2014/main" id="{0E5C7F39-F14A-44C0-9186-F50574DDDB3D}"/>
              </a:ext>
            </a:extLst>
          </p:cNvPr>
          <p:cNvSpPr>
            <a:spLocks noGrp="1"/>
          </p:cNvSpPr>
          <p:nvPr/>
        </p:nvSpPr>
        <p:spPr>
          <a:xfrm>
            <a:off x="400050" y="63531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535860"/>
                </a:solidFill>
                <a:latin typeface="Noto Sans CJK KR"/>
                <a:ea typeface="Noto Sans CJK KR"/>
                <a:cs typeface="Noto Sans CJK KR"/>
              </a:rPr>
              <a:t>[L] 컴퓨터비전 3주차 Linear Filters 강의자료</a:t>
            </a:r>
          </a:p>
        </p:txBody>
      </p:sp>
    </p:spTree>
    <p:extLst>
      <p:ext uri="{BB962C8B-B14F-4D97-AF65-F5344CB8AC3E}">
        <p14:creationId xmlns:p14="http://schemas.microsoft.com/office/powerpoint/2010/main" val="156129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1208</Words>
  <Application>Microsoft Office PowerPoint</Application>
  <DocSecurity>0</DocSecurity>
  <PresentationFormat>와이드스크린</PresentationFormat>
  <Paragraphs>219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Noto Sans CJK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김학성</cp:lastModifiedBy>
  <cp:revision>3</cp:revision>
  <dcterms:created xsi:type="dcterms:W3CDTF">2026-09-16T06:08:30Z</dcterms:created>
  <dcterms:modified xsi:type="dcterms:W3CDTF">2026-09-16T07:14:21Z</dcterms:modified>
</cp:coreProperties>
</file>