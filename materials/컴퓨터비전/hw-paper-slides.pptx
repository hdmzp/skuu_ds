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2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7280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6B7280"/>
                </a:solidFill>
                <a:latin typeface="Malgun Gothic"/>
              </a:rPr>
              <a:t>PCK@0.10 (All)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기존 방법</c:v>
                </c:pt>
              </c:strCache>
            </c:strRef>
          </c:tx>
          <c:spPr>
            <a:solidFill>
              <a:srgbClr val="B8BFCC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ASIC (기존 비지도 최고)</c:v>
                  </c:pt>
                  <c:pt idx="1">
                    <c:v>DINOv1</c:v>
                  </c:pt>
                  <c:pt idx="2">
                    <c:v>DINOv2</c:v>
                  </c:pt>
                  <c:pt idx="3">
                    <c:v>SD (제안)</c:v>
                  </c:pt>
                  <c:pt idx="4">
                    <c:v>Fuse (제안)</c:v>
                  </c:pt>
                  <c:pt idx="5">
                    <c:v>CATs++ (기존 지도 최고)</c:v>
                  </c:pt>
                  <c:pt idx="6">
                    <c:v>Fuse † (제안)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36.9</c:v>
                </c:pt>
                <c:pt idx="1">
                  <c:v>33.3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59.9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DINOv2</c:v>
                </c:pt>
              </c:strCache>
            </c:strRef>
          </c:tx>
          <c:spPr>
            <a:solidFill>
              <a:srgbClr val="2F5BD3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ASIC (기존 비지도 최고)</c:v>
                  </c:pt>
                  <c:pt idx="1">
                    <c:v>DINOv1</c:v>
                  </c:pt>
                  <c:pt idx="2">
                    <c:v>DINOv2</c:v>
                  </c:pt>
                  <c:pt idx="3">
                    <c:v>SD (제안)</c:v>
                  </c:pt>
                  <c:pt idx="4">
                    <c:v>Fuse (제안)</c:v>
                  </c:pt>
                  <c:pt idx="5">
                    <c:v>CATs++ (기존 지도 최고)</c:v>
                  </c:pt>
                  <c:pt idx="6">
                    <c:v>Fuse † (제안)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55.6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SD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ASIC (기존 비지도 최고)</c:v>
                  </c:pt>
                  <c:pt idx="1">
                    <c:v>DINOv1</c:v>
                  </c:pt>
                  <c:pt idx="2">
                    <c:v>DINOv2</c:v>
                  </c:pt>
                  <c:pt idx="3">
                    <c:v>SD (제안)</c:v>
                  </c:pt>
                  <c:pt idx="4">
                    <c:v>Fuse (제안)</c:v>
                  </c:pt>
                  <c:pt idx="5">
                    <c:v>CATs++ (기존 지도 최고)</c:v>
                  </c:pt>
                  <c:pt idx="6">
                    <c:v>Fuse † (제안)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57.2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Fuse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ASIC (기존 비지도 최고)</c:v>
                  </c:pt>
                  <c:pt idx="1">
                    <c:v>DINOv1</c:v>
                  </c:pt>
                  <c:pt idx="2">
                    <c:v>DINOv2</c:v>
                  </c:pt>
                  <c:pt idx="3">
                    <c:v>SD (제안)</c:v>
                  </c:pt>
                  <c:pt idx="4">
                    <c:v>Fuse (제안)</c:v>
                  </c:pt>
                  <c:pt idx="5">
                    <c:v>CATs++ (기존 지도 최고)</c:v>
                  </c:pt>
                  <c:pt idx="6">
                    <c:v>Fuse † (제안)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64</c:v>
                </c:pt>
                <c:pt idx="5">
                  <c:v>0</c:v>
                </c:pt>
                <c:pt idx="6">
                  <c:v>74.6</c:v>
                </c:pt>
              </c:numCache>
            </c:numRef>
          </c:val>
        </c:ser>
        <c:dLbls>
          <c:numFmt formatCode="0.0;;;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B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7280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6B7280"/>
                </a:solidFill>
                <a:latin typeface="Malgun Gothic"/>
              </a:rPr>
              <a:t>SPair-71k, PCK@0.10 결과 분포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SPair-71k PCK@0.10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bubble3D val="0"/>
            <c:spPr>
              <a:solidFill>
                <a:srgbClr val="B8BFCC"/>
              </a:solidFill>
              <a:effectLst/>
            </c:spPr>
          </c:dPt>
          <c:dPt>
            <c:idx val="2"/>
            <c:bubble3D val="0"/>
            <c:spPr>
              <a:solidFill>
                <a:srgbClr val="E8590C"/>
              </a:solidFill>
              <a:effectLst/>
            </c:spPr>
          </c:dPt>
          <c:dPt>
            <c:idx val="3"/>
            <c:bubble3D val="0"/>
            <c:spPr>
              <a:solidFill>
                <a:srgbClr val="2F5BD3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둘 다 정답</c:v>
                </c:pt>
                <c:pt idx="1">
                  <c:v>둘 다 실패</c:v>
                </c:pt>
                <c:pt idx="2">
                  <c:v>SD만 정답</c:v>
                </c:pt>
                <c:pt idx="3">
                  <c:v>DINO만 정답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39.7</c:v>
                </c:pt>
                <c:pt idx="1">
                  <c:v>29.2</c:v>
                </c:pt>
                <c:pt idx="2">
                  <c:v>15.3</c:v>
                </c:pt>
                <c:pt idx="3">
                  <c:v>15.8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300">
              <a:solidFill>
                <a:srgbClr val="1B1F2B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[멘트] 오늘 발표할 논문은 NeurIPS 2023의 'A Tale of Two Features'입니다. 오른쪽 그림처럼 고양이 한 마리를 기준으로 개, 말, 소, 심지어 오토바이까지 '같은 부위'를 연결합니다. 이걸 이미지 생성 AI의 내부 숫자로 해냈다는 게 이 논문의 이야기입니다.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[핵심] 강의 흐름 Detection → Descriptor → Matching 중 이 논문은 Descriptor 설계에 해당합니다.
[멘트] 지난주까지 '어디가 특징점인가'를 배웠다면, 오늘은 '그 점을 어떤 숫자로 표현할까'입니다. 발표는 다섯 파트로 진행하고, 제안 방법(Part 3)에 가장 많은 시간을 쓰겠습니다.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[핵심] 비슷한 벡터 = 비슷하게 생긴 곳이 되도록 만드는 게 Descriptor 설계입니다.
[멘트] Detector는 '어디'를, Descriptor는 '어떻게 생겼나'를 답합니다. 두 사진을 비교할 땐 이 묘사 벡터끼리 거리를 재서 같은 곳인지 판단합니다.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[핵심] 대부분 하나를 골라 통째로 쓰는 완결형 파이프라인이고, 엣지·코너 같은 저수준 패턴을 봅니다.
[멘트] 강의에서 다룬 SIFT가 대표적입니다. 이들은 사람이 공식을 직접 설계했고, 보통 하나만 골라 씁니다. 이 '저수준 패턴'이라는 점이 뒤에서 한계로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[핵심] 서술자 전용 설계 → 학습 → 다른 목적으로 학습된 모델의 재활용.
[멘트] 이 논문은 4단계, 원래 이미지 생성용인 모델까지 서술자로 가져와 DINO와 합친 최신 단계입니다.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[핵심] SIFT로는 못 푸는 문제라서 딥러닝 특징이 필요합니다.
[멘트] 오른쪽 그림에서 고양이와 오토바이는 픽셀 패턴이 전혀 다르지만, 머리는 머리끼리, 다리는 다리끼리 연결되어야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[핵심] DINO = 라벨 없이 스스로 학습해 물체를 잘 이해하게 된 모델, v2는 그걸 크게 키운 버전.
[멘트] ViT는 이미지를 패치 단위 토큰으로 다루기 때문에, 각 패치의 벡터를 그 위치의 서술자로 바로 쓸 수 있습니다. 그런데 v2를 대응 작업에 써 본 사람은 아직 없었습니다.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[핵심] 이미지를 만들 수 있다면, 이미지를 이해하고 있을 것이다.
[멘트] SD 안의 U-Net은 노이즈를 예측해 지우는 역할을 합니다. 이 논문은 최종 이미지가 아니라, U-Net 디코더(주황색) 중간 층의 값을 꺼내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[핵심] 서술자 전용 공식 없이, 다른 목적으로 만든 모델의 부산물을 그대로 서술자로 씁니다.
[멘트] SIFT는 서술자용 공식이 따로 있었지만, 이 논문은 이미지 생성 과정에서 스쳐 지나가는 중간값을 몰래 꺼내서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[핵심] 이미지를 넣고, 노이즈를 조금 섞고, U-Net 중간값을 꺼냅니다.
[예상 질문] 왜 노이즈를 섞나? → U-Net은 원래 노이즈 낀 입력을 받도록 학습되어서, 적당한 노이즈(t=100)가 있어야 정상적인 특징이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[핵심] 층마다 담긴 정보가 달라서, 의미(앞쪽 층)와 디테일(뒤쪽 층)을 섞어 씁니다.
[멘트] 위쪽 PCA 그림에서 레이어 2는 뭉툭하지만 바퀴·좌석 같은 부위가 색으로 나뉘고, 레이어 11은 질감 위주입니다. 마지막 열 2+5+8이 둘의 균형입니다.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[핵심] 소스·타겟을 한 번에 PCA해서 같은 좌표계에서 비교합니다.
[멘트] 레이어별로 PCA를 따로 한 뒤 같은 해상도로 올려서 이어붙입니다. 결과적으로 SD 쪽 서술자는 약 256차원이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[핵심] 모델이 바뀌면 서술자로 쓸 위치도 다시 찾아야 합니다.
[멘트] 같은 DINO 계열이어도 v1은 앞쪽 층 Key, v2는 마지막 층 Token이 가장 좋았습니다. 그리고 v2가 v1보다 전반적으로 훨씬 높습니다.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[핵심] DINO는 정확하지만 듬성듬성, SD는 부드럽지만 가끔 틀립니다.
[멘트] 왼쪽 아래 버스 마스크처럼 질감이 없으면 DINOv2는 무너지지만, SD는 앞·뒤 구조를 잡아냅니다. 반대로 오른쪽 위 사람 예시에서는 DINO가 허벅지를 더 정확히 맞힙니다. 네 번째 열 Fused가 둘의 장점을 합친 결과입니다.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[핵심] 서로 약점이 다르다 → 합치면 되지 않을까?
[멘트] 흐름의 1차 차분은 이웃 픽셀끼리 이동 방향이 얼마나 급하게 바뀌는지를 봅니다. DINOv2는 10.15로 들쭉날쭉하고, SD는 5.90으로 거의 절반입니다. 융합하면 SD 수준의 매끄러움(5.96)을 유지합니다.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[핵심] 학습 0, 신경망 추가 0. 정규화와 이어붙이기가 전부입니다.
[예상 질문] 왜 더하지 않고 이어붙이나? → 차원이 다르고(256 vs 768), 더하면 서로 다른 의미의 축이 섞입니다. 이어붙이면 각자의 정보가 보존됩니다.
[예상 질문] L2 정규화를 안 하면? → 벡터 크기가 큰 쪽이 거리 계산을 독점해서 융합 효과가 사라집니다.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[핵심] 좋은 서술자만 있으면 매칭은 가장 가까운 벡터 찾기로 충분합니다.
[예상 질문] Zero-shot인데 왜 Supervised 결과도 있나? → 학습 데이터가 있을 때 얇은 층 하나만 더 학습하면 얼마나 오르는지(74.6) 보여주기 위함입니다.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[멘트] 세 데이터셋 중 SPair-71k가 가장 어렵고 규모도 큽니다. 지표 PCK는 예측점이 정답 근처(물체 크기의 10%)에 들어온 비율입니다.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[핵심] 학습도 안 했는데 학습한 방법들을 이겼습니다.
[멘트] DINOv2 단독 55.6, SD 단독 57.2인데 둘을 합치면 64.0으로 8.4p 오릅니다. 이는 기존 지도학습 최고인 CATs++(59.9)보다도 높습니다. 얇은 층 하나만 학습하면 74.6까지 올라갑니다.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[핵심] 융합이 효과 있는 이유를 숫자로 증명합니다.
[멘트] 약 31%의 경우 한쪽만 맞힙니다. 두 서술자가 같은 정보를 담았다면 이 비율은 작았을 것입니다. PF-Pascal과 TSS에서도 융합이 DINOv2 단독보다 각각 8.8p, 7.7p 높습니다.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[핵심] 좋은 서술자는 매칭을 넘어 이미지 편집까지 가능하게 합니다.
[멘트] 대응을 알면 한 이미지의 고양이를 다른 이미지 고양이의 자세 그대로 옮겨 놓을 수 있습니다. 오른쪽 위 예시처럼 융합 특징이 줄무늬까지 잘 보존하고, 세 지표 모두 융합이 가장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[멘트] 가장 큰 한계는 해상도와 비용입니다. 또 α를 모든 곳에 0.5로 고정했고, 두 특징이 왜 다르게 행동하는지는 가설 수준에서 멈췄습니다.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[핵심] 정확하지만 듬성듬성한 DINO + 부드럽지만 가끔 틀리는 SD → 정규화해서 이어붙이기만 해도 SOTA.
[멘트] 세 줄로 정리하면 이렇습니다. 그리고 이 논문이 보여 준 건, 매칭 알고리즘을 복잡하게 만드는 것보다 서술자를 잘 고르는 게 더 중요하다는 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[멘트] 발전 방향 중 3번 기하 인식은 같은 1저자가 CVPR 2024에서 직접 다뤘습니다. 마지막으로 여러분께 질문 드리고 싶습니다. 딥러닝 서술자가 이렇게 강력하다면 SIFT 같은 설계형 서술자는 이제 필요 없을까요? 실시간 시스템에서는 어떨까요?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sd-complements-dino.github.io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3749040" cy="3474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85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NeurIPS 2023  ·  컴퓨터비전 논문발표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Tale of Two Features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CF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Stable Diffusion Complements DINO for Zero-Shot Semantic Correspondence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특징 이야기: 생성모델(SD)이 DINO의 빈틈을 메운다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03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1C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Junyi Zhang, Charles Herrmann, Junhwa Hur, Luisa F. Polanía,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1C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Varun Jampani, Deqing Sun, Ming-Hsuan Yang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Shanghai Jiao Tong Univ.  ·  Google Research  ·  UC Merced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20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  박민지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5080" y="914400"/>
            <a:ext cx="530352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0" descr="C:\Users\mj204\AppData\Local\Temp\claude\C--Users-mj204-OneDrive-------26-2--\3338f8d3-c172-47f2-bc5f-292482eb8ff8\scratchpad\img\Figur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005840"/>
            <a:ext cx="5120640" cy="2561601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355080" y="40690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“생성 AI 모델 속 숫자로,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두 장의 ‘같은 부위’를 찾을 수 있을까?”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0" y="6446520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93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Zhang et al., NeurIPS 2023, Fig.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논문은 강의 흐름의 어디에 있나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3017520" cy="1051560"/>
          </a:xfrm>
          <a:prstGeom prst="roundRect">
            <a:avLst>
              <a:gd name="adj" fmla="val 10435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Feature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Detection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931920" y="2130552"/>
            <a:ext cx="548640" cy="914"/>
          </a:xfrm>
          <a:prstGeom prst="line">
            <a:avLst/>
          </a:prstGeom>
          <a:noFill/>
          <a:ln w="317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72000" y="1600200"/>
            <a:ext cx="3017520" cy="1051560"/>
          </a:xfrm>
          <a:prstGeom prst="roundRect">
            <a:avLst>
              <a:gd name="adj" fmla="val 1043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6002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Descriptors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80960" y="2130552"/>
            <a:ext cx="548640" cy="914"/>
          </a:xfrm>
          <a:prstGeom prst="line">
            <a:avLst/>
          </a:prstGeom>
          <a:noFill/>
          <a:ln w="317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321040" y="1600200"/>
            <a:ext cx="3017520" cy="1051560"/>
          </a:xfrm>
          <a:prstGeom prst="roundRect">
            <a:avLst>
              <a:gd name="adj" fmla="val 10435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Matching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&amp; Homography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0" y="123444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0" y="12344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주차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9718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논문은 </a:t>
            </a:r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‘어떤 벡터로 픽셀을 묘사할 것인가’</a:t>
            </a:r>
            <a:pPr algn="ctr" indent="0" marL="0">
              <a:buNone/>
            </a:pPr>
            <a:r>
              <a:rPr lang="en-US" sz="18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즉 Descriptor 설계에 관한 논문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2066544" cy="1691640"/>
          </a:xfrm>
          <a:prstGeom prst="roundRect">
            <a:avLst>
              <a:gd name="adj" fmla="val 6486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977640"/>
            <a:ext cx="457200" cy="457200"/>
          </a:xfrm>
          <a:prstGeom prst="ellipse">
            <a:avLst/>
          </a:prstGeom>
          <a:solidFill>
            <a:srgbClr val="1B1F2B"/>
          </a:solidFill>
          <a:ln w="12700">
            <a:solidFill>
              <a:srgbClr val="1B1F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0507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5902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95604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Descriptor란?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803550" y="3794760"/>
            <a:ext cx="2066544" cy="1691640"/>
          </a:xfrm>
          <a:prstGeom prst="roundRect">
            <a:avLst>
              <a:gd name="adj" fmla="val 6486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32150" y="3977640"/>
            <a:ext cx="457200" cy="457200"/>
          </a:xfrm>
          <a:prstGeom prst="ellipse">
            <a:avLst/>
          </a:prstGeom>
          <a:solidFill>
            <a:srgbClr val="1B1F2B"/>
          </a:solidFill>
          <a:ln w="12700">
            <a:solidFill>
              <a:srgbClr val="1B1F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03215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3580790" y="40507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032150" y="45902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주인공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3032150" y="495604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DINO와 SD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58461" y="3794760"/>
            <a:ext cx="2066544" cy="1691640"/>
          </a:xfrm>
          <a:prstGeom prst="roundRect">
            <a:avLst>
              <a:gd name="adj" fmla="val 6486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87061" y="397764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287061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835701" y="40507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287061" y="45902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방법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5287061" y="495604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 · 분석 · 융합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13371" y="3794760"/>
            <a:ext cx="2066544" cy="1691640"/>
          </a:xfrm>
          <a:prstGeom prst="roundRect">
            <a:avLst>
              <a:gd name="adj" fmla="val 6486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41971" y="3977640"/>
            <a:ext cx="457200" cy="457200"/>
          </a:xfrm>
          <a:prstGeom prst="ellipse">
            <a:avLst/>
          </a:prstGeom>
          <a:solidFill>
            <a:srgbClr val="1B1F2B"/>
          </a:solidFill>
          <a:ln w="12700">
            <a:solidFill>
              <a:srgbClr val="1B1F2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541971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090611" y="40507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541971" y="45902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결과</a:t>
            </a:r>
            <a:endParaRPr lang="en-US" sz="1700" dirty="0"/>
          </a:p>
        </p:txBody>
      </p:sp>
      <p:sp>
        <p:nvSpPr>
          <p:cNvPr id="39" name="Text 37"/>
          <p:cNvSpPr txBox="1"/>
          <p:nvPr/>
        </p:nvSpPr>
        <p:spPr>
          <a:xfrm>
            <a:off x="7541971" y="495604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벤치마크 · 응용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568282" y="3794760"/>
            <a:ext cx="2066544" cy="1691640"/>
          </a:xfrm>
          <a:prstGeom prst="roundRect">
            <a:avLst>
              <a:gd name="adj" fmla="val 6486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96882" y="3977640"/>
            <a:ext cx="457200" cy="457200"/>
          </a:xfrm>
          <a:prstGeom prst="ellipse">
            <a:avLst/>
          </a:prstGeom>
          <a:solidFill>
            <a:srgbClr val="1B1F2B"/>
          </a:solidFill>
          <a:ln w="12700">
            <a:solidFill>
              <a:srgbClr val="1B1F2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796882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10345522" y="40507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9796882" y="45902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700" dirty="0"/>
          </a:p>
        </p:txBody>
      </p:sp>
      <p:sp>
        <p:nvSpPr>
          <p:cNvPr id="45" name="Text 43"/>
          <p:cNvSpPr txBox="1"/>
          <p:nvPr/>
        </p:nvSpPr>
        <p:spPr>
          <a:xfrm>
            <a:off x="9796882" y="495604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· 발전방향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48640" y="5870448"/>
            <a:ext cx="11094415" cy="475488"/>
          </a:xfrm>
          <a:prstGeom prst="roundRect">
            <a:avLst>
              <a:gd name="adj" fmla="val 15385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77240" y="5870448"/>
            <a:ext cx="106372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</a:t>
            </a:r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관통 메시지: 정확한 DINO + 부드러운 SD → 이어붙이기만 해도 SOTA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배경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Detector vs Descriptor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2697480"/>
          </a:xfrm>
          <a:prstGeom prst="roundRect">
            <a:avLst>
              <a:gd name="adj" fmla="val 4068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645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Detector (검출기)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“어디가 특징적인 점인가?”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97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출력: 좌표 목록  (x₁, y₁), (x₂, y₂) …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004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비유: 지도에서 랜드마크 찾기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394960" cy="2697480"/>
          </a:xfrm>
          <a:prstGeom prst="roundRect">
            <a:avLst>
              <a:gd name="adj" fmla="val 4068"/>
            </a:avLst>
          </a:prstGeom>
          <a:solidFill>
            <a:srgbClr val="EFE7FD"/>
          </a:solidFill>
          <a:ln w="12700">
            <a:solidFill>
              <a:srgbClr val="EFE7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1645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Descriptor (서술자)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“그 점은 어떻게 생겼는가?”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697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출력: 숫자 벡터  [0.2, 0.8, 0.1, …]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2004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비유: 랜드마크 묘사문 쓰기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(“갈색 벽돌 8층, 앞에 시계탑”)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89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활용처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828800" y="4315968"/>
            <a:ext cx="512064" cy="512064"/>
          </a:xfrm>
          <a:prstGeom prst="ellipse">
            <a:avLst/>
          </a:prstGeom>
          <a:solidFill>
            <a:srgbClr val="1B1F2B"/>
          </a:solidFill>
          <a:ln w="12700">
            <a:solidFill>
              <a:srgbClr val="1B1F2B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6816" y="4443984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2468880" y="431596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파노라마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343400" y="4315968"/>
            <a:ext cx="512064" cy="512064"/>
          </a:xfrm>
          <a:prstGeom prst="ellipse">
            <a:avLst/>
          </a:prstGeom>
          <a:solidFill>
            <a:srgbClr val="1B1F2B"/>
          </a:solidFill>
          <a:ln w="12700">
            <a:solidFill>
              <a:srgbClr val="1B1F2B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4443984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983480" y="431596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재구성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6858000" y="4315968"/>
            <a:ext cx="512064" cy="512064"/>
          </a:xfrm>
          <a:prstGeom prst="ellipse">
            <a:avLst/>
          </a:prstGeom>
          <a:solidFill>
            <a:srgbClr val="1B1F2B"/>
          </a:solidFill>
          <a:ln w="12700">
            <a:solidFill>
              <a:srgbClr val="1B1F2B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016" y="4443984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498080" y="431596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SLAM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9372600" y="4315968"/>
            <a:ext cx="512064" cy="512064"/>
          </a:xfrm>
          <a:prstGeom prst="ellipse">
            <a:avLst/>
          </a:prstGeom>
          <a:solidFill>
            <a:srgbClr val="1B1F2B"/>
          </a:solidFill>
          <a:ln w="12700">
            <a:solidFill>
              <a:srgbClr val="1B1F2B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616" y="4443984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0012680" y="431596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검색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6858000" y="4892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SLAM (Simultaneous Localization and Mapping)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48640" y="5870448"/>
            <a:ext cx="11094415" cy="475488"/>
          </a:xfrm>
          <a:prstGeom prst="roundRect">
            <a:avLst>
              <a:gd name="adj" fmla="val 15385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77240" y="5870448"/>
            <a:ext cx="106372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</a:t>
            </a:r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“비슷한 벡터 = 비슷하게 생긴 곳”이 되도록 만드는 것이 Descriptor 설계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배경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전통적 서술자: 사람이 수식으로 설계한 시대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097280"/>
                <a:gridCol w="642823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연도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아이디어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SIFT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Scale-Invariant Feature Transform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1999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그래디언트 방향 히스토그램, 128차원, 크기·회전 불변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SURF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Speeded-Up Robust Features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2006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Haar wavelet + 적분 이미지로 SIFT를 빠르게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HOG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Histogram of Oriented Gradients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2005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윈도우 전체를 격자로 나눠 히스토그램 → 보행자 검출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ORB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Oriented FAST and Rotated BRIEF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2011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0/1 비트열 서술자, 매우 빠름 (실시간·SLAM)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89204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 (Features from Accelerated Segment Test)   ·   BRIEF (Binary Robust Independent Elementary Features)   ·   DoG (Difference of Gaussians, SIFT의 검출 단계)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5870448"/>
            <a:ext cx="11094415" cy="475488"/>
          </a:xfrm>
          <a:prstGeom prst="roundRect">
            <a:avLst>
              <a:gd name="adj" fmla="val 15385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5870448"/>
            <a:ext cx="106372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</a:t>
            </a:r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 하나를 골라 통째로 쓰는 완결형 파이프라인, 저수준 패턴(엣지·코너) 중심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배경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서술자의 발전 흐름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737360" y="2148840"/>
            <a:ext cx="8716975" cy="0"/>
          </a:xfrm>
          <a:prstGeom prst="line">
            <a:avLst/>
          </a:prstGeom>
          <a:noFill/>
          <a:ln w="38100">
            <a:solidFill>
              <a:srgbClr val="D9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783080"/>
            <a:ext cx="731520" cy="731520"/>
          </a:xfrm>
          <a:prstGeom prst="ellipse">
            <a:avLst/>
          </a:prstGeom>
          <a:solidFill>
            <a:srgbClr val="1B1F2B"/>
          </a:solidFill>
          <a:ln w="12700">
            <a:solidFill>
              <a:srgbClr val="1B1F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~2011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91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수식 설계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069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SIFT · SURF · ORB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77258" y="1783080"/>
            <a:ext cx="731520" cy="731520"/>
          </a:xfrm>
          <a:prstGeom prst="ellipse">
            <a:avLst/>
          </a:prstGeom>
          <a:solidFill>
            <a:srgbClr val="1B1F2B"/>
          </a:solidFill>
          <a:ln w="12700">
            <a:solidFill>
              <a:srgbClr val="1B1F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77258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362858" y="278892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62858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2016~2020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454298" y="3291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CNN으로 직접 학습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500018" y="4069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LIFT · D2-Net · SuperGlue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82917" y="1783080"/>
            <a:ext cx="731520" cy="731520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82917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268517" y="278892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68517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2021~2022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359957" y="3291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자기지도 모델 재활용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5677" y="4069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DINO 특징을 서술자로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088575" y="178308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88575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174175" y="278892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EFE7FD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74175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265615" y="3291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생성모델 재활용 + 융합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311335" y="4069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논문 (SD + DINOv2)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3362858" y="4983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CNN (Convolutional Neural Network)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5870448"/>
            <a:ext cx="11094415" cy="475488"/>
          </a:xfrm>
          <a:prstGeom prst="roundRect">
            <a:avLst>
              <a:gd name="adj" fmla="val 15385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5870448"/>
            <a:ext cx="106372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</a:t>
            </a:r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서술자 전용 설계 → 학습 → 다른 목적으로 학습된 모델의 재활용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배경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정의: Semantic Correspondence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480560" cy="1325880"/>
          </a:xfrm>
          <a:prstGeom prst="roundRect">
            <a:avLst>
              <a:gd name="adj" fmla="val 8276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매칭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116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물체, 다른 시점 → SIFT의 영역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480560" cy="1325880"/>
          </a:xfrm>
          <a:prstGeom prst="roundRect">
            <a:avLst>
              <a:gd name="adj" fmla="val 8276"/>
            </a:avLst>
          </a:prstGeom>
          <a:solidFill>
            <a:srgbClr val="EFE7FD"/>
          </a:solidFill>
          <a:ln w="12700">
            <a:solidFill>
              <a:srgbClr val="EFE7F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063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Semantic Correspondence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747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물체, 같은 의미의 부위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고양이 귀 ↔ 남의 고양이 귀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4348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어렵나?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외형·자세·모양이 모두 달라 저수준 패턴만으로는 불가능 → ‘의미’를 아는 서술자가 필요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67528" y="1481328"/>
            <a:ext cx="6272784" cy="3211076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3"/>
            </a:solidFill>
            <a:prstDash val="solid"/>
          </a:ln>
        </p:spPr>
      </p:sp>
      <p:pic>
        <p:nvPicPr>
          <p:cNvPr id="13" name="Image 0" descr="C:\Users\mj204\AppData\Local\Temp\claude\C--Users-mj204-OneDrive-------26-2--\3338f8d3-c172-47f2-bc5f-292482eb8ff8\scratchpad\img\Figur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554480"/>
            <a:ext cx="6126480" cy="306477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486400" y="6446520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Zhang et al., NeurIPS 2023, Fig. 1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8640" y="5870448"/>
            <a:ext cx="11094415" cy="475488"/>
          </a:xfrm>
          <a:prstGeom prst="roundRect">
            <a:avLst>
              <a:gd name="adj" fmla="val 15385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5870448"/>
            <a:ext cx="106372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</a:t>
            </a:r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SIFT로는 못 푸는 문제라 딥러닝 특징이 필요하다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5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두 주인공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주인공 1: DINOv2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DINO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4996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self-DIstillation with NO labels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20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라벨 없이, 같은 사진의 두 변형이 비슷한 출력을 내도록 학습하는 자기지도학습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1B1F2B"/>
          </a:solidFill>
          <a:ln w="12700">
            <a:solidFill>
              <a:srgbClr val="1B1F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889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28254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Vision Transformer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461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이미지를 패치로 잘라 토큰처럼 처리 → 패치마다 벡터 하나 = 그대로 dense descriptor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1148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→ v2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262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방법은 비슷하고 데이터·모델 규모를 키운 버전. 단, v2는 대응(correspondence) 작업에서 검증된 적이 없었다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26480" y="1463040"/>
            <a:ext cx="5440680" cy="3931920"/>
          </a:xfrm>
          <a:prstGeom prst="roundRect">
            <a:avLst>
              <a:gd name="adj" fmla="val 2791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1965960"/>
            <a:ext cx="566928" cy="566928"/>
          </a:xfrm>
          <a:prstGeom prst="rect">
            <a:avLst/>
          </a:prstGeom>
          <a:solidFill>
            <a:srgbClr val="C9D6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67728" y="1965960"/>
            <a:ext cx="566928" cy="566928"/>
          </a:xfrm>
          <a:prstGeom prst="rect">
            <a:avLst/>
          </a:prstGeom>
          <a:solidFill>
            <a:srgbClr val="A9BE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34656" y="1965960"/>
            <a:ext cx="566928" cy="566928"/>
          </a:xfrm>
          <a:prstGeom prst="rect">
            <a:avLst/>
          </a:prstGeom>
          <a:solidFill>
            <a:srgbClr val="DCE4F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01584" y="1965960"/>
            <a:ext cx="566928" cy="566928"/>
          </a:xfrm>
          <a:prstGeom prst="rect">
            <a:avLst/>
          </a:prstGeom>
          <a:solidFill>
            <a:srgbClr val="8FA9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2532888"/>
            <a:ext cx="566928" cy="566928"/>
          </a:xfrm>
          <a:prstGeom prst="rect">
            <a:avLst/>
          </a:prstGeom>
          <a:solidFill>
            <a:srgbClr val="8FA9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67728" y="2532888"/>
            <a:ext cx="566928" cy="566928"/>
          </a:xfrm>
          <a:prstGeom prst="rect">
            <a:avLst/>
          </a:prstGeom>
          <a:solidFill>
            <a:srgbClr val="C9D6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34656" y="2532888"/>
            <a:ext cx="566928" cy="566928"/>
          </a:xfrm>
          <a:prstGeom prst="rect">
            <a:avLst/>
          </a:prstGeom>
          <a:solidFill>
            <a:srgbClr val="A9BE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01584" y="2532888"/>
            <a:ext cx="566928" cy="566928"/>
          </a:xfrm>
          <a:prstGeom prst="rect">
            <a:avLst/>
          </a:prstGeom>
          <a:solidFill>
            <a:srgbClr val="DCE4F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099816"/>
            <a:ext cx="566928" cy="566928"/>
          </a:xfrm>
          <a:prstGeom prst="rect">
            <a:avLst/>
          </a:prstGeom>
          <a:solidFill>
            <a:srgbClr val="DCE4F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67728" y="3099816"/>
            <a:ext cx="566928" cy="566928"/>
          </a:xfrm>
          <a:prstGeom prst="rect">
            <a:avLst/>
          </a:prstGeom>
          <a:solidFill>
            <a:srgbClr val="8FA9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34656" y="3099816"/>
            <a:ext cx="566928" cy="566928"/>
          </a:xfrm>
          <a:prstGeom prst="rect">
            <a:avLst/>
          </a:prstGeom>
          <a:solidFill>
            <a:srgbClr val="C9D6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01584" y="3099816"/>
            <a:ext cx="566928" cy="566928"/>
          </a:xfrm>
          <a:prstGeom prst="rect">
            <a:avLst/>
          </a:prstGeom>
          <a:solidFill>
            <a:srgbClr val="A9BE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3666744"/>
            <a:ext cx="566928" cy="566928"/>
          </a:xfrm>
          <a:prstGeom prst="rect">
            <a:avLst/>
          </a:prstGeom>
          <a:solidFill>
            <a:srgbClr val="A9BE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67728" y="3666744"/>
            <a:ext cx="566928" cy="566928"/>
          </a:xfrm>
          <a:prstGeom prst="rect">
            <a:avLst/>
          </a:prstGeom>
          <a:solidFill>
            <a:srgbClr val="DCE4F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34656" y="3666744"/>
            <a:ext cx="566928" cy="566928"/>
          </a:xfrm>
          <a:prstGeom prst="rect">
            <a:avLst/>
          </a:prstGeom>
          <a:solidFill>
            <a:srgbClr val="8FA9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01584" y="3666744"/>
            <a:ext cx="566928" cy="566928"/>
          </a:xfrm>
          <a:prstGeom prst="rect">
            <a:avLst/>
          </a:prstGeom>
          <a:solidFill>
            <a:srgbClr val="C9D6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0" y="432511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패치로 분할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805672" y="3108960"/>
            <a:ext cx="731520" cy="914"/>
          </a:xfrm>
          <a:prstGeom prst="line">
            <a:avLst/>
          </a:prstGeom>
          <a:noFill/>
          <a:ln w="31750">
            <a:solidFill>
              <a:srgbClr val="2F5BD3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8805672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720072" y="2011680"/>
            <a:ext cx="1463040" cy="237744"/>
          </a:xfrm>
          <a:prstGeom prst="rect">
            <a:avLst/>
          </a:prstGeom>
          <a:solidFill>
            <a:srgbClr val="2F5B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20072" y="2377440"/>
            <a:ext cx="1463040" cy="237744"/>
          </a:xfrm>
          <a:prstGeom prst="rect">
            <a:avLst/>
          </a:prstGeom>
          <a:solidFill>
            <a:srgbClr val="8FA9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20072" y="2743200"/>
            <a:ext cx="1463040" cy="237744"/>
          </a:xfrm>
          <a:prstGeom prst="rect">
            <a:avLst/>
          </a:prstGeom>
          <a:solidFill>
            <a:srgbClr val="2F5B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720072" y="3108960"/>
            <a:ext cx="1463040" cy="237744"/>
          </a:xfrm>
          <a:prstGeom prst="rect">
            <a:avLst/>
          </a:prstGeom>
          <a:solidFill>
            <a:srgbClr val="8FA9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20072" y="3474720"/>
            <a:ext cx="1463040" cy="237744"/>
          </a:xfrm>
          <a:prstGeom prst="rect">
            <a:avLst/>
          </a:prstGeom>
          <a:solidFill>
            <a:srgbClr val="2F5B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20072" y="3840480"/>
            <a:ext cx="1463040" cy="237744"/>
          </a:xfrm>
          <a:prstGeom prst="rect">
            <a:avLst/>
          </a:prstGeom>
          <a:solidFill>
            <a:srgbClr val="8FA9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720072" y="4206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5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⋮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48640" y="5870448"/>
            <a:ext cx="11094415" cy="475488"/>
          </a:xfrm>
          <a:prstGeom prst="roundRect">
            <a:avLst>
              <a:gd name="adj" fmla="val 15385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77240" y="5870448"/>
            <a:ext cx="106372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</a:t>
            </a:r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ViT는 이미지를 패치 벡터로 표현 → 그 벡터가 곧 위치별 서술자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9537192" y="4572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패치마다 벡터 1개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F5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위치별 서술자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두 주인공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주인공 2: Stable Diffusion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4996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Stable Diffusion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텍스트로 이미지를 생성하는 확산(diffusion) 모델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4688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원리  </a:t>
            </a:r>
            <a:pPr indent="0" marL="0">
              <a:buNone/>
            </a:pPr>
            <a:r>
              <a:rPr lang="en-US" sz="15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노이즈를 한 단계씩 제거하는 법을 학습 → 순수 노이즈에서 이미지 생성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375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U-Net  </a:t>
            </a:r>
            <a:pPr indent="0" marL="0">
              <a:buNone/>
            </a:pPr>
            <a:r>
              <a:rPr lang="en-US" sz="15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약어가 아니라 U자 모양 구조: 압축하는 인코더 + 복원하는 디코더 + 스킵 연결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키워드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177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DDPM (Denoising Diffusion Probabilistic Models)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8920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VQGAN (Vector-Quantized Generative Adversarial Network)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1463040"/>
            <a:ext cx="5879592" cy="4069080"/>
          </a:xfrm>
          <a:prstGeom prst="roundRect">
            <a:avLst>
              <a:gd name="adj" fmla="val 2697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1828800"/>
            <a:ext cx="777240" cy="640080"/>
          </a:xfrm>
          <a:prstGeom prst="roundRect">
            <a:avLst>
              <a:gd name="adj" fmla="val 8571"/>
            </a:avLst>
          </a:prstGeom>
          <a:solidFill>
            <a:srgbClr val="1B1F2B"/>
          </a:solidFill>
          <a:ln w="12700">
            <a:solidFill>
              <a:srgbClr val="1B1F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0" y="182880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2834640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0" y="28346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𝓔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852160" y="33101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인코더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27648" y="2487168"/>
            <a:ext cx="914" cy="329184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748272" y="3063240"/>
            <a:ext cx="246888" cy="914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040880" y="1828800"/>
            <a:ext cx="365760" cy="1463040"/>
          </a:xfrm>
          <a:prstGeom prst="roundRect">
            <a:avLst>
              <a:gd name="adj" fmla="val 15000"/>
            </a:avLst>
          </a:prstGeom>
          <a:solidFill>
            <a:srgbClr val="B8BFCC"/>
          </a:solidFill>
          <a:ln w="12700">
            <a:solidFill>
              <a:srgbClr val="B8BFC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40880" y="1828800"/>
            <a:ext cx="365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43800" y="2148840"/>
            <a:ext cx="365760" cy="1097280"/>
          </a:xfrm>
          <a:prstGeom prst="roundRect">
            <a:avLst>
              <a:gd name="adj" fmla="val 15000"/>
            </a:avLst>
          </a:prstGeom>
          <a:solidFill>
            <a:srgbClr val="B8BFCC"/>
          </a:solidFill>
          <a:ln w="12700">
            <a:solidFill>
              <a:srgbClr val="B8BFC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43800" y="2148840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46720" y="2468880"/>
            <a:ext cx="365760" cy="777240"/>
          </a:xfrm>
          <a:prstGeom prst="roundRect">
            <a:avLst>
              <a:gd name="adj" fmla="val 15000"/>
            </a:avLst>
          </a:prstGeom>
          <a:solidFill>
            <a:srgbClr val="B8BFCC"/>
          </a:solidFill>
          <a:ln w="12700">
            <a:solidFill>
              <a:srgbClr val="B8BFC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0" y="246888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549640" y="2788920"/>
            <a:ext cx="457200" cy="502920"/>
          </a:xfrm>
          <a:prstGeom prst="roundRect">
            <a:avLst>
              <a:gd name="adj" fmla="val 12000"/>
            </a:avLst>
          </a:prstGeom>
          <a:solidFill>
            <a:srgbClr val="8B93A7"/>
          </a:solidFill>
          <a:ln w="12700">
            <a:solidFill>
              <a:srgbClr val="8B93A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49640" y="27889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44000" y="2468880"/>
            <a:ext cx="365760" cy="777240"/>
          </a:xfrm>
          <a:prstGeom prst="roundRect">
            <a:avLst>
              <a:gd name="adj" fmla="val 15000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44000" y="246888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646920" y="2148840"/>
            <a:ext cx="365760" cy="1097280"/>
          </a:xfrm>
          <a:prstGeom prst="roundRect">
            <a:avLst>
              <a:gd name="adj" fmla="val 15000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46920" y="2148840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149840" y="1828800"/>
            <a:ext cx="365760" cy="1463040"/>
          </a:xfrm>
          <a:prstGeom prst="roundRect">
            <a:avLst>
              <a:gd name="adj" fmla="val 15000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149840" y="1828800"/>
            <a:ext cx="365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406640" y="2057400"/>
            <a:ext cx="274320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dash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909560" y="2377440"/>
            <a:ext cx="173736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dash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412480" y="2697480"/>
            <a:ext cx="73152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dash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7040880" y="3611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U-Net (노이즈 제거기)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949440" y="33375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9509760" y="33375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복원(디코더)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138160" y="17373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스킵 연결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0561320" y="2560320"/>
            <a:ext cx="228600" cy="914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789920" y="2331720"/>
            <a:ext cx="685800" cy="457200"/>
          </a:xfrm>
          <a:prstGeom prst="roundRect">
            <a:avLst>
              <a:gd name="adj" fmla="val 12000"/>
            </a:avLst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789920" y="23317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𝓓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10698480" y="28072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디코더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040880" y="4114800"/>
            <a:ext cx="3474720" cy="1097280"/>
          </a:xfrm>
          <a:prstGeom prst="roundRect">
            <a:avLst>
              <a:gd name="adj" fmla="val 10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132320" y="41605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논문이 특징을 꺼내는 곳: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U-Net 디코더의 중간 층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48640" y="5870448"/>
            <a:ext cx="11094415" cy="475488"/>
          </a:xfrm>
          <a:prstGeom prst="roundRect">
            <a:avLst>
              <a:gd name="adj" fmla="val 15385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77240" y="5870448"/>
            <a:ext cx="106372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</a:t>
            </a:r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이미지를 만들 수 있다면, 이미지를 이해하고 있을 것이다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두 주인공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아이디어: 중간 Activation을 서술자로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417320" cy="822960"/>
          </a:xfrm>
          <a:prstGeom prst="roundRect">
            <a:avLst>
              <a:gd name="adj" fmla="val 11111"/>
            </a:avLst>
          </a:prstGeom>
          <a:solidFill>
            <a:srgbClr val="F3F4F7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011680" y="2011680"/>
            <a:ext cx="365760" cy="914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23160" y="1600200"/>
            <a:ext cx="1417320" cy="822960"/>
          </a:xfrm>
          <a:prstGeom prst="roundRect">
            <a:avLst>
              <a:gd name="adj" fmla="val 11111"/>
            </a:avLst>
          </a:prstGeom>
          <a:solidFill>
            <a:srgbClr val="F3F4F7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23160" y="16002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 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86200" y="2011680"/>
            <a:ext cx="365760" cy="914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97680" y="1600200"/>
            <a:ext cx="1417320" cy="822960"/>
          </a:xfrm>
          <a:prstGeom prst="roundRect">
            <a:avLst>
              <a:gd name="adj" fmla="val 11111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97680" y="16002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 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760720" y="2011680"/>
            <a:ext cx="365760" cy="914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72200" y="1600200"/>
            <a:ext cx="1417320" cy="822960"/>
          </a:xfrm>
          <a:prstGeom prst="roundRect">
            <a:avLst>
              <a:gd name="adj" fmla="val 11111"/>
            </a:avLst>
          </a:prstGeom>
          <a:solidFill>
            <a:srgbClr val="F3F4F7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6002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 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35240" y="2011680"/>
            <a:ext cx="365760" cy="914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46720" y="1600200"/>
            <a:ext cx="1417320" cy="822960"/>
          </a:xfrm>
          <a:prstGeom prst="roundRect">
            <a:avLst>
              <a:gd name="adj" fmla="val 11111"/>
            </a:avLst>
          </a:prstGeom>
          <a:solidFill>
            <a:srgbClr val="F3F4F7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0" y="16002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509760" y="2011680"/>
            <a:ext cx="365760" cy="914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921240" y="1600200"/>
            <a:ext cx="1783080" cy="822960"/>
          </a:xfrm>
          <a:prstGeom prst="roundRect">
            <a:avLst>
              <a:gd name="adj" fmla="val 11111"/>
            </a:avLst>
          </a:prstGeom>
          <a:solidFill>
            <a:srgbClr val="1B1F2B"/>
          </a:solidFill>
          <a:ln w="12700">
            <a:solidFill>
              <a:srgbClr val="1B1F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921240" y="16002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출력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(생성 이미지)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10912" y="2468880"/>
            <a:ext cx="914" cy="594360"/>
          </a:xfrm>
          <a:prstGeom prst="line">
            <a:avLst/>
          </a:prstGeom>
          <a:noFill/>
          <a:ln w="38100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516636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여기를 꺼낸다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154680"/>
            <a:ext cx="5486400" cy="2331720"/>
          </a:xfrm>
          <a:prstGeom prst="roundRect">
            <a:avLst>
              <a:gd name="adj" fmla="val 4706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3291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Activation이란?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37490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신경망의 각 층을 통과할 때 나오는 중간 숫자 배열.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(h, w)마다 벡터가 하나씩 붙어 있다 → H × W × D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그대로 ‘위치별 서술자 지도’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09360" y="3154680"/>
            <a:ext cx="5330952" cy="2331720"/>
          </a:xfrm>
          <a:prstGeom prst="roundRect">
            <a:avLst>
              <a:gd name="adj" fmla="val 4706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37490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스테이크(최종 출력)가 아니라, 굽는 도중 나는 냄새(중간값)만으로 고기 부위를 맞히는 것.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원래 목적과 무관한 부산물이 의외로 유용한 정보를 담고 있다.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48640" y="5870448"/>
            <a:ext cx="11094415" cy="475488"/>
          </a:xfrm>
          <a:prstGeom prst="roundRect">
            <a:avLst>
              <a:gd name="adj" fmla="val 15385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5870448"/>
            <a:ext cx="106372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</a:t>
            </a:r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서술자 전용 공식 없이, 다른 목적 모델의 부산물을 그대로 서술자로 쓴다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제안 방법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 특징 추출 과정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94415" cy="987552"/>
          </a:xfrm>
          <a:prstGeom prst="roundRect">
            <a:avLst>
              <a:gd name="adj" fmla="val 11111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73936"/>
            <a:ext cx="457200" cy="457200"/>
          </a:xfrm>
          <a:prstGeom prst="ellipse">
            <a:avLst/>
          </a:prstGeom>
          <a:solidFill>
            <a:srgbClr val="1B1F2B"/>
          </a:solidFill>
          <a:ln w="12700">
            <a:solidFill>
              <a:srgbClr val="1B1F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508760"/>
            <a:ext cx="5669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1F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z₀ = 𝓔(x₀)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1508760"/>
            <a:ext cx="4114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이미지를 잠재공간으로 보낸다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11094415" cy="987552"/>
          </a:xfrm>
          <a:prstGeom prst="roundRect">
            <a:avLst>
              <a:gd name="adj" fmla="val 11111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962656"/>
            <a:ext cx="457200" cy="457200"/>
          </a:xfrm>
          <a:prstGeom prst="ellipse">
            <a:avLst/>
          </a:prstGeom>
          <a:solidFill>
            <a:srgbClr val="1B1F2B"/>
          </a:solidFill>
          <a:ln w="12700">
            <a:solidFill>
              <a:srgbClr val="1B1F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697480"/>
            <a:ext cx="5669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1F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zₜ = √ᾱₜ · z₀ + √(1 − ᾱₜ) · ε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697480"/>
            <a:ext cx="4114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노이즈를 살짝(t = 100) 섞는다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94415" cy="987552"/>
          </a:xfrm>
          <a:prstGeom prst="roundRect">
            <a:avLst>
              <a:gd name="adj" fmla="val 11111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151376"/>
            <a:ext cx="457200" cy="45720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886200"/>
            <a:ext cx="5669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1F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</a:t>
            </a:r>
            <a:pPr indent="0" marL="0">
              <a:buNone/>
            </a:pPr>
            <a:r>
              <a:rPr lang="en-US" sz="2400" baseline="-40000" dirty="0">
                <a:solidFill>
                  <a:srgbClr val="1B1F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SD</a:t>
            </a:r>
            <a:pPr indent="0" marL="0">
              <a:buNone/>
            </a:pPr>
            <a:r>
              <a:rPr lang="en-US" sz="2400" dirty="0">
                <a:solidFill>
                  <a:srgbClr val="1B1F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𝓤(zₜ, t, C)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3886200"/>
            <a:ext cx="4114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U-Net을 통과시키고 중간 특징을 꺼낸다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1206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𝓔 = 인코더   ε = 가우시안 노이즈   ᾱₜ = 노이즈 스케줄   𝓤 = 잡음 제거 U-Net   C = 텍스트 임베딩 (암묵적 캡셔너 사용)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6446520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Zhang et al., NeurIPS 2023, Eq. (1)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5870448"/>
            <a:ext cx="11094415" cy="475488"/>
          </a:xfrm>
          <a:prstGeom prst="roundRect">
            <a:avLst>
              <a:gd name="adj" fmla="val 15385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870448"/>
            <a:ext cx="106372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</a:t>
            </a:r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이미지를 넣고, 노이즈를 조금 섞고, U-Net 중간값을 꺼낸다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제안 방법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층을 쓸 것인가: 레이어 분석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6821424" cy="3737009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3"/>
            </a:solidFill>
            <a:prstDash val="solid"/>
          </a:ln>
        </p:spPr>
      </p:sp>
      <p:pic>
        <p:nvPicPr>
          <p:cNvPr id="6" name="Image 0" descr="C:\Users\mj204\AppData\Local\Temp\claude\C--Users-mj204-OneDrive-------26-2--\3338f8d3-c172-47f2-bc5f-292482eb8ff8\scratchpad\img\Figur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63040"/>
            <a:ext cx="6675120" cy="35907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35240" y="1463040"/>
            <a:ext cx="40078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도구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635240" y="1783080"/>
            <a:ext cx="4007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PCA 시각화 + K-Means 클러스터링 (k = 5)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2148840"/>
            <a:ext cx="4007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PCA (Principal Component Analysis)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2606040"/>
            <a:ext cx="4007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앞쪽 층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의미(바퀴·좌석), 대신 거칠다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뒤쪽 층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질감·디테일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635240" y="3611880"/>
            <a:ext cx="4007815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18120" y="3611880"/>
            <a:ext cx="3642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결정: 레이어 2 + 5 + 8 조합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+ 디테일을 동시에 확보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4663440"/>
            <a:ext cx="4007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연결: SIFT가 ‘스케일 공간의 어느 층을 쓸지’ 고민한 것과 같은 문제의식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0" y="6446520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Zhang et al., NeurIPS 2023, Fig. 2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8640" y="5870448"/>
            <a:ext cx="11094415" cy="475488"/>
          </a:xfrm>
          <a:prstGeom prst="roundRect">
            <a:avLst>
              <a:gd name="adj" fmla="val 15385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5870448"/>
            <a:ext cx="106372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</a:t>
            </a:r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층마다 담긴 정보가 다르다 → 여러 층을 섞어 쓴다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제안 방법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차원 축소: 쌍(pair) 단위 PCA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846320" cy="1554480"/>
          </a:xfrm>
          <a:prstGeom prst="roundRect">
            <a:avLst>
              <a:gd name="adj" fmla="val 7059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727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그냥 이어붙이면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1280 + 960 + 480 = 2720차원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68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너무 크다 → 최종 256차원으로 축소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0720" y="155448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B1F2B"/>
          </a:solidFill>
          <a:ln w="12700">
            <a:solidFill>
              <a:srgbClr val="1B1F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1554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fˢᵢ  (소스)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0" y="228600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B1F2B"/>
          </a:solidFill>
          <a:ln w="12700">
            <a:solidFill>
              <a:srgbClr val="1B1F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60720" y="2286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fᵗᵢ  (타겟)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60920" y="1810512"/>
            <a:ext cx="365760" cy="292608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7360920" y="2286000"/>
            <a:ext cx="365760" cy="256032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72400" y="1938528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0" y="193852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함께 PCA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235440" y="2194560"/>
            <a:ext cx="365760" cy="914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646920" y="1938528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46920" y="19385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업샘플 → 연결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760720" y="29718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1F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f̃ˢᵢ, f̃ᵗᵢ = PCA(fˢᵢ ‖ fᵗᵢ),   i ∈ {2, 5, 8}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8640" y="3337560"/>
            <a:ext cx="11094415" cy="1143000"/>
          </a:xfrm>
          <a:prstGeom prst="roundRect">
            <a:avLst>
              <a:gd name="adj" fmla="val 96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3337560"/>
            <a:ext cx="105457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‘함께’ PCA? </a:t>
            </a:r>
            <a:pPr indent="0" marL="0">
              <a:buNone/>
            </a:pPr>
            <a:r>
              <a:rPr lang="en-US" sz="16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이미지를 따로 줄이면 각자 다른 축(좌표계)이 생긴다. 함께 줄여야 같은 축 위에서 벡터를 비교할 수 있다.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754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근사 SVD 사용 (SVD: Singular Value Decomposition)   ·   강의 연결: PCA-SIFT와 같은 문제의식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870448"/>
            <a:ext cx="11094415" cy="475488"/>
          </a:xfrm>
          <a:prstGeom prst="roundRect">
            <a:avLst>
              <a:gd name="adj" fmla="val 15385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870448"/>
            <a:ext cx="106372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</a:t>
            </a:r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소스·타겟을 한 번에 PCA해서 같은 좌표계에서 비교한다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5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제안 방법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DINOv2는 어느 부분을 쓸 것인가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389888" y="1435608"/>
            <a:ext cx="9381744" cy="1848062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3"/>
            </a:solidFill>
            <a:prstDash val="solid"/>
          </a:ln>
        </p:spPr>
      </p:sp>
      <p:pic>
        <p:nvPicPr>
          <p:cNvPr id="6" name="Image 0" descr="C:\Users\mj204\AppData\Local\Temp\claude\C--Users-mj204-OneDrive-------26-2--\3338f8d3-c172-47f2-bc5f-292482eb8ff8\scratchpad\img\Tabl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508760"/>
            <a:ext cx="9235440" cy="17017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3337560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SPair-71k 부분집합, PCK@0.10 (높을수록 좋음)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DINOv1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3891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앞쪽 층의 Key 파셋이 최고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(Amir et al.의 발견)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45352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E6ECFB"/>
          </a:solidFill>
          <a:ln w="12700">
            <a:solidFill>
              <a:srgbClr val="E6ECF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19672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5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DINOv2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519672" y="4389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층(11)의 Token이 최고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이를 </a:t>
            </a:r>
            <a:pPr indent="0" marL="0">
              <a:buNone/>
            </a:pPr>
            <a:r>
              <a:rPr lang="en-US" sz="15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</a:t>
            </a:r>
            <a:pPr indent="0" marL="0">
              <a:buNone/>
            </a:pPr>
            <a:r>
              <a:rPr lang="en-US" sz="1500" baseline="-400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DINO</a:t>
            </a:r>
            <a:pPr indent="0" marL="0">
              <a:buNone/>
            </a:pPr>
            <a:r>
              <a:rPr lang="en-US" sz="15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사용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0" y="4069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2F5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55.7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PCK@0.10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0" y="6446520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Zhang et al., NeurIPS 2023, Table 1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8640" y="5870448"/>
            <a:ext cx="11094415" cy="475488"/>
          </a:xfrm>
          <a:prstGeom prst="roundRect">
            <a:avLst>
              <a:gd name="adj" fmla="val 15385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870448"/>
            <a:ext cx="106372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</a:t>
            </a:r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바뀌면 서술자로 쓸 위치도 다시 찾아야 한다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제안 방법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서술자의 성격 비교 (핵심 발견)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6455664" cy="3068657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3"/>
            </a:solidFill>
            <a:prstDash val="solid"/>
          </a:ln>
        </p:spPr>
      </p:sp>
      <p:pic>
        <p:nvPicPr>
          <p:cNvPr id="6" name="Image 0" descr="C:\Users\mj204\AppData\Local\Temp\claude\C--Users-mj204-OneDrive-------26-2--\3338f8d3-c172-47f2-bc5f-292482eb8ff8\scratchpad\img\Figur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63040"/>
            <a:ext cx="6309360" cy="2922353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463040"/>
          <a:ext cx="44622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545336"/>
                <a:gridCol w="1545336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DINOv2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B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SD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90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(허벅지 등 정확)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가끔 틀림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(버스 앞↔뒤 혼동)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듬성듬성,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튀는 오류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부드럽고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연속적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질감 없는 입력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성공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178040" y="4526280"/>
            <a:ext cx="4462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왼쪽: PCA 시각화 (위: 같은 인스턴스, 아래: 마스크만 입력)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오른쪽: 밀집 대응 (위: 의미 이해 필요, 아래: 공간 정보 필요)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486400" y="6446520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Zhang et al., NeurIPS 2023, Fig. 3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48640" y="5870448"/>
            <a:ext cx="11094415" cy="475488"/>
          </a:xfrm>
          <a:prstGeom prst="roundRect">
            <a:avLst>
              <a:gd name="adj" fmla="val 15385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5870448"/>
            <a:ext cx="106372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</a:t>
            </a:r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DINO는 정확하지만 듬성듬성, SD는 부드럽지만 가끔 틀린다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제안 방법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공간적 매끄러움: 숫자로 보면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5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10.15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603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DINOv2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55848" y="14630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55848" y="1600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5.90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355848" y="25603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63056" y="14630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63056" y="1600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5.96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163056" y="25603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Fuse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70264" y="14630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70264" y="1600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3.40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25603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정답(GT)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291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TSS 데이터셋에서 추정한 흐름 필드의 1차 차분 평균 (낮을수록 매끄러움)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298448" y="3721608"/>
            <a:ext cx="9564624" cy="1662697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3"/>
            </a:solidFill>
            <a:prstDash val="solid"/>
          </a:ln>
        </p:spPr>
      </p:sp>
      <p:pic>
        <p:nvPicPr>
          <p:cNvPr id="19" name="Image 0" descr="C:\Users\mj204\AppData\Local\Temp\claude\C--Users-mj204-OneDrive-------26-2--\3338f8d3-c172-47f2-bc5f-292482eb8ff8\scratchpad\img\Figur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794760"/>
            <a:ext cx="9418320" cy="1516393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48640" y="54406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시맨틱 흐름 맵: DINOv2에는 고립된 이상치(튀는 점)가 보이고, SD·Fused는 매끄럽다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0" y="6446520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Zhang et al., NeurIPS 2023, Table 2, Fig. 4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48640" y="5870448"/>
            <a:ext cx="11094415" cy="475488"/>
          </a:xfrm>
          <a:prstGeom prst="roundRect">
            <a:avLst>
              <a:gd name="adj" fmla="val 15385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5870448"/>
            <a:ext cx="106372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</a:t>
            </a:r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약점이 다르다 → 합치면 되지 않을까?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제안 방법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제안: 정규화한 뒤 이어붙이기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4415" cy="1005840"/>
          </a:xfrm>
          <a:prstGeom prst="roundRect">
            <a:avLst>
              <a:gd name="adj" fmla="val 10909"/>
            </a:avLst>
          </a:prstGeom>
          <a:solidFill>
            <a:srgbClr val="EFE7FD"/>
          </a:solidFill>
          <a:ln w="12700">
            <a:solidFill>
              <a:srgbClr val="EFE7F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1732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</a:t>
            </a:r>
            <a:pPr algn="ctr" indent="0" marL="0">
              <a:buNone/>
            </a:pPr>
            <a:r>
              <a:rPr lang="en-US" sz="2800" b="1" baseline="-40000" dirty="0">
                <a:solidFill>
                  <a:srgbClr val="7C3AE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FUSE</a:t>
            </a:r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( α · ‖</a:t>
            </a:r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</a:t>
            </a:r>
            <a:pPr algn="ctr" indent="0" marL="0">
              <a:buNone/>
            </a:pPr>
            <a:r>
              <a:rPr lang="en-US" sz="2800" b="1" baseline="-40000" dirty="0">
                <a:solidFill>
                  <a:srgbClr val="7C3AE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SD</a:t>
            </a:r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‖₂ ,  (1 − α) · ‖</a:t>
            </a:r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</a:t>
            </a:r>
            <a:pPr algn="ctr" indent="0" marL="0">
              <a:buNone/>
            </a:pPr>
            <a:r>
              <a:rPr lang="en-US" sz="2800" b="1" baseline="-40000" dirty="0">
                <a:solidFill>
                  <a:srgbClr val="7C3AE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DINO</a:t>
            </a:r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‖₂ 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2240280" cy="2697480"/>
          </a:xfrm>
          <a:prstGeom prst="roundRect">
            <a:avLst>
              <a:gd name="adj" fmla="val 4898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8803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4747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L2 정규화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93192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벡터를 길이 1로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모델 간 스케일 차이 제거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44368" y="2697480"/>
            <a:ext cx="2240280" cy="2697480"/>
          </a:xfrm>
          <a:prstGeom prst="roundRect">
            <a:avLst>
              <a:gd name="adj" fmla="val 4898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72968" y="28803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72968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172968" y="34747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α = 0.5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172968" y="393192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서술자에 발언권을 반반씩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40096" y="2697480"/>
            <a:ext cx="2240280" cy="2697480"/>
          </a:xfrm>
          <a:prstGeom prst="roundRect">
            <a:avLst>
              <a:gd name="adj" fmla="val 4898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68696" y="28803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68696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568696" y="34747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Concatenation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568696" y="393192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옆으로 이어붙임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256 + 768 ≈ 1024차원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18120" y="2697480"/>
            <a:ext cx="3824935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5875">
            <a:solidFill>
              <a:srgbClr val="D9DC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예시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3246120"/>
            <a:ext cx="33677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 → ×0.5 → 이어붙이기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[3, 4, 0] → [0.6, 0.8, 0] → [0.3, 0.4, 0]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F5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DINO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[1, 1] → [0.707, 0.707] → [0.354, 0.354]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Fuse  </a:t>
            </a:r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[0.3, 0.4, 0, 0.354, 0.354]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6446520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Zhang et al., NeurIPS 2023, Eq. (2)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5870448"/>
            <a:ext cx="11094415" cy="475488"/>
          </a:xfrm>
          <a:prstGeom prst="roundRect">
            <a:avLst>
              <a:gd name="adj" fmla="val 15385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870448"/>
            <a:ext cx="106372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</a:t>
            </a:r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0, 신경망 추가 0. 정규화와 이어붙이기가 전부다 (= Zero-shot)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제안 방법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매칭은 최근접 이웃 탐색 한 번뿐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이미지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8745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18745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18745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8745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3317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8720" y="23317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0" y="2331720"/>
            <a:ext cx="457200" cy="457200"/>
          </a:xfrm>
          <a:prstGeom prst="rect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23317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23317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7889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27889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0" y="27889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03120" y="27889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0" y="27889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2461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" y="32461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32461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03120" y="32461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32461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37033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37033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03120" y="37033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0" y="37033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389120" y="1508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 이미지 (모든 위치와 거리 계산)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00600" y="18745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57800" y="18745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15000" y="18745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0" y="18745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29400" y="18745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23317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57800" y="23317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15000" y="23317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2200" y="23317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29400" y="23317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0600" y="27889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57800" y="27889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15000" y="27889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72200" y="2788920"/>
            <a:ext cx="457200" cy="457200"/>
          </a:xfrm>
          <a:prstGeom prst="rect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29400" y="27889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00600" y="32461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57800" y="32461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15000" y="32461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72200" y="32461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29400" y="32461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00600" y="37033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257800" y="37033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715000" y="37033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72200" y="37033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629400" y="3703320"/>
            <a:ext cx="457200" cy="457200"/>
          </a:xfrm>
          <a:prstGeom prst="rect">
            <a:avLst/>
          </a:prstGeom>
          <a:solidFill>
            <a:srgbClr val="E5E7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103120" y="2560320"/>
            <a:ext cx="4297680" cy="45720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58" name="Text 56"/>
          <p:cNvSpPr txBox="1"/>
          <p:nvPr/>
        </p:nvSpPr>
        <p:spPr>
          <a:xfrm>
            <a:off x="4389120" y="4251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가까운 점 = 대응점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7680960" y="1508760"/>
            <a:ext cx="3962095" cy="1143000"/>
          </a:xfrm>
          <a:prstGeom prst="roundRect">
            <a:avLst>
              <a:gd name="adj" fmla="val 9600"/>
            </a:avLst>
          </a:prstGeom>
          <a:solidFill>
            <a:srgbClr val="EFE7FD"/>
          </a:solidFill>
          <a:ln w="12700">
            <a:solidFill>
              <a:srgbClr val="EFE7FD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680960" y="1508760"/>
            <a:ext cx="39620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매칭 = argmin ‖Fˢ(p) − Fᵗ(q)‖</a:t>
            </a:r>
            <a:endParaRPr lang="en-US" sz="1900" dirty="0"/>
          </a:p>
        </p:txBody>
      </p:sp>
      <p:sp>
        <p:nvSpPr>
          <p:cNvPr id="61" name="Text 59"/>
          <p:cNvSpPr txBox="1"/>
          <p:nvPr/>
        </p:nvSpPr>
        <p:spPr>
          <a:xfrm>
            <a:off x="7680960" y="2743200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NN (Nearest Neighbor, 최근접 이웃)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7680960" y="3200400"/>
            <a:ext cx="396209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Zero-shot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단계에 학습이 전혀 없다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Supervised (†)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데이터가 있으면 융합 특징 위에 얇은 bottleneck 층 하나만 학습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548640" y="5870448"/>
            <a:ext cx="11094415" cy="475488"/>
          </a:xfrm>
          <a:prstGeom prst="roundRect">
            <a:avLst>
              <a:gd name="adj" fmla="val 15385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77240" y="5870448"/>
            <a:ext cx="106372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</a:t>
            </a:r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서술자만 있으면 매칭은 ‘가장 가까운 벡터 찾기’로 충분하다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실험 결과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설정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SPair-71k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70,958쌍 · 18개 카테고리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어려움 (시점·크기·자세 변화 큼)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6002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PF-Pascal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057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1,341쌍 · 20개 카테고리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4231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비교적 쉬움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6002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TSS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057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400쌍 · 픽셀 전체(dense) 정답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4231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밀집 대응 평가용 (Taniai et al., 2016)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31272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PF (Proposal Flow)  ·  PASCAL (Pattern Analysis, Statistical modelling and Computational Learning)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D9DC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3749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평가지표: PCK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114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Percentage of Correct Keypoints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4805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예측점이 정답에서 κ · max(h, w) 반경 안에 들어오면 정답.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PCK@0.10 → 물체 크기의 10% 이내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60" y="3611880"/>
            <a:ext cx="533095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D9DC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0" y="374904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Zero-shot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최근접 이웃만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Supervised †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bottleneck 층만 학습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 v1-5 · t = 100 · RTX 3090 한 장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5870448"/>
            <a:ext cx="11094415" cy="475488"/>
          </a:xfrm>
          <a:prstGeom prst="roundRect">
            <a:avLst>
              <a:gd name="adj" fmla="val 15385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870448"/>
            <a:ext cx="106372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</a:t>
            </a:r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어려운 SPair-71k가 주 무대, PF-Pascal·TSS로 교차 검증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실험 결과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1: SPair-71k (가장 어려운 벤치마크)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1732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543800" y="1783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Zero-shot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543800" y="4526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Supervised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778240" y="1463040"/>
            <a:ext cx="2864815" cy="2148840"/>
          </a:xfrm>
          <a:prstGeom prst="roundRect">
            <a:avLst>
              <a:gd name="adj" fmla="val 5106"/>
            </a:avLst>
          </a:prstGeom>
          <a:solidFill>
            <a:srgbClr val="EFE7FD"/>
          </a:solidFill>
          <a:ln w="12700">
            <a:solidFill>
              <a:srgbClr val="EFE7F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78240" y="1600200"/>
            <a:ext cx="2864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64.0 &gt; 59.9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8961120" y="2423160"/>
            <a:ext cx="24990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없는 Zero-shot이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지도학습 최고보다 높다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778240" y="3749040"/>
            <a:ext cx="2864815" cy="914400"/>
          </a:xfrm>
          <a:prstGeom prst="roundRect">
            <a:avLst>
              <a:gd name="adj" fmla="val 12000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961120" y="3749040"/>
            <a:ext cx="24990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+14.7p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지도학습 설정 (59.9 → 74.6)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778240" y="4800600"/>
            <a:ext cx="2864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SD가 특히 강한 카테고리: 화분 · 기차 · TV → 공간 정보가 중요한 물체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0" y="6446520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Zhang et al., NeurIPS 2023, Table 3 재구성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8640" y="5870448"/>
            <a:ext cx="11094415" cy="475488"/>
          </a:xfrm>
          <a:prstGeom prst="roundRect">
            <a:avLst>
              <a:gd name="adj" fmla="val 15385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5870448"/>
            <a:ext cx="106372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</a:t>
            </a:r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학습도 안 했는데 학습한 방법들을 이겼다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실험 결과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2: 상보성의 정량 증거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71600"/>
          <a:ext cx="585216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766560" y="1463040"/>
            <a:ext cx="4876495" cy="1828800"/>
          </a:xfrm>
          <a:prstGeom prst="roundRect">
            <a:avLst>
              <a:gd name="adj" fmla="val 6000"/>
            </a:avLst>
          </a:prstGeom>
          <a:solidFill>
            <a:srgbClr val="EFE7FD"/>
          </a:solidFill>
          <a:ln w="12700">
            <a:solidFill>
              <a:srgbClr val="EFE7F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66560" y="1554480"/>
            <a:ext cx="48764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31%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2377440"/>
            <a:ext cx="4510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한쪽만 맞히는 경우 (SD만 15.3% + DINO만 15.8%)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두 서술자는 서로 다른 정보를 담고 있다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766560" y="35204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벤치마크에서도 융합이 우수 (Table 4)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766560" y="3931920"/>
            <a:ext cx="2346808" cy="1554480"/>
          </a:xfrm>
          <a:prstGeom prst="roundRect">
            <a:avLst>
              <a:gd name="adj" fmla="val 7059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03720" y="4023360"/>
            <a:ext cx="2072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PF-Pascal PCK@0.10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903720" y="4343400"/>
            <a:ext cx="2072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86.1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903720" y="4983480"/>
            <a:ext cx="2072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F5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DINOv2 단독 77.3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250528" y="3931920"/>
            <a:ext cx="2346808" cy="1554480"/>
          </a:xfrm>
          <a:prstGeom prst="roundRect">
            <a:avLst>
              <a:gd name="adj" fmla="val 7059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387688" y="4023360"/>
            <a:ext cx="2072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TSS 평균 PCK@0.05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387688" y="4343400"/>
            <a:ext cx="2072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79.7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9387688" y="4983480"/>
            <a:ext cx="2072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F5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DINOv2 단독 72.0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0" y="6446520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Zhang et al., NeurIPS 2023, Table 4, 6 재구성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48640" y="5870448"/>
            <a:ext cx="11094415" cy="475488"/>
          </a:xfrm>
          <a:prstGeom prst="roundRect">
            <a:avLst>
              <a:gd name="adj" fmla="val 15385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5870448"/>
            <a:ext cx="106372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</a:t>
            </a:r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융합이 효과 있는 이유를 숫자로 증명한다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실험 결과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응용: Instance Swapping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6821424" cy="3024752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3"/>
            </a:solidFill>
            <a:prstDash val="solid"/>
          </a:ln>
        </p:spPr>
      </p:sp>
      <p:pic>
        <p:nvPicPr>
          <p:cNvPr id="6" name="Image 0" descr="C:\Users\mj204\AppData\Local\Temp\claude\C--Users-mj204-OneDrive-------26-2--\3338f8d3-c172-47f2-bc5f-292482eb8ff8\scratchpad\img\Figur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63040"/>
            <a:ext cx="6675120" cy="28784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4348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· 타겟 → SD / DINOv2 / Fused 결과 비교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635240" y="150876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183880" y="1463040"/>
            <a:ext cx="3459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 업샘플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1783080"/>
            <a:ext cx="3459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 지도를 이미지 크기로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35240" y="228600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3524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183880" y="2240280"/>
            <a:ext cx="3459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픽셀 교체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2560320"/>
            <a:ext cx="3459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최근접 이웃 패치로 옮겨 붙이기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635240" y="306324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3524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183880" y="3017520"/>
            <a:ext cx="3459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SD로 다듬기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3337560"/>
            <a:ext cx="3459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DDIM inversion 후 재생성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635240" y="3794760"/>
            <a:ext cx="4007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DDIM (Denoising Diffusion Implicit Models)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4114800"/>
          <a:ext cx="4007815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868680"/>
                <a:gridCol w="1005840"/>
                <a:gridCol w="804672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FID↓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Quality↑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CLIP↑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DINOv2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12.49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63.18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72.63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13.72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61.38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71.48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Fused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12.47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64.84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73.21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548640" y="480060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FID (Fréchet Inception Distance) · CLIP (Contrastive Language-Image Pre-training)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5486400" y="6446520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Zhang et al., NeurIPS 2023, Fig. 5, Table 5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548640" y="5870448"/>
            <a:ext cx="11094415" cy="475488"/>
          </a:xfrm>
          <a:prstGeom prst="roundRect">
            <a:avLst>
              <a:gd name="adj" fmla="val 15385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5870448"/>
            <a:ext cx="106372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</a:t>
            </a:r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서술자는 매칭을 넘어 이미지 편집까지 가능하게 한다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 · 결론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22392" cy="1920240"/>
          </a:xfrm>
          <a:prstGeom prst="roundRect">
            <a:avLst>
              <a:gd name="adj" fmla="val 5714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1B1F2B"/>
          </a:solidFill>
          <a:ln w="12700">
            <a:solidFill>
              <a:srgbClr val="1B1F2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8928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1737360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해상도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2423160"/>
            <a:ext cx="4050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 지도가 약 60×60 → 픽셀 단위 정밀 매칭에 불리 (특히 TSS 같은 dense 작업)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1463040"/>
            <a:ext cx="5422392" cy="1920240"/>
          </a:xfrm>
          <a:prstGeom prst="roundRect">
            <a:avLst>
              <a:gd name="adj" fmla="val 5714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0" y="1737360"/>
            <a:ext cx="640080" cy="640080"/>
          </a:xfrm>
          <a:prstGeom prst="ellipse">
            <a:avLst/>
          </a:prstGeom>
          <a:solidFill>
            <a:srgbClr val="1B1F2B"/>
          </a:solidFill>
          <a:ln w="12700">
            <a:solidFill>
              <a:srgbClr val="1B1F2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189280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60920" y="1737360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비용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7360920" y="2423160"/>
            <a:ext cx="4050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 추론이 추가되어 DINO 단독보다 계산량이 크게 늘어난다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611880"/>
            <a:ext cx="5422392" cy="1920240"/>
          </a:xfrm>
          <a:prstGeom prst="roundRect">
            <a:avLst>
              <a:gd name="adj" fmla="val 5714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3886200"/>
            <a:ext cx="640080" cy="640080"/>
          </a:xfrm>
          <a:prstGeom prst="ellipse">
            <a:avLst/>
          </a:prstGeom>
          <a:solidFill>
            <a:srgbClr val="1B1F2B"/>
          </a:solidFill>
          <a:ln w="12700">
            <a:solidFill>
              <a:srgbClr val="1B1F2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04164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91640" y="3886200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고정된 융합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1691640" y="4572000"/>
            <a:ext cx="4050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α = 0.5를 모든 위치·카테고리에 똑같이 적용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217920" y="3611880"/>
            <a:ext cx="5422392" cy="1920240"/>
          </a:xfrm>
          <a:prstGeom prst="roundRect">
            <a:avLst>
              <a:gd name="adj" fmla="val 5714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92240" y="3886200"/>
            <a:ext cx="640080" cy="640080"/>
          </a:xfrm>
          <a:prstGeom prst="ellipse">
            <a:avLst/>
          </a:prstGeom>
          <a:solidFill>
            <a:srgbClr val="1B1F2B"/>
          </a:solidFill>
          <a:ln w="12700">
            <a:solidFill>
              <a:srgbClr val="1B1F2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04164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360920" y="3886200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미규명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7360920" y="4572000"/>
            <a:ext cx="4050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다르게 행동하는지는 가설만 제시: DINO는 증강 학습으로 위치에 둔감, SD는 합성곱 U-Net이라 공간 정보 보존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48640" y="5870448"/>
            <a:ext cx="11094415" cy="475488"/>
          </a:xfrm>
          <a:prstGeom prst="roundRect">
            <a:avLst>
              <a:gd name="adj" fmla="val 15385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77240" y="5870448"/>
            <a:ext cx="106372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</a:t>
            </a:r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단순함의 대가: 낮은 해상도, 높은 비용, 고정된 가중치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79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 · 결론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508760"/>
            <a:ext cx="10271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생성 모델(SD)의 내부 특징도 훌륭한 서술자다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548640" cy="548640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468880"/>
            <a:ext cx="10271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SD(공간적으로 매끄러움)와 DINOv2(의미적으로 정확함)는 서로의 약점을 메운다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429000"/>
            <a:ext cx="10271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 + 이어붙이기라는 가장 단순한 융합만으로 학습 없이 SOTA를 넘었다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069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B93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SOTA (State-Of-The-Art)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11094415" cy="1417320"/>
          </a:xfrm>
          <a:prstGeom prst="roundRect">
            <a:avLst>
              <a:gd name="adj" fmla="val 6452"/>
            </a:avLst>
          </a:prstGeom>
          <a:solidFill>
            <a:srgbClr val="232A3D"/>
          </a:solidFill>
          <a:ln w="12700">
            <a:solidFill>
              <a:srgbClr val="232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526280"/>
            <a:ext cx="1054577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B79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큰 의미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매칭 알고리즘보다 좋은 서술자가 성능을 좌우한다. 대규모 사전학습 모델을 범용 서술자로 쓰는 흐름을 연 논문 중 하나.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B79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연결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C9CF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판별력 vs 강건성의 트레이드오프는 SIFT 시대와 같고, 서술자를 결합하는 해법도 여전히 유효하다.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 · 결론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발전 방향과 토론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90472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90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4173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해상도 개선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141732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저해상도 특징을 정밀하게 업샘플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76856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276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20370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경량화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20370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무거운 SD 대신 작은 모델로 지식 증류(distillation)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99008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기하 인식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299008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좌우 대칭 부위 혼동 → 후속작 “Telling Left from Right” (CVPR 2024)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849624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849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37764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적응형 융합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377647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위치·카테고리별 α, 레이어·타임스텝 자동 선택 (Diffusion Hyperfeatures)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636008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36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456285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모델로 교체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063240" y="456285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백본에서도 상보성이 유지되는지 검증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3949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CVPR (Conference on Computer Vision and Pattern Recognition)  ·  동시기 연구: DIFT, “Emergent Correspondence from Image Diffusion” (NeurIPS 2023)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589520" y="1417320"/>
            <a:ext cx="4053535" cy="4389120"/>
          </a:xfrm>
          <a:prstGeom prst="roundRect">
            <a:avLst>
              <a:gd name="adj" fmla="val 2707"/>
            </a:avLst>
          </a:prstGeom>
          <a:solidFill>
            <a:srgbClr val="141826"/>
          </a:solidFill>
          <a:ln w="12700">
            <a:solidFill>
              <a:srgbClr val="14182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6384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79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토론 질문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863840" y="214884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SIFT처럼 ‘설계된’ 서술자는 이제 필요 없을까?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속도가 중요한 실시간 시스템에서는?</a:t>
            </a:r>
            <a:endParaRPr lang="en-US" sz="1900" dirty="0"/>
          </a:p>
        </p:txBody>
      </p:sp>
      <p:sp>
        <p:nvSpPr>
          <p:cNvPr id="29" name="Text 27">
            <a:hlinkClick r:id="rId1" tooltip=""/>
          </p:cNvPr>
          <p:cNvSpPr txBox="1"/>
          <p:nvPr/>
        </p:nvSpPr>
        <p:spPr>
          <a:xfrm>
            <a:off x="7863840" y="48463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rgbClr val="A9B1C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프로젝트 페이지</a:t>
            </a:r>
            <a:endParaRPr lang="en-US" sz="1200" dirty="0"/>
          </a:p>
          <a:p>
            <a:pPr indent="0" marL="0">
              <a:buNone/>
            </a:pPr>
            <a:r>
              <a:rPr lang="en-US" sz="1200" u="sng" dirty="0">
                <a:solidFill>
                  <a:srgbClr val="A9B1C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sd-complements-dino.github.io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· 발표하지 않음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 용어집 (약어 → Full name)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4406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42976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SIFT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Scale-Invariant Feature Transform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SURF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Speeded-Up Robust Features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HOG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Histogram of Oriented Gradients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Oriented FAST and Rotated BRIEF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FAST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Features from Accelerated Segment Test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BRIEF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Binary Robust Independent Elementary Features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DoG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Difference of Gaussians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SLAM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Simultaneous Localization and Mapping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CNN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Convolutional Neural Network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Vision Transformer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DINO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self-DIstillation with NO labels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Stable Diffusion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DDPM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Denoising Diffusion Probabilistic Models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417320"/>
          <a:ext cx="54406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42976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DDIM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Denoising Diffusion Implicit Models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VQGAN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Vector-Quantized Generative Adversarial Network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Generative Adversarial Network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PCA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Principal Component Analysis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SVD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Singular Value Decomposition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Nearest Neighbor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PCK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Percentage of Correct Keypoints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Fréchet Inception Distance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CLIP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Contrastive Language-Image Pre-training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SOTA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State-Of-The-Art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DAVIS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Densely Annotated VIdeo Segmentation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U-Net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약어 아님 (U자형 구조에서 유래)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· 발표하지 않음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 전체 파이프라인 한 장 요약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280160" cy="1005840"/>
          </a:xfrm>
          <a:prstGeom prst="roundRect">
            <a:avLst>
              <a:gd name="adj" fmla="val 7273"/>
            </a:avLst>
          </a:prstGeom>
          <a:solidFill>
            <a:srgbClr val="1B1F2B"/>
          </a:solidFill>
          <a:ln w="12700">
            <a:solidFill>
              <a:srgbClr val="1B1F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5146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flipV="1">
            <a:off x="1874520" y="2057400"/>
            <a:ext cx="457200" cy="7772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874520" y="3200400"/>
            <a:ext cx="457200" cy="68580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77440" y="1737360"/>
            <a:ext cx="1298448" cy="640080"/>
          </a:xfrm>
          <a:prstGeom prst="roundRect">
            <a:avLst>
              <a:gd name="adj" fmla="val 11429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77440" y="173736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 U-Net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94176" y="2057400"/>
            <a:ext cx="128016" cy="914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40480" y="1737360"/>
            <a:ext cx="1298448" cy="640080"/>
          </a:xfrm>
          <a:prstGeom prst="roundRect">
            <a:avLst>
              <a:gd name="adj" fmla="val 11429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40480" y="173736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레이어 2·5·8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57216" y="2057400"/>
            <a:ext cx="128016" cy="914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303520" y="1737360"/>
            <a:ext cx="1298448" cy="640080"/>
          </a:xfrm>
          <a:prstGeom prst="roundRect">
            <a:avLst>
              <a:gd name="adj" fmla="val 11429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03520" y="173736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쌍 PCA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20256" y="2057400"/>
            <a:ext cx="128016" cy="914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766560" y="1737360"/>
            <a:ext cx="1298448" cy="640080"/>
          </a:xfrm>
          <a:prstGeom prst="roundRect">
            <a:avLst>
              <a:gd name="adj" fmla="val 11429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0" y="173736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업샘플·연결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377440" y="3566160"/>
            <a:ext cx="1298448" cy="640080"/>
          </a:xfrm>
          <a:prstGeom prst="roundRect">
            <a:avLst>
              <a:gd name="adj" fmla="val 11429"/>
            </a:avLst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377440" y="356616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DINOv2 ViT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94176" y="3886200"/>
            <a:ext cx="128016" cy="914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840480" y="3566160"/>
            <a:ext cx="1298448" cy="640080"/>
          </a:xfrm>
          <a:prstGeom prst="roundRect">
            <a:avLst>
              <a:gd name="adj" fmla="val 11429"/>
            </a:avLst>
          </a:prstGeom>
          <a:solidFill>
            <a:srgbClr val="E6ECFB"/>
          </a:solidFill>
          <a:ln w="12700">
            <a:solidFill>
              <a:srgbClr val="E6ECF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40480" y="356616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11층 Token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0" y="173736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0" y="17373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L2 정규화 × α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29600" y="356616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0" y="3566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L2 정규화 × (1−α)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83296" y="2057400"/>
            <a:ext cx="128016" cy="914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157216" y="3886200"/>
            <a:ext cx="3054096" cy="914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195560" y="25146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195560" y="251460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이어붙이기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융합 특징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893808" y="2057400"/>
            <a:ext cx="283464" cy="7772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9893808" y="3200400"/>
            <a:ext cx="283464" cy="68580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48640" y="4709160"/>
            <a:ext cx="11094415" cy="914400"/>
          </a:xfrm>
          <a:prstGeom prst="roundRect">
            <a:avLst>
              <a:gd name="adj" fmla="val 12000"/>
            </a:avLst>
          </a:prstGeom>
          <a:solidFill>
            <a:srgbClr val="EFE7FD"/>
          </a:solidFill>
          <a:ln w="12700">
            <a:solidFill>
              <a:srgbClr val="EFE7F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" y="470916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매칭: 소스의 한 점 ↔ 타겟의 모든 점 사이 거리 계산 → 가장 가까운 점 = 대응점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· 발표하지 않음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 참고문헌 &amp; 더 찾아볼 키워드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Zhang et al., “A Tale of Two Features: Stable Diffusion Complements DINO for Zero-Shot Semantic Correspondence,” NeurIPS 2023.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Amir et al., “Deep ViT Features as Dense Visual Descriptors,” 2022. (DINOv1을 서술자로)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Oquab et al., “DINOv2: Learning Robust Visual Features without Supervision,” 2023.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Rombach et al., “High-Resolution Image Synthesis with Latent Diffusion Models,” CVPR 2022. (Stable Diffusion)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Lowe, “Distinctive Image Features from Scale-Invariant Keypoints,” IJCV 2004. (SIFT)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34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키워드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84632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8463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visual descriptor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484632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37560" y="48463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semantic correspondence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484632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48463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diffusion features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484632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1B1F2B"/>
          </a:solidFill>
          <a:ln w="12700">
            <a:solidFill>
              <a:srgbClr val="1B1F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15400" y="48463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self-supervised learning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Tale of Two Features - 논문 발표</dc:title>
  <dc:subject>PptxGenJS Presentation</dc:subject>
  <dc:creator>박민지</dc:creator>
  <cp:lastModifiedBy>박민지</cp:lastModifiedBy>
  <cp:revision>1</cp:revision>
  <dcterms:created xsi:type="dcterms:W3CDTF">2026-09-25T05:48:20Z</dcterms:created>
  <dcterms:modified xsi:type="dcterms:W3CDTF">2026-09-25T05:48:20Z</dcterms:modified>
</cp:coreProperties>
</file>